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8" r:id="rId2"/>
  </p:sldMasterIdLst>
  <p:sldIdLst>
    <p:sldId id="268" r:id="rId3"/>
    <p:sldId id="257" r:id="rId4"/>
    <p:sldId id="258" r:id="rId5"/>
    <p:sldId id="259" r:id="rId6"/>
    <p:sldId id="269" r:id="rId7"/>
    <p:sldId id="270" r:id="rId8"/>
    <p:sldId id="271" r:id="rId9"/>
    <p:sldId id="272" r:id="rId10"/>
    <p:sldId id="273" r:id="rId11"/>
    <p:sldId id="274" r:id="rId12"/>
    <p:sldId id="275" r:id="rId13"/>
    <p:sldId id="276" r:id="rId14"/>
    <p:sldId id="279" r:id="rId15"/>
    <p:sldId id="277" r:id="rId16"/>
    <p:sldId id="267"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336" y="-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grpSp>
        <p:nvGrpSpPr>
          <p:cNvPr id="66" name="Group 65"/>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900238" y="1122363"/>
            <a:ext cx="6593681"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900238" y="3602038"/>
            <a:ext cx="6593681"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801052" y="5410202"/>
            <a:ext cx="2057400" cy="365125"/>
          </a:xfrm>
        </p:spPr>
        <p:txBody>
          <a:bodyPr/>
          <a:lstStyle/>
          <a:p>
            <a:fld id="{3B539F5C-786E-4BDB-B868-73CB6082799F}" type="datetimeFigureOut">
              <a:rPr lang="en-US" smtClean="0">
                <a:solidFill>
                  <a:prstClr val="black">
                    <a:tint val="75000"/>
                  </a:prstClr>
                </a:solidFill>
              </a:rPr>
              <a:pPr/>
              <a:t>12/9/2025</a:t>
            </a:fld>
            <a:endParaRPr lang="en-US" dirty="0">
              <a:solidFill>
                <a:prstClr val="black">
                  <a:tint val="75000"/>
                </a:prstClr>
              </a:solidFill>
            </a:endParaRPr>
          </a:p>
        </p:txBody>
      </p:sp>
      <p:sp>
        <p:nvSpPr>
          <p:cNvPr id="5" name="Footer Placeholder 4"/>
          <p:cNvSpPr>
            <a:spLocks noGrp="1"/>
          </p:cNvSpPr>
          <p:nvPr>
            <p:ph type="ftr" sz="quarter" idx="11"/>
          </p:nvPr>
        </p:nvSpPr>
        <p:spPr>
          <a:xfrm>
            <a:off x="1900237" y="5410202"/>
            <a:ext cx="3843665" cy="365125"/>
          </a:xfrm>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a:xfrm>
            <a:off x="7915603" y="5410200"/>
            <a:ext cx="578317" cy="365125"/>
          </a:xfrm>
        </p:spPr>
        <p:txBody>
          <a:bodyPr/>
          <a:lstStyle/>
          <a:p>
            <a:fld id="{5B454187-9C8A-4D01-8196-68D867131FB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51899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7" name="Title 1"/>
          <p:cNvSpPr>
            <a:spLocks noGrp="1"/>
          </p:cNvSpPr>
          <p:nvPr>
            <p:ph type="title"/>
          </p:nvPr>
        </p:nvSpPr>
        <p:spPr>
          <a:xfrm>
            <a:off x="856060" y="618518"/>
            <a:ext cx="7429499" cy="1478570"/>
          </a:xfrm>
        </p:spPr>
        <p:txBody>
          <a:bodyPr/>
          <a:lstStyle/>
          <a:p>
            <a:r>
              <a:rPr lang="en-US"/>
              <a:t>Click to edit Master title style</a:t>
            </a:r>
            <a:endParaRPr lang="en-US" dirty="0"/>
          </a:p>
        </p:txBody>
      </p:sp>
      <p:sp>
        <p:nvSpPr>
          <p:cNvPr id="48" name="Content Placeholder 2"/>
          <p:cNvSpPr>
            <a:spLocks noGrp="1"/>
          </p:cNvSpPr>
          <p:nvPr>
            <p:ph idx="1"/>
          </p:nvPr>
        </p:nvSpPr>
        <p:spPr>
          <a:xfrm>
            <a:off x="856060" y="2249487"/>
            <a:ext cx="742949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Date Placeholder 3"/>
          <p:cNvSpPr>
            <a:spLocks noGrp="1"/>
          </p:cNvSpPr>
          <p:nvPr>
            <p:ph type="dt" sz="half" idx="10"/>
          </p:nvPr>
        </p:nvSpPr>
        <p:spPr>
          <a:xfrm>
            <a:off x="5592691" y="5883277"/>
            <a:ext cx="2057400" cy="365125"/>
          </a:xfrm>
        </p:spPr>
        <p:txBody>
          <a:bodyPr/>
          <a:lstStyle/>
          <a:p>
            <a:fld id="{3B539F5C-786E-4BDB-B868-73CB6082799F}" type="datetimeFigureOut">
              <a:rPr lang="en-US" smtClean="0">
                <a:solidFill>
                  <a:prstClr val="black">
                    <a:tint val="75000"/>
                  </a:prstClr>
                </a:solidFill>
              </a:rPr>
              <a:pPr/>
              <a:t>12/9/2025</a:t>
            </a:fld>
            <a:endParaRPr lang="en-US" dirty="0">
              <a:solidFill>
                <a:prstClr val="black">
                  <a:tint val="75000"/>
                </a:prstClr>
              </a:solidFill>
            </a:endParaRPr>
          </a:p>
        </p:txBody>
      </p:sp>
      <p:sp>
        <p:nvSpPr>
          <p:cNvPr id="50" name="Footer Placeholder 4"/>
          <p:cNvSpPr>
            <a:spLocks noGrp="1"/>
          </p:cNvSpPr>
          <p:nvPr>
            <p:ph type="ftr" sz="quarter" idx="11"/>
          </p:nvPr>
        </p:nvSpPr>
        <p:spPr>
          <a:xfrm>
            <a:off x="856059" y="5883276"/>
            <a:ext cx="4679482" cy="365125"/>
          </a:xfrm>
        </p:spPr>
        <p:txBody>
          <a:bodyPr/>
          <a:lstStyle/>
          <a:p>
            <a:endParaRPr lang="en-US" dirty="0">
              <a:solidFill>
                <a:prstClr val="black">
                  <a:tint val="75000"/>
                </a:prstClr>
              </a:solidFill>
            </a:endParaRPr>
          </a:p>
        </p:txBody>
      </p:sp>
      <p:sp>
        <p:nvSpPr>
          <p:cNvPr id="51" name="Slide Number Placeholder 5"/>
          <p:cNvSpPr>
            <a:spLocks noGrp="1"/>
          </p:cNvSpPr>
          <p:nvPr>
            <p:ph type="sldNum" sz="quarter" idx="12"/>
          </p:nvPr>
        </p:nvSpPr>
        <p:spPr>
          <a:xfrm>
            <a:off x="7707241" y="5883275"/>
            <a:ext cx="578317" cy="365125"/>
          </a:xfrm>
        </p:spPr>
        <p:txBody>
          <a:bodyPr/>
          <a:lstStyle/>
          <a:p>
            <a:fld id="{5B454187-9C8A-4D01-8196-68D867131FB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930685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6058" y="1419227"/>
            <a:ext cx="74295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56058" y="4424362"/>
            <a:ext cx="74295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539F5C-786E-4BDB-B868-73CB6082799F}" type="datetimeFigureOut">
              <a:rPr lang="en-US" smtClean="0">
                <a:solidFill>
                  <a:prstClr val="black">
                    <a:tint val="75000"/>
                  </a:prstClr>
                </a:solidFill>
              </a:rPr>
              <a:pPr/>
              <a:t>12/9/2025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B454187-9C8A-4D01-8196-68D867131FB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079544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6058" y="2249486"/>
            <a:ext cx="3658792"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1" y="2249486"/>
            <a:ext cx="3656408"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539F5C-786E-4BDB-B868-73CB6082799F}" type="datetimeFigureOut">
              <a:rPr lang="en-US" smtClean="0">
                <a:solidFill>
                  <a:prstClr val="black">
                    <a:tint val="75000"/>
                  </a:prstClr>
                </a:solidFill>
              </a:rPr>
              <a:pPr/>
              <a:t>12/9/2025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B454187-9C8A-4D01-8196-68D867131FB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834233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6058" y="619127"/>
            <a:ext cx="74295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78902" y="2249486"/>
            <a:ext cx="3435949"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56058" y="3073398"/>
            <a:ext cx="3658793"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1992" y="2249485"/>
            <a:ext cx="3433565"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3073398"/>
            <a:ext cx="3656408"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B539F5C-786E-4BDB-B868-73CB6082799F}" type="datetimeFigureOut">
              <a:rPr lang="en-US" smtClean="0">
                <a:solidFill>
                  <a:prstClr val="black">
                    <a:tint val="75000"/>
                  </a:prstClr>
                </a:solidFill>
              </a:rPr>
              <a:pPr/>
              <a:t>12/9/2025</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5B454187-9C8A-4D01-8196-68D867131FB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50515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B539F5C-786E-4BDB-B868-73CB6082799F}" type="datetimeFigureOut">
              <a:rPr lang="en-US" smtClean="0">
                <a:solidFill>
                  <a:prstClr val="black">
                    <a:tint val="75000"/>
                  </a:prstClr>
                </a:solidFill>
              </a:rPr>
              <a:pPr/>
              <a:t>12/9/2025</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5B454187-9C8A-4D01-8196-68D867131FB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042452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539F5C-786E-4BDB-B868-73CB6082799F}" type="datetimeFigureOut">
              <a:rPr lang="en-US" smtClean="0">
                <a:solidFill>
                  <a:prstClr val="black">
                    <a:tint val="75000"/>
                  </a:prstClr>
                </a:solidFill>
              </a:rPr>
              <a:pPr/>
              <a:t>12/9/2025</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5B454187-9C8A-4D01-8196-68D867131FB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556778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029" y="609601"/>
            <a:ext cx="2892028"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67150" y="592666"/>
            <a:ext cx="4418407"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0029" y="2249486"/>
            <a:ext cx="2892028"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solidFill>
                  <a:prstClr val="black">
                    <a:tint val="75000"/>
                  </a:prstClr>
                </a:solidFill>
              </a:rPr>
              <a:pPr/>
              <a:t>12/9/2025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B454187-9C8A-4D01-8196-68D867131FB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730928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61" y="609600"/>
            <a:ext cx="3753962"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32866" y="609600"/>
            <a:ext cx="3452693" cy="5181602"/>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3200"/>
            </a:lvl1pPr>
          </a:lstStyle>
          <a:p>
            <a:pPr marL="0" lvl="0" indent="0">
              <a:buNone/>
            </a:pPr>
            <a:r>
              <a:rPr lang="en-US" dirty="0"/>
              <a:t>Click icon to add picture</a:t>
            </a:r>
          </a:p>
        </p:txBody>
      </p:sp>
      <p:sp>
        <p:nvSpPr>
          <p:cNvPr id="4" name="Text Placeholder 3"/>
          <p:cNvSpPr>
            <a:spLocks noGrp="1"/>
          </p:cNvSpPr>
          <p:nvPr>
            <p:ph type="body" sz="half" idx="2"/>
          </p:nvPr>
        </p:nvSpPr>
        <p:spPr>
          <a:xfrm>
            <a:off x="856059" y="2249486"/>
            <a:ext cx="3753964"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solidFill>
                  <a:prstClr val="black">
                    <a:tint val="75000"/>
                  </a:prstClr>
                </a:solidFill>
              </a:rPr>
              <a:pPr/>
              <a:t>12/9/2025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B454187-9C8A-4D01-8196-68D867131FB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041851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8" y="4304665"/>
            <a:ext cx="7434266"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56058" y="606426"/>
            <a:ext cx="7434266" cy="3299778"/>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dirty="0"/>
              <a:t>Click icon to add picture</a:t>
            </a:r>
          </a:p>
        </p:txBody>
      </p:sp>
      <p:sp>
        <p:nvSpPr>
          <p:cNvPr id="4" name="Text Placeholder 3"/>
          <p:cNvSpPr>
            <a:spLocks noGrp="1"/>
          </p:cNvSpPr>
          <p:nvPr>
            <p:ph type="body" sz="half" idx="2"/>
          </p:nvPr>
        </p:nvSpPr>
        <p:spPr>
          <a:xfrm>
            <a:off x="856024" y="5124020"/>
            <a:ext cx="7433144"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solidFill>
                  <a:prstClr val="black">
                    <a:tint val="75000"/>
                  </a:prstClr>
                </a:solidFill>
              </a:rPr>
              <a:pPr/>
              <a:t>12/9/2025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B454187-9C8A-4D01-8196-68D867131FB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136799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93" y="609600"/>
            <a:ext cx="7429466"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58" y="4419600"/>
            <a:ext cx="7428344"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solidFill>
                  <a:prstClr val="black">
                    <a:tint val="75000"/>
                  </a:prstClr>
                </a:solidFill>
              </a:rPr>
              <a:pPr/>
              <a:t>12/9/2025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B454187-9C8A-4D01-8196-68D867131FB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754922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56058" y="4309919"/>
            <a:ext cx="74295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solidFill>
                  <a:prstClr val="black">
                    <a:tint val="75000"/>
                  </a:prstClr>
                </a:solidFill>
              </a:rPr>
              <a:pPr/>
              <a:t>12/9/2025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B454187-9C8A-4D01-8196-68D867131FBF}" type="slidenum">
              <a:rPr lang="en-US" smtClean="0">
                <a:solidFill>
                  <a:prstClr val="black">
                    <a:tint val="75000"/>
                  </a:prstClr>
                </a:solidFill>
              </a:rPr>
              <a:pPr/>
              <a:t>‹#›</a:t>
            </a:fld>
            <a:endParaRPr lang="en-US" dirty="0">
              <a:solidFill>
                <a:prstClr val="black">
                  <a:tint val="75000"/>
                </a:prstClr>
              </a:solidFill>
            </a:endParaRPr>
          </a:p>
        </p:txBody>
      </p:sp>
      <p:sp>
        <p:nvSpPr>
          <p:cNvPr id="52" name="TextBox 51"/>
          <p:cNvSpPr txBox="1"/>
          <p:nvPr/>
        </p:nvSpPr>
        <p:spPr>
          <a:xfrm>
            <a:off x="696579" y="718458"/>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defTabSz="457200"/>
            <a:r>
              <a:rPr lang="en-US" sz="8000" dirty="0">
                <a:solidFill>
                  <a:prstClr val="black"/>
                </a:solidFill>
                <a:effectLst/>
              </a:rPr>
              <a:t>“</a:t>
            </a:r>
          </a:p>
        </p:txBody>
      </p:sp>
      <p:sp>
        <p:nvSpPr>
          <p:cNvPr id="53" name="TextBox 52"/>
          <p:cNvSpPr txBox="1"/>
          <p:nvPr/>
        </p:nvSpPr>
        <p:spPr>
          <a:xfrm>
            <a:off x="7817473" y="276497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defTabSz="457200"/>
            <a:r>
              <a:rPr lang="en-US" sz="8000" dirty="0">
                <a:solidFill>
                  <a:prstClr val="black"/>
                </a:solidFill>
                <a:effectLst/>
              </a:rPr>
              <a:t>”</a:t>
            </a:r>
          </a:p>
        </p:txBody>
      </p:sp>
    </p:spTree>
    <p:extLst>
      <p:ext uri="{BB962C8B-B14F-4D97-AF65-F5344CB8AC3E}">
        <p14:creationId xmlns:p14="http://schemas.microsoft.com/office/powerpoint/2010/main" val="884081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58" y="2134042"/>
            <a:ext cx="74295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23" y="4657655"/>
            <a:ext cx="7428379"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solidFill>
                  <a:prstClr val="black">
                    <a:tint val="75000"/>
                  </a:prstClr>
                </a:solidFill>
              </a:rPr>
              <a:pPr/>
              <a:t>12/9/2025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B454187-9C8A-4D01-8196-68D867131FB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6840589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56060" y="609600"/>
            <a:ext cx="7429499"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856058" y="2674463"/>
            <a:ext cx="2397674"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856059" y="3360263"/>
            <a:ext cx="2396432"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86075" y="2677635"/>
            <a:ext cx="2388289"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86075" y="3363435"/>
            <a:ext cx="238895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889332" y="2674463"/>
            <a:ext cx="2396226"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889332" y="3360263"/>
            <a:ext cx="2396226"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B539F5C-786E-4BDB-B868-73CB6082799F}" type="datetimeFigureOut">
              <a:rPr lang="en-US" smtClean="0">
                <a:solidFill>
                  <a:prstClr val="black">
                    <a:tint val="75000"/>
                  </a:prstClr>
                </a:solidFill>
              </a:rPr>
              <a:pPr/>
              <a:t>12/9/2025</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5B454187-9C8A-4D01-8196-68D867131FB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5691544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56059" y="609600"/>
            <a:ext cx="74294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856060" y="4404596"/>
            <a:ext cx="239643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856060" y="2666998"/>
            <a:ext cx="239643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dirty="0"/>
              <a:t>Click icon to add picture</a:t>
            </a:r>
          </a:p>
        </p:txBody>
      </p:sp>
      <p:sp>
        <p:nvSpPr>
          <p:cNvPr id="21" name="Text Placeholder 3"/>
          <p:cNvSpPr>
            <a:spLocks noGrp="1"/>
          </p:cNvSpPr>
          <p:nvPr>
            <p:ph type="body" sz="half" idx="18"/>
          </p:nvPr>
        </p:nvSpPr>
        <p:spPr>
          <a:xfrm>
            <a:off x="856060" y="4980859"/>
            <a:ext cx="239643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66790" y="4404596"/>
            <a:ext cx="24003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66790" y="2666998"/>
            <a:ext cx="2399205"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dirty="0"/>
              <a:t>Click icon to add picture</a:t>
            </a:r>
          </a:p>
        </p:txBody>
      </p:sp>
      <p:sp>
        <p:nvSpPr>
          <p:cNvPr id="24" name="Text Placeholder 3"/>
          <p:cNvSpPr>
            <a:spLocks noGrp="1"/>
          </p:cNvSpPr>
          <p:nvPr>
            <p:ph type="body" sz="half" idx="19"/>
          </p:nvPr>
        </p:nvSpPr>
        <p:spPr>
          <a:xfrm>
            <a:off x="3365695" y="4980857"/>
            <a:ext cx="24003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889426" y="4404595"/>
            <a:ext cx="2393056"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889332" y="2666998"/>
            <a:ext cx="2396227"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dirty="0"/>
              <a:t>Click icon to add picture</a:t>
            </a:r>
          </a:p>
        </p:txBody>
      </p:sp>
      <p:sp>
        <p:nvSpPr>
          <p:cNvPr id="27" name="Text Placeholder 3"/>
          <p:cNvSpPr>
            <a:spLocks noGrp="1"/>
          </p:cNvSpPr>
          <p:nvPr>
            <p:ph type="body" sz="half" idx="20"/>
          </p:nvPr>
        </p:nvSpPr>
        <p:spPr>
          <a:xfrm>
            <a:off x="5889332" y="4980855"/>
            <a:ext cx="2396226"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B539F5C-786E-4BDB-B868-73CB6082799F}" type="datetimeFigureOut">
              <a:rPr lang="en-US" smtClean="0">
                <a:solidFill>
                  <a:prstClr val="black">
                    <a:tint val="75000"/>
                  </a:prstClr>
                </a:solidFill>
              </a:rPr>
              <a:pPr/>
              <a:t>12/9/2025</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lvl1pPr>
              <a:defRPr cap="all" baseline="0"/>
            </a:lvl1p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5B454187-9C8A-4D01-8196-68D867131FB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949737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539F5C-786E-4BDB-B868-73CB6082799F}" type="datetimeFigureOut">
              <a:rPr lang="en-US" smtClean="0">
                <a:solidFill>
                  <a:prstClr val="black">
                    <a:tint val="75000"/>
                  </a:prstClr>
                </a:solidFill>
              </a:rPr>
              <a:pPr/>
              <a:t>12/9/2025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B454187-9C8A-4D01-8196-68D867131FB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7648549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609600"/>
            <a:ext cx="1503758"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6057" y="609600"/>
            <a:ext cx="5811443"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539F5C-786E-4BDB-B868-73CB6082799F}" type="datetimeFigureOut">
              <a:rPr lang="en-US" smtClean="0">
                <a:solidFill>
                  <a:prstClr val="black">
                    <a:tint val="75000"/>
                  </a:prstClr>
                </a:solidFill>
              </a:rPr>
              <a:pPr/>
              <a:t>12/9/2025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B454187-9C8A-4D01-8196-68D867131FB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819965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9D63FB-4DD9-4903-83FE-F80270576417}" type="datetime1">
              <a:rPr lang="en-US" smtClean="0"/>
              <a:pPr/>
              <a:t>12/9/2025</a:t>
            </a:fld>
            <a:endParaRPr lang="en-US" dirty="0"/>
          </a:p>
        </p:txBody>
      </p:sp>
      <p:sp>
        <p:nvSpPr>
          <p:cNvPr id="5" name="Footer Placeholder 4"/>
          <p:cNvSpPr>
            <a:spLocks noGrp="1"/>
          </p:cNvSpPr>
          <p:nvPr>
            <p:ph type="ftr" sz="quarter" idx="11"/>
          </p:nvPr>
        </p:nvSpPr>
        <p:spPr/>
        <p:txBody>
          <a:bodyPr/>
          <a:lstStyle/>
          <a:p>
            <a:r>
              <a:rPr lang="en-US" dirty="0"/>
              <a:t>CSC102 Discrete Structures</a:t>
            </a:r>
          </a:p>
        </p:txBody>
      </p:sp>
      <p:sp>
        <p:nvSpPr>
          <p:cNvPr id="6" name="Slide Number Placeholder 5"/>
          <p:cNvSpPr>
            <a:spLocks noGrp="1"/>
          </p:cNvSpPr>
          <p:nvPr>
            <p:ph type="sldNum" sz="quarter" idx="12"/>
          </p:nvPr>
        </p:nvSpPr>
        <p:spPr/>
        <p:txBody>
          <a:bodyPr/>
          <a:lstStyle/>
          <a:p>
            <a:fld id="{8ACE3F9D-533B-438E-AA49-48601E6C708E}" type="slidenum">
              <a:rPr lang="en-US" smtClean="0"/>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05687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7DFA81-FF35-40E2-AA6F-C4E4697E2C73}" type="datetime1">
              <a:rPr lang="en-US" smtClean="0"/>
              <a:pPr/>
              <a:t>12/9/2025</a:t>
            </a:fld>
            <a:endParaRPr lang="en-US" dirty="0"/>
          </a:p>
        </p:txBody>
      </p:sp>
      <p:sp>
        <p:nvSpPr>
          <p:cNvPr id="5" name="Footer Placeholder 4"/>
          <p:cNvSpPr>
            <a:spLocks noGrp="1"/>
          </p:cNvSpPr>
          <p:nvPr>
            <p:ph type="ftr" sz="quarter" idx="11"/>
          </p:nvPr>
        </p:nvSpPr>
        <p:spPr/>
        <p:txBody>
          <a:bodyPr/>
          <a:lstStyle/>
          <a:p>
            <a:r>
              <a:rPr lang="en-US" dirty="0"/>
              <a:t>CSC102 Discrete Structures</a:t>
            </a:r>
          </a:p>
        </p:txBody>
      </p:sp>
      <p:sp>
        <p:nvSpPr>
          <p:cNvPr id="6" name="Slide Number Placeholder 5"/>
          <p:cNvSpPr>
            <a:spLocks noGrp="1"/>
          </p:cNvSpPr>
          <p:nvPr>
            <p:ph type="sldNum" sz="quarter" idx="12"/>
          </p:nvPr>
        </p:nvSpPr>
        <p:spPr/>
        <p:txBody>
          <a:bodyPr/>
          <a:lstStyle/>
          <a:p>
            <a:fld id="{8ACE3F9D-533B-438E-AA49-48601E6C708E}" type="slidenum">
              <a:rPr lang="en-US" smtClean="0"/>
              <a:pPr/>
              <a:t>‹#›</a:t>
            </a:fld>
            <a:endParaRPr lang="en-US" dirty="0"/>
          </a:p>
        </p:txBody>
      </p:sp>
    </p:spTree>
    <p:extLst>
      <p:ext uri="{BB962C8B-B14F-4D97-AF65-F5344CB8AC3E}">
        <p14:creationId xmlns:p14="http://schemas.microsoft.com/office/powerpoint/2010/main" val="11034540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708B4E-9E6D-47DB-A8C9-443A66B04FA1}" type="datetime1">
              <a:rPr lang="en-US" smtClean="0"/>
              <a:pPr/>
              <a:t>12/9/2025</a:t>
            </a:fld>
            <a:endParaRPr lang="en-US" dirty="0"/>
          </a:p>
        </p:txBody>
      </p:sp>
      <p:sp>
        <p:nvSpPr>
          <p:cNvPr id="5" name="Footer Placeholder 4"/>
          <p:cNvSpPr>
            <a:spLocks noGrp="1"/>
          </p:cNvSpPr>
          <p:nvPr>
            <p:ph type="ftr" sz="quarter" idx="11"/>
          </p:nvPr>
        </p:nvSpPr>
        <p:spPr/>
        <p:txBody>
          <a:bodyPr/>
          <a:lstStyle/>
          <a:p>
            <a:r>
              <a:rPr lang="en-US" dirty="0"/>
              <a:t>CSC102 Discrete Structures</a:t>
            </a:r>
          </a:p>
        </p:txBody>
      </p:sp>
      <p:sp>
        <p:nvSpPr>
          <p:cNvPr id="6" name="Slide Number Placeholder 5"/>
          <p:cNvSpPr>
            <a:spLocks noGrp="1"/>
          </p:cNvSpPr>
          <p:nvPr>
            <p:ph type="sldNum" sz="quarter" idx="12"/>
          </p:nvPr>
        </p:nvSpPr>
        <p:spPr/>
        <p:txBody>
          <a:bodyPr/>
          <a:lstStyle/>
          <a:p>
            <a:fld id="{8ACE3F9D-533B-438E-AA49-48601E6C708E}" type="slidenum">
              <a:rPr lang="en-US" smtClean="0"/>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8367434"/>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AD187-3CAF-4EEB-B511-D277A7E40C82}" type="datetime1">
              <a:rPr lang="en-US" smtClean="0"/>
              <a:pPr/>
              <a:t>12/9/2025</a:t>
            </a:fld>
            <a:endParaRPr lang="en-US" dirty="0"/>
          </a:p>
        </p:txBody>
      </p:sp>
      <p:sp>
        <p:nvSpPr>
          <p:cNvPr id="6" name="Footer Placeholder 5"/>
          <p:cNvSpPr>
            <a:spLocks noGrp="1"/>
          </p:cNvSpPr>
          <p:nvPr>
            <p:ph type="ftr" sz="quarter" idx="11"/>
          </p:nvPr>
        </p:nvSpPr>
        <p:spPr/>
        <p:txBody>
          <a:bodyPr/>
          <a:lstStyle/>
          <a:p>
            <a:r>
              <a:rPr lang="en-US" dirty="0"/>
              <a:t>CSC102 Discrete Structures</a:t>
            </a:r>
          </a:p>
        </p:txBody>
      </p:sp>
      <p:sp>
        <p:nvSpPr>
          <p:cNvPr id="7" name="Slide Number Placeholder 6"/>
          <p:cNvSpPr>
            <a:spLocks noGrp="1"/>
          </p:cNvSpPr>
          <p:nvPr>
            <p:ph type="sldNum" sz="quarter" idx="12"/>
          </p:nvPr>
        </p:nvSpPr>
        <p:spPr/>
        <p:txBody>
          <a:bodyPr/>
          <a:lstStyle/>
          <a:p>
            <a:fld id="{8ACE3F9D-533B-438E-AA49-48601E6C708E}" type="slidenum">
              <a:rPr lang="en-US" smtClean="0"/>
              <a:pPr/>
              <a:t>‹#›</a:t>
            </a:fld>
            <a:endParaRPr lang="en-US" dirty="0"/>
          </a:p>
        </p:txBody>
      </p:sp>
    </p:spTree>
    <p:extLst>
      <p:ext uri="{BB962C8B-B14F-4D97-AF65-F5344CB8AC3E}">
        <p14:creationId xmlns:p14="http://schemas.microsoft.com/office/powerpoint/2010/main" val="27705942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DFEB82-3297-42CA-9AC7-D3ECF198E013}" type="datetime1">
              <a:rPr lang="en-US" smtClean="0"/>
              <a:pPr/>
              <a:t>12/9/2025</a:t>
            </a:fld>
            <a:endParaRPr lang="en-US" dirty="0"/>
          </a:p>
        </p:txBody>
      </p:sp>
      <p:sp>
        <p:nvSpPr>
          <p:cNvPr id="8" name="Footer Placeholder 7"/>
          <p:cNvSpPr>
            <a:spLocks noGrp="1"/>
          </p:cNvSpPr>
          <p:nvPr>
            <p:ph type="ftr" sz="quarter" idx="11"/>
          </p:nvPr>
        </p:nvSpPr>
        <p:spPr/>
        <p:txBody>
          <a:bodyPr/>
          <a:lstStyle/>
          <a:p>
            <a:r>
              <a:rPr lang="en-US" dirty="0"/>
              <a:t>CSC102 Discrete Structures</a:t>
            </a:r>
          </a:p>
        </p:txBody>
      </p:sp>
      <p:sp>
        <p:nvSpPr>
          <p:cNvPr id="9" name="Slide Number Placeholder 8"/>
          <p:cNvSpPr>
            <a:spLocks noGrp="1"/>
          </p:cNvSpPr>
          <p:nvPr>
            <p:ph type="sldNum" sz="quarter" idx="12"/>
          </p:nvPr>
        </p:nvSpPr>
        <p:spPr/>
        <p:txBody>
          <a:bodyPr/>
          <a:lstStyle/>
          <a:p>
            <a:fld id="{8ACE3F9D-533B-438E-AA49-48601E6C708E}" type="slidenum">
              <a:rPr lang="en-US" smtClean="0"/>
              <a:pPr/>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6088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8348733-E273-4EF3-8143-57B6AA49A592}" type="datetime1">
              <a:rPr lang="en-US" smtClean="0"/>
              <a:pPr/>
              <a:t>12/9/2025</a:t>
            </a:fld>
            <a:endParaRPr lang="en-US" dirty="0"/>
          </a:p>
        </p:txBody>
      </p:sp>
      <p:sp>
        <p:nvSpPr>
          <p:cNvPr id="4" name="Footer Placeholder 3"/>
          <p:cNvSpPr>
            <a:spLocks noGrp="1"/>
          </p:cNvSpPr>
          <p:nvPr>
            <p:ph type="ftr" sz="quarter" idx="11"/>
          </p:nvPr>
        </p:nvSpPr>
        <p:spPr/>
        <p:txBody>
          <a:bodyPr/>
          <a:lstStyle/>
          <a:p>
            <a:r>
              <a:rPr lang="en-US" dirty="0"/>
              <a:t>CSC102 Discrete Structures</a:t>
            </a:r>
          </a:p>
        </p:txBody>
      </p:sp>
      <p:sp>
        <p:nvSpPr>
          <p:cNvPr id="5" name="Slide Number Placeholder 4"/>
          <p:cNvSpPr>
            <a:spLocks noGrp="1"/>
          </p:cNvSpPr>
          <p:nvPr>
            <p:ph type="sldNum" sz="quarter" idx="12"/>
          </p:nvPr>
        </p:nvSpPr>
        <p:spPr/>
        <p:txBody>
          <a:bodyPr/>
          <a:lstStyle/>
          <a:p>
            <a:fld id="{8ACE3F9D-533B-438E-AA49-48601E6C708E}" type="slidenum">
              <a:rPr lang="en-US" smtClean="0"/>
              <a:pPr/>
              <a:t>‹#›</a:t>
            </a:fld>
            <a:endParaRPr lang="en-US" dirty="0"/>
          </a:p>
        </p:txBody>
      </p:sp>
    </p:spTree>
    <p:extLst>
      <p:ext uri="{BB962C8B-B14F-4D97-AF65-F5344CB8AC3E}">
        <p14:creationId xmlns:p14="http://schemas.microsoft.com/office/powerpoint/2010/main" val="10756249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616BD8-1159-4CEE-BF69-08E8DE6F04D4}" type="datetime1">
              <a:rPr lang="en-US" smtClean="0"/>
              <a:pPr/>
              <a:t>12/9/2025</a:t>
            </a:fld>
            <a:endParaRPr lang="en-US" dirty="0"/>
          </a:p>
        </p:txBody>
      </p:sp>
      <p:sp>
        <p:nvSpPr>
          <p:cNvPr id="3" name="Footer Placeholder 2"/>
          <p:cNvSpPr>
            <a:spLocks noGrp="1"/>
          </p:cNvSpPr>
          <p:nvPr>
            <p:ph type="ftr" sz="quarter" idx="11"/>
          </p:nvPr>
        </p:nvSpPr>
        <p:spPr/>
        <p:txBody>
          <a:bodyPr/>
          <a:lstStyle/>
          <a:p>
            <a:r>
              <a:rPr lang="en-US" dirty="0"/>
              <a:t>CSC102 Discrete Structures</a:t>
            </a:r>
          </a:p>
        </p:txBody>
      </p:sp>
      <p:sp>
        <p:nvSpPr>
          <p:cNvPr id="4" name="Slide Number Placeholder 3"/>
          <p:cNvSpPr>
            <a:spLocks noGrp="1"/>
          </p:cNvSpPr>
          <p:nvPr>
            <p:ph type="sldNum" sz="quarter" idx="12"/>
          </p:nvPr>
        </p:nvSpPr>
        <p:spPr/>
        <p:txBody>
          <a:bodyPr/>
          <a:lstStyle/>
          <a:p>
            <a:fld id="{8ACE3F9D-533B-438E-AA49-48601E6C708E}" type="slidenum">
              <a:rPr lang="en-US" smtClean="0"/>
              <a:pPr/>
              <a:t>‹#›</a:t>
            </a:fld>
            <a:endParaRPr lang="en-US" dirty="0"/>
          </a:p>
        </p:txBody>
      </p:sp>
    </p:spTree>
    <p:extLst>
      <p:ext uri="{BB962C8B-B14F-4D97-AF65-F5344CB8AC3E}">
        <p14:creationId xmlns:p14="http://schemas.microsoft.com/office/powerpoint/2010/main" val="38661772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355B0FE-4AC0-4D7B-83B1-A18CD9CB8AEE}" type="datetime1">
              <a:rPr lang="en-US" smtClean="0"/>
              <a:pPr/>
              <a:t>12/9/2025</a:t>
            </a:fld>
            <a:endParaRPr lang="en-US" dirty="0"/>
          </a:p>
        </p:txBody>
      </p:sp>
      <p:sp>
        <p:nvSpPr>
          <p:cNvPr id="6" name="Footer Placeholder 5"/>
          <p:cNvSpPr>
            <a:spLocks noGrp="1"/>
          </p:cNvSpPr>
          <p:nvPr>
            <p:ph type="ftr" sz="quarter" idx="11"/>
          </p:nvPr>
        </p:nvSpPr>
        <p:spPr/>
        <p:txBody>
          <a:bodyPr/>
          <a:lstStyle/>
          <a:p>
            <a:r>
              <a:rPr lang="en-US" dirty="0"/>
              <a:t>CSC102 Discrete Structures</a:t>
            </a:r>
          </a:p>
        </p:txBody>
      </p:sp>
      <p:sp>
        <p:nvSpPr>
          <p:cNvPr id="7" name="Slide Number Placeholder 6"/>
          <p:cNvSpPr>
            <a:spLocks noGrp="1"/>
          </p:cNvSpPr>
          <p:nvPr>
            <p:ph type="sldNum" sz="quarter" idx="12"/>
          </p:nvPr>
        </p:nvSpPr>
        <p:spPr/>
        <p:txBody>
          <a:bodyPr/>
          <a:lstStyle/>
          <a:p>
            <a:fld id="{8ACE3F9D-533B-438E-AA49-48601E6C708E}"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35503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52F497-D16F-472A-8AB2-6923D245D09D}" type="datetime1">
              <a:rPr lang="en-US" smtClean="0"/>
              <a:pPr/>
              <a:t>12/9/2025</a:t>
            </a:fld>
            <a:endParaRPr lang="en-US" dirty="0"/>
          </a:p>
        </p:txBody>
      </p:sp>
      <p:sp>
        <p:nvSpPr>
          <p:cNvPr id="6" name="Footer Placeholder 5"/>
          <p:cNvSpPr>
            <a:spLocks noGrp="1"/>
          </p:cNvSpPr>
          <p:nvPr>
            <p:ph type="ftr" sz="quarter" idx="11"/>
          </p:nvPr>
        </p:nvSpPr>
        <p:spPr/>
        <p:txBody>
          <a:bodyPr/>
          <a:lstStyle/>
          <a:p>
            <a:r>
              <a:rPr lang="en-US" dirty="0"/>
              <a:t>CSC102 Discrete Structures</a:t>
            </a:r>
          </a:p>
        </p:txBody>
      </p:sp>
      <p:sp>
        <p:nvSpPr>
          <p:cNvPr id="7" name="Slide Number Placeholder 6"/>
          <p:cNvSpPr>
            <a:spLocks noGrp="1"/>
          </p:cNvSpPr>
          <p:nvPr>
            <p:ph type="sldNum" sz="quarter" idx="12"/>
          </p:nvPr>
        </p:nvSpPr>
        <p:spPr/>
        <p:txBody>
          <a:bodyPr/>
          <a:lstStyle/>
          <a:p>
            <a:fld id="{8ACE3F9D-533B-438E-AA49-48601E6C708E}" type="slidenum">
              <a:rPr lang="en-US" smtClean="0"/>
              <a:pPr/>
              <a:t>‹#›</a:t>
            </a:fld>
            <a:endParaRPr lang="en-US" dirty="0"/>
          </a:p>
        </p:txBody>
      </p:sp>
    </p:spTree>
    <p:extLst>
      <p:ext uri="{BB962C8B-B14F-4D97-AF65-F5344CB8AC3E}">
        <p14:creationId xmlns:p14="http://schemas.microsoft.com/office/powerpoint/2010/main" val="18226604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0E3EED-3DA2-4ED4-9C83-CEA1A9E43AAB}" type="datetime1">
              <a:rPr lang="en-US" smtClean="0"/>
              <a:pPr/>
              <a:t>12/9/2025</a:t>
            </a:fld>
            <a:endParaRPr lang="en-US" dirty="0"/>
          </a:p>
        </p:txBody>
      </p:sp>
      <p:sp>
        <p:nvSpPr>
          <p:cNvPr id="5" name="Footer Placeholder 4"/>
          <p:cNvSpPr>
            <a:spLocks noGrp="1"/>
          </p:cNvSpPr>
          <p:nvPr>
            <p:ph type="ftr" sz="quarter" idx="11"/>
          </p:nvPr>
        </p:nvSpPr>
        <p:spPr/>
        <p:txBody>
          <a:bodyPr/>
          <a:lstStyle/>
          <a:p>
            <a:r>
              <a:rPr lang="en-US" dirty="0"/>
              <a:t>CSC102 Discrete Structures</a:t>
            </a:r>
          </a:p>
        </p:txBody>
      </p:sp>
      <p:sp>
        <p:nvSpPr>
          <p:cNvPr id="6" name="Slide Number Placeholder 5"/>
          <p:cNvSpPr>
            <a:spLocks noGrp="1"/>
          </p:cNvSpPr>
          <p:nvPr>
            <p:ph type="sldNum" sz="quarter" idx="12"/>
          </p:nvPr>
        </p:nvSpPr>
        <p:spPr/>
        <p:txBody>
          <a:bodyPr/>
          <a:lstStyle/>
          <a:p>
            <a:fld id="{8ACE3F9D-533B-438E-AA49-48601E6C708E}" type="slidenum">
              <a:rPr lang="en-US" smtClean="0"/>
              <a:pPr/>
              <a:t>‹#›</a:t>
            </a:fld>
            <a:endParaRPr lang="en-US" dirty="0"/>
          </a:p>
        </p:txBody>
      </p:sp>
    </p:spTree>
    <p:extLst>
      <p:ext uri="{BB962C8B-B14F-4D97-AF65-F5344CB8AC3E}">
        <p14:creationId xmlns:p14="http://schemas.microsoft.com/office/powerpoint/2010/main" val="18927417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7ADCE-E054-4FA0-B715-AC4537BA8B51}" type="datetime1">
              <a:rPr lang="en-US" smtClean="0"/>
              <a:pPr/>
              <a:t>12/9/2025</a:t>
            </a:fld>
            <a:endParaRPr lang="en-US" dirty="0"/>
          </a:p>
        </p:txBody>
      </p:sp>
      <p:sp>
        <p:nvSpPr>
          <p:cNvPr id="5" name="Footer Placeholder 4"/>
          <p:cNvSpPr>
            <a:spLocks noGrp="1"/>
          </p:cNvSpPr>
          <p:nvPr>
            <p:ph type="ftr" sz="quarter" idx="11"/>
          </p:nvPr>
        </p:nvSpPr>
        <p:spPr/>
        <p:txBody>
          <a:bodyPr/>
          <a:lstStyle/>
          <a:p>
            <a:r>
              <a:rPr lang="en-US" dirty="0"/>
              <a:t>CSC102 Discrete Structures</a:t>
            </a:r>
          </a:p>
        </p:txBody>
      </p:sp>
      <p:sp>
        <p:nvSpPr>
          <p:cNvPr id="6" name="Slide Number Placeholder 5"/>
          <p:cNvSpPr>
            <a:spLocks noGrp="1"/>
          </p:cNvSpPr>
          <p:nvPr>
            <p:ph type="sldNum" sz="quarter" idx="12"/>
          </p:nvPr>
        </p:nvSpPr>
        <p:spPr/>
        <p:txBody>
          <a:bodyPr/>
          <a:lstStyle/>
          <a:p>
            <a:fld id="{8ACE3F9D-533B-438E-AA49-48601E6C708E}" type="slidenum">
              <a:rPr lang="en-US" smtClean="0"/>
              <a:pPr/>
              <a:t>‹#›</a:t>
            </a:fld>
            <a:endParaRPr lang="en-US" dirty="0"/>
          </a:p>
        </p:txBody>
      </p:sp>
    </p:spTree>
    <p:extLst>
      <p:ext uri="{BB962C8B-B14F-4D97-AF65-F5344CB8AC3E}">
        <p14:creationId xmlns:p14="http://schemas.microsoft.com/office/powerpoint/2010/main" val="3890813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8" name="Group 7"/>
          <p:cNvGrpSpPr/>
          <p:nvPr/>
        </p:nvGrpSpPr>
        <p:grpSpPr>
          <a:xfrm>
            <a:off x="-14288" y="0"/>
            <a:ext cx="9041774" cy="6858001"/>
            <a:chOff x="-14288" y="0"/>
            <a:chExt cx="9041774"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grpSp>
        <p:grpSp>
          <p:nvGrpSpPr>
            <p:cNvPr id="10" name="Group 9"/>
            <p:cNvGrpSpPr/>
            <p:nvPr/>
          </p:nvGrpSpPr>
          <p:grpSpPr>
            <a:xfrm>
              <a:off x="8352798"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grpSp>
      </p:grpSp>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856060" y="618518"/>
            <a:ext cx="7429499"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2249487"/>
            <a:ext cx="74294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92691" y="5883277"/>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defTabSz="457200"/>
            <a:fld id="{E9BFFB69-46B3-4750-912C-E29F4B8DA29C}" type="datetime1">
              <a:rPr lang="en-US" smtClean="0">
                <a:solidFill>
                  <a:prstClr val="black">
                    <a:tint val="75000"/>
                  </a:prstClr>
                </a:solidFill>
              </a:rPr>
              <a:pPr defTabSz="457200"/>
              <a:t>12/9/2025</a:t>
            </a:fld>
            <a:endParaRPr lang="en-US" dirty="0">
              <a:solidFill>
                <a:prstClr val="black">
                  <a:tint val="75000"/>
                </a:prstClr>
              </a:solidFill>
            </a:endParaRPr>
          </a:p>
        </p:txBody>
      </p:sp>
      <p:sp>
        <p:nvSpPr>
          <p:cNvPr id="5" name="Footer Placeholder 4"/>
          <p:cNvSpPr>
            <a:spLocks noGrp="1"/>
          </p:cNvSpPr>
          <p:nvPr>
            <p:ph type="ftr" sz="quarter" idx="3"/>
          </p:nvPr>
        </p:nvSpPr>
        <p:spPr>
          <a:xfrm>
            <a:off x="856059" y="5883276"/>
            <a:ext cx="4679482" cy="365125"/>
          </a:xfrm>
          <a:prstGeom prst="rect">
            <a:avLst/>
          </a:prstGeom>
        </p:spPr>
        <p:txBody>
          <a:bodyPr vert="horz" lIns="91440" tIns="45720" rIns="91440" bIns="45720" rtlCol="0" anchor="ctr"/>
          <a:lstStyle>
            <a:lvl1pPr algn="l">
              <a:defRPr sz="1050">
                <a:solidFill>
                  <a:schemeClr val="tx1">
                    <a:tint val="75000"/>
                  </a:schemeClr>
                </a:solidFill>
              </a:defRPr>
            </a:lvl1pPr>
          </a:lstStyle>
          <a:p>
            <a:pPr defTabSz="457200"/>
            <a:r>
              <a:rPr lang="en-US" dirty="0">
                <a:solidFill>
                  <a:prstClr val="black">
                    <a:tint val="75000"/>
                  </a:prstClr>
                </a:solidFill>
              </a:rPr>
              <a:t>CSC102 Discrete Structures</a:t>
            </a:r>
          </a:p>
        </p:txBody>
      </p:sp>
      <p:sp>
        <p:nvSpPr>
          <p:cNvPr id="6" name="Slide Number Placeholder 5"/>
          <p:cNvSpPr>
            <a:spLocks noGrp="1"/>
          </p:cNvSpPr>
          <p:nvPr>
            <p:ph type="sldNum" sz="quarter" idx="4"/>
          </p:nvPr>
        </p:nvSpPr>
        <p:spPr>
          <a:xfrm>
            <a:off x="7707241" y="5883275"/>
            <a:ext cx="578317"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defTabSz="457200"/>
            <a:fld id="{8ACE3F9D-533B-438E-AA49-48601E6C708E}" type="slidenum">
              <a:rPr lang="en-US" smtClean="0">
                <a:solidFill>
                  <a:prstClr val="black">
                    <a:tint val="75000"/>
                  </a:prstClr>
                </a:solidFill>
              </a:rPr>
              <a:pPr defTabSz="457200"/>
              <a:t>‹#›</a:t>
            </a:fld>
            <a:endParaRPr lang="en-US" dirty="0">
              <a:solidFill>
                <a:prstClr val="black">
                  <a:tint val="75000"/>
                </a:prstClr>
              </a:solidFill>
            </a:endParaRPr>
          </a:p>
        </p:txBody>
      </p:sp>
    </p:spTree>
    <p:extLst>
      <p:ext uri="{BB962C8B-B14F-4D97-AF65-F5344CB8AC3E}">
        <p14:creationId xmlns:p14="http://schemas.microsoft.com/office/powerpoint/2010/main" val="34863245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effectLst>
            <a:outerShdw blurRad="114300" dist="38100" dir="2700000" algn="tl">
              <a:srgbClr val="000000">
                <a:alpha val="26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27000" dist="38100" dir="2700000" algn="tl">
              <a:srgbClr val="000000">
                <a:alpha val="33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27000" dist="38100" dir="2700000" algn="tl">
              <a:srgbClr val="000000">
                <a:alpha val="33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27000" dist="38100" dir="2700000" algn="tl">
              <a:srgbClr val="000000">
                <a:alpha val="33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27000" dist="38100" dir="2700000" algn="tl">
              <a:srgbClr val="000000">
                <a:alpha val="33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27000" dist="38100" dir="2700000" algn="tl">
              <a:srgbClr val="000000">
                <a:alpha val="33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dirty="0">
              <a:solidFill>
                <a:srgbClr val="FFFFFF"/>
              </a:solidFill>
            </a:endParaRPr>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dirty="0">
              <a:solidFill>
                <a:srgbClr val="FFFFFF"/>
              </a:solidFill>
            </a:endParaRPr>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pPr defTabSz="457200"/>
            <a:fld id="{E9BFFB69-46B3-4750-912C-E29F4B8DA29C}" type="datetime1">
              <a:rPr lang="en-US" smtClean="0"/>
              <a:pPr defTabSz="457200"/>
              <a:t>12/9/2025</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pPr defTabSz="457200"/>
            <a:r>
              <a:rPr lang="en-US" dirty="0"/>
              <a:t>CSC102 Discrete Structures</a:t>
            </a:r>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pPr defTabSz="457200"/>
            <a:fld id="{8ACE3F9D-533B-438E-AA49-48601E6C708E}" type="slidenum">
              <a:rPr lang="en-US" smtClean="0"/>
              <a:pPr defTabSz="457200"/>
              <a:t>‹#›</a:t>
            </a:fld>
            <a:endParaRPr lang="en-US" dirty="0"/>
          </a:p>
        </p:txBody>
      </p:sp>
    </p:spTree>
    <p:extLst>
      <p:ext uri="{BB962C8B-B14F-4D97-AF65-F5344CB8AC3E}">
        <p14:creationId xmlns:p14="http://schemas.microsoft.com/office/powerpoint/2010/main" val="63776113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sldNum="0"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0.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7C545C-EAC2-4814-AE8B-2D0C943C3029}"/>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xmlns="" id="{39211BDA-D7DF-4130-A3B3-EE0167636377}"/>
              </a:ext>
            </a:extLst>
          </p:cNvPr>
          <p:cNvSpPr>
            <a:spLocks noGrp="1"/>
          </p:cNvSpPr>
          <p:nvPr>
            <p:ph type="subTitle" idx="1"/>
          </p:nvPr>
        </p:nvSpPr>
        <p:spPr>
          <a:xfrm>
            <a:off x="1192237" y="4391464"/>
            <a:ext cx="6400800" cy="2206283"/>
          </a:xfrm>
        </p:spPr>
        <p:txBody>
          <a:bodyPr>
            <a:normAutofit/>
          </a:bodyPr>
          <a:lstStyle/>
          <a:p>
            <a:pPr algn="ctr"/>
            <a:r>
              <a:rPr lang="en-US" sz="3900" b="1" dirty="0"/>
              <a:t>Operations Research</a:t>
            </a:r>
          </a:p>
          <a:p>
            <a:pPr algn="ctr"/>
            <a:r>
              <a:rPr lang="en-US" sz="2800" b="1" dirty="0">
                <a:solidFill>
                  <a:srgbClr val="000000">
                    <a:lumMod val="75000"/>
                    <a:lumOff val="25000"/>
                  </a:srgbClr>
                </a:solidFill>
              </a:rPr>
              <a:t>(Software Engineering</a:t>
            </a:r>
            <a:r>
              <a:rPr lang="en-US" sz="2800" b="1" dirty="0" smtClean="0">
                <a:solidFill>
                  <a:srgbClr val="000000">
                    <a:lumMod val="75000"/>
                    <a:lumOff val="25000"/>
                  </a:srgbClr>
                </a:solidFill>
              </a:rPr>
              <a:t>)</a:t>
            </a:r>
            <a:endParaRPr lang="en-US" sz="3200" b="1" dirty="0"/>
          </a:p>
        </p:txBody>
      </p:sp>
      <p:pic>
        <p:nvPicPr>
          <p:cNvPr id="4" name="Picture 3">
            <a:extLst>
              <a:ext uri="{FF2B5EF4-FFF2-40B4-BE49-F238E27FC236}">
                <a16:creationId xmlns:a16="http://schemas.microsoft.com/office/drawing/2014/main" xmlns="" id="{667F458A-708A-4E75-9D30-9C4DBEA489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71600"/>
            <a:ext cx="9144000" cy="2661764"/>
          </a:xfrm>
          <a:prstGeom prst="rect">
            <a:avLst/>
          </a:prstGeom>
        </p:spPr>
      </p:pic>
      <p:sp>
        <p:nvSpPr>
          <p:cNvPr id="5" name="Rectangle 4">
            <a:extLst>
              <a:ext uri="{FF2B5EF4-FFF2-40B4-BE49-F238E27FC236}">
                <a16:creationId xmlns:a16="http://schemas.microsoft.com/office/drawing/2014/main" xmlns="" id="{CA972A36-04A5-41D7-9B19-15A743E4476F}"/>
              </a:ext>
            </a:extLst>
          </p:cNvPr>
          <p:cNvSpPr/>
          <p:nvPr/>
        </p:nvSpPr>
        <p:spPr>
          <a:xfrm>
            <a:off x="3613275" y="637061"/>
            <a:ext cx="1917449" cy="523220"/>
          </a:xfrm>
          <a:prstGeom prst="rect">
            <a:avLst/>
          </a:prstGeom>
        </p:spPr>
        <p:txBody>
          <a:bodyPr wrap="none">
            <a:spAutoFit/>
          </a:bodyPr>
          <a:lstStyle/>
          <a:p>
            <a:pPr algn="ctr" defTabSz="457200"/>
            <a:r>
              <a:rPr lang="en-US" sz="2800" b="1" u="sng" dirty="0">
                <a:solidFill>
                  <a:srgbClr val="FF0000"/>
                </a:solidFill>
                <a:cs typeface="Arial" panose="020B0604020202020204" pitchFamily="34" charset="0"/>
              </a:rPr>
              <a:t>Week # </a:t>
            </a:r>
            <a:r>
              <a:rPr lang="en-US" sz="2800" b="1" u="sng" dirty="0" smtClean="0">
                <a:solidFill>
                  <a:srgbClr val="FF0000"/>
                </a:solidFill>
                <a:cs typeface="Arial" panose="020B0604020202020204" pitchFamily="34" charset="0"/>
              </a:rPr>
              <a:t>13</a:t>
            </a:r>
            <a:endParaRPr lang="en-GB" sz="2800" u="sng" dirty="0">
              <a:solidFill>
                <a:srgbClr val="FF0000"/>
              </a:solidFill>
            </a:endParaRPr>
          </a:p>
        </p:txBody>
      </p:sp>
    </p:spTree>
    <p:extLst>
      <p:ext uri="{BB962C8B-B14F-4D97-AF65-F5344CB8AC3E}">
        <p14:creationId xmlns:p14="http://schemas.microsoft.com/office/powerpoint/2010/main" val="41576339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5706" y="322682"/>
            <a:ext cx="7429499" cy="1478570"/>
          </a:xfrm>
        </p:spPr>
        <p:txBody>
          <a:bodyPr>
            <a:normAutofit/>
          </a:bodyPr>
          <a:lstStyle/>
          <a:p>
            <a:r>
              <a:rPr lang="en-US" sz="4000" dirty="0" smtClean="0">
                <a:solidFill>
                  <a:srgbClr val="C00000"/>
                </a:solidFill>
                <a:latin typeface="Arial" panose="020B0604020202020204" pitchFamily="34" charset="0"/>
                <a:cs typeface="Arial" panose="020B0604020202020204" pitchFamily="34" charset="0"/>
              </a:rPr>
              <a:t>Linear </a:t>
            </a:r>
            <a:r>
              <a:rPr lang="en-US" sz="4000" dirty="0">
                <a:solidFill>
                  <a:srgbClr val="C00000"/>
                </a:solidFill>
                <a:latin typeface="Arial" panose="020B0604020202020204" pitchFamily="34" charset="0"/>
                <a:cs typeface="Arial" panose="020B0604020202020204" pitchFamily="34" charset="0"/>
              </a:rPr>
              <a:t>Integer</a:t>
            </a:r>
            <a:r>
              <a:rPr lang="en-US" sz="4000" dirty="0" smtClean="0">
                <a:solidFill>
                  <a:srgbClr val="C00000"/>
                </a:solidFill>
                <a:latin typeface="Arial" panose="020B0604020202020204" pitchFamily="34" charset="0"/>
                <a:cs typeface="Arial" panose="020B0604020202020204" pitchFamily="34" charset="0"/>
              </a:rPr>
              <a:t> programming</a:t>
            </a:r>
            <a:endParaRPr lang="en-US" sz="4000" dirty="0">
              <a:solidFill>
                <a:srgbClr val="C00000"/>
              </a:solidFill>
              <a:latin typeface="Arial" panose="020B0604020202020204" pitchFamily="34" charset="0"/>
              <a:cs typeface="Arial" panose="020B0604020202020204" pitchFamily="34" charset="0"/>
            </a:endParaRPr>
          </a:p>
        </p:txBody>
      </p:sp>
      <p:sp>
        <p:nvSpPr>
          <p:cNvPr id="4" name="Content Placeholder 5">
            <a:extLst>
              <a:ext uri="{FF2B5EF4-FFF2-40B4-BE49-F238E27FC236}">
                <a16:creationId xmlns:a16="http://schemas.microsoft.com/office/drawing/2014/main" xmlns="" id="{5870081A-CB5D-472D-B85C-BEF833BDD76E}"/>
              </a:ext>
            </a:extLst>
          </p:cNvPr>
          <p:cNvSpPr>
            <a:spLocks noGrp="1"/>
          </p:cNvSpPr>
          <p:nvPr>
            <p:ph idx="1"/>
          </p:nvPr>
        </p:nvSpPr>
        <p:spPr>
          <a:xfrm>
            <a:off x="856060" y="1855591"/>
            <a:ext cx="7964384" cy="4608513"/>
          </a:xfrm>
        </p:spPr>
        <p:txBody>
          <a:bodyPr>
            <a:noAutofit/>
          </a:bodyPr>
          <a:lstStyle/>
          <a:p>
            <a:pPr marL="0" indent="0" algn="just">
              <a:buNone/>
            </a:pPr>
            <a:r>
              <a:rPr lang="en-GB" sz="1800" dirty="0" smtClean="0">
                <a:solidFill>
                  <a:srgbClr val="FF0000"/>
                </a:solidFill>
                <a:effectLst/>
                <a:latin typeface="Arial" pitchFamily="34" charset="0"/>
                <a:ea typeface="Cambria Math" pitchFamily="18" charset="0"/>
                <a:cs typeface="Arial" pitchFamily="34" charset="0"/>
              </a:rPr>
              <a:t>It</a:t>
            </a:r>
            <a:r>
              <a:rPr lang="en-GB" sz="1800" dirty="0" smtClean="0">
                <a:effectLst/>
                <a:latin typeface="Arial" pitchFamily="34" charset="0"/>
                <a:ea typeface="Cambria Math" pitchFamily="18" charset="0"/>
                <a:cs typeface="Arial" pitchFamily="34" charset="0"/>
              </a:rPr>
              <a:t> </a:t>
            </a:r>
            <a:r>
              <a:rPr lang="en-GB" sz="1800" dirty="0" smtClean="0">
                <a:solidFill>
                  <a:srgbClr val="FF0000"/>
                </a:solidFill>
                <a:effectLst/>
                <a:latin typeface="Arial" pitchFamily="34" charset="0"/>
                <a:ea typeface="Cambria Math" pitchFamily="18" charset="0"/>
                <a:cs typeface="Arial" pitchFamily="34" charset="0"/>
              </a:rPr>
              <a:t>does </a:t>
            </a:r>
            <a:r>
              <a:rPr lang="en-GB" sz="1800" dirty="0">
                <a:solidFill>
                  <a:srgbClr val="FF0000"/>
                </a:solidFill>
                <a:effectLst/>
                <a:latin typeface="Arial" pitchFamily="34" charset="0"/>
                <a:ea typeface="Cambria Math" pitchFamily="18" charset="0"/>
                <a:cs typeface="Arial" pitchFamily="34" charset="0"/>
              </a:rPr>
              <a:t>not make sense to say that 1.5 men will be working on a project or 1.6 machines will be used in a workshop</a:t>
            </a:r>
            <a:r>
              <a:rPr lang="en-GB" sz="1800" dirty="0">
                <a:effectLst/>
                <a:latin typeface="Arial" pitchFamily="34" charset="0"/>
                <a:ea typeface="Cambria Math" pitchFamily="18" charset="0"/>
                <a:cs typeface="Arial" pitchFamily="34" charset="0"/>
              </a:rPr>
              <a:t>. The integer solution to a problem can, however, be obtained by rounding off the optimum value of the variables to the nearest integer value. This approach can be easy in terms of economy of effort, time, and the cost that might be required to derive an </a:t>
            </a:r>
            <a:r>
              <a:rPr lang="en-GB" sz="1800" dirty="0" smtClean="0">
                <a:effectLst/>
                <a:latin typeface="Arial" pitchFamily="34" charset="0"/>
                <a:ea typeface="Cambria Math" pitchFamily="18" charset="0"/>
                <a:cs typeface="Arial" pitchFamily="34" charset="0"/>
              </a:rPr>
              <a:t>integer solution</a:t>
            </a:r>
            <a:r>
              <a:rPr lang="en-GB" sz="1800" dirty="0">
                <a:effectLst/>
                <a:latin typeface="Arial" pitchFamily="34" charset="0"/>
                <a:ea typeface="Cambria Math" pitchFamily="18" charset="0"/>
                <a:cs typeface="Arial" pitchFamily="34" charset="0"/>
              </a:rPr>
              <a:t>. This solution, however, may not satisfy all the given constraints. Secondly, the value of </a:t>
            </a:r>
            <a:r>
              <a:rPr lang="en-GB" sz="1800" dirty="0" smtClean="0">
                <a:effectLst/>
                <a:latin typeface="Arial" pitchFamily="34" charset="0"/>
                <a:ea typeface="Cambria Math" pitchFamily="18" charset="0"/>
                <a:cs typeface="Arial" pitchFamily="34" charset="0"/>
              </a:rPr>
              <a:t>the objective </a:t>
            </a:r>
            <a:r>
              <a:rPr lang="en-GB" sz="1800" dirty="0">
                <a:effectLst/>
                <a:latin typeface="Arial" pitchFamily="34" charset="0"/>
                <a:ea typeface="Cambria Math" pitchFamily="18" charset="0"/>
                <a:cs typeface="Arial" pitchFamily="34" charset="0"/>
              </a:rPr>
              <a:t>function so obtained may not be the optimal value. All such difficulties can be avoided if the </a:t>
            </a:r>
            <a:r>
              <a:rPr lang="en-GB" sz="1800" dirty="0" smtClean="0">
                <a:effectLst/>
                <a:latin typeface="Arial" pitchFamily="34" charset="0"/>
                <a:ea typeface="Cambria Math" pitchFamily="18" charset="0"/>
                <a:cs typeface="Arial" pitchFamily="34" charset="0"/>
              </a:rPr>
              <a:t>given problem</a:t>
            </a:r>
            <a:r>
              <a:rPr lang="en-GB" sz="1800" dirty="0">
                <a:effectLst/>
                <a:latin typeface="Arial" pitchFamily="34" charset="0"/>
                <a:ea typeface="Cambria Math" pitchFamily="18" charset="0"/>
                <a:cs typeface="Arial" pitchFamily="34" charset="0"/>
              </a:rPr>
              <a:t>, where an integer solution is required, is solved by integer programming techniques.</a:t>
            </a:r>
          </a:p>
          <a:p>
            <a:pPr marL="0" indent="0">
              <a:buNone/>
            </a:pPr>
            <a:endParaRPr lang="en-GB" sz="1800" dirty="0">
              <a:effectLst/>
              <a:latin typeface="Times New Roman" pitchFamily="18" charset="0"/>
              <a:cs typeface="Times New Roman" pitchFamily="18" charset="0"/>
            </a:endParaRPr>
          </a:p>
        </p:txBody>
      </p:sp>
    </p:spTree>
    <p:extLst>
      <p:ext uri="{BB962C8B-B14F-4D97-AF65-F5344CB8AC3E}">
        <p14:creationId xmlns:p14="http://schemas.microsoft.com/office/powerpoint/2010/main" val="35516630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solidFill>
                  <a:srgbClr val="C00000"/>
                </a:solidFill>
                <a:latin typeface="Arial" panose="020B0604020202020204" pitchFamily="34" charset="0"/>
                <a:cs typeface="Arial" panose="020B0604020202020204" pitchFamily="34" charset="0"/>
              </a:rPr>
              <a:t>Integer Programming</a:t>
            </a:r>
            <a:endParaRPr lang="en-US" sz="4000" dirty="0">
              <a:solidFill>
                <a:srgbClr val="C00000"/>
              </a:solidFill>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mc="http://schemas.openxmlformats.org/markup-compatibility/2006" xmlns:a14="http://schemas.microsoft.com/office/drawing/2010/main" xmlns:a16="http://schemas.microsoft.com/office/drawing/2014/main" xmlns="" id="{12C3F38F-06D5-4ADF-BB89-374D8DB47BD2}"/>
              </a:ext>
            </a:extLst>
          </p:cNvPr>
          <p:cNvSpPr>
            <a:spLocks noGrp="1"/>
          </p:cNvSpPr>
          <p:nvPr>
            <p:ph idx="1"/>
          </p:nvPr>
        </p:nvSpPr>
        <p:spPr>
          <a:xfrm>
            <a:off x="1219200" y="1828800"/>
            <a:ext cx="7429499" cy="3971363"/>
          </a:xfrm>
        </p:spPr>
        <p:txBody>
          <a:bodyPr>
            <a:normAutofit/>
          </a:bodyPr>
          <a:lstStyle/>
          <a:p>
            <a:pPr marL="0" indent="0" algn="just">
              <a:buNone/>
            </a:pPr>
            <a:r>
              <a:rPr lang="en-GB" sz="1800" dirty="0" smtClean="0">
                <a:effectLst/>
                <a:latin typeface="Arial" panose="020B0604020202020204" pitchFamily="34" charset="0"/>
                <a:cs typeface="Arial" panose="020B0604020202020204" pitchFamily="34" charset="0"/>
              </a:rPr>
              <a:t>We </a:t>
            </a:r>
            <a:r>
              <a:rPr lang="en-GB" sz="1800" dirty="0">
                <a:effectLst/>
                <a:latin typeface="Arial" panose="020B0604020202020204" pitchFamily="34" charset="0"/>
                <a:cs typeface="Arial" panose="020B0604020202020204" pitchFamily="34" charset="0"/>
              </a:rPr>
              <a:t>shall discuss two methods</a:t>
            </a:r>
            <a:r>
              <a:rPr lang="en-GB" sz="1800" dirty="0" smtClean="0">
                <a:effectLst/>
                <a:latin typeface="Arial" panose="020B0604020202020204" pitchFamily="34" charset="0"/>
                <a:cs typeface="Arial" panose="020B0604020202020204" pitchFamily="34" charset="0"/>
              </a:rPr>
              <a:t>:</a:t>
            </a:r>
          </a:p>
          <a:p>
            <a:pPr marL="0" indent="0" algn="just">
              <a:buNone/>
            </a:pPr>
            <a:r>
              <a:rPr lang="en-GB" sz="1800" dirty="0" smtClean="0">
                <a:effectLst/>
                <a:latin typeface="Arial" panose="020B0604020202020204" pitchFamily="34" charset="0"/>
                <a:cs typeface="Arial" panose="020B0604020202020204" pitchFamily="34" charset="0"/>
              </a:rPr>
              <a:t> </a:t>
            </a:r>
            <a:r>
              <a:rPr lang="en-GB" sz="1800" dirty="0">
                <a:effectLst/>
                <a:latin typeface="Arial" panose="020B0604020202020204" pitchFamily="34" charset="0"/>
                <a:cs typeface="Arial" panose="020B0604020202020204" pitchFamily="34" charset="0"/>
              </a:rPr>
              <a:t>(i) </a:t>
            </a:r>
            <a:r>
              <a:rPr lang="en-GB" sz="1800" dirty="0" err="1">
                <a:effectLst/>
                <a:latin typeface="Arial" panose="020B0604020202020204" pitchFamily="34" charset="0"/>
                <a:cs typeface="Arial" panose="020B0604020202020204" pitchFamily="34" charset="0"/>
              </a:rPr>
              <a:t>Gomory’s</a:t>
            </a:r>
            <a:r>
              <a:rPr lang="en-GB" sz="1800" dirty="0">
                <a:effectLst/>
                <a:latin typeface="Arial" panose="020B0604020202020204" pitchFamily="34" charset="0"/>
                <a:cs typeface="Arial" panose="020B0604020202020204" pitchFamily="34" charset="0"/>
              </a:rPr>
              <a:t> cutting plane method </a:t>
            </a:r>
            <a:r>
              <a:rPr lang="en-GB" sz="1800" dirty="0" smtClean="0">
                <a:effectLst/>
                <a:latin typeface="Arial" panose="020B0604020202020204" pitchFamily="34" charset="0"/>
                <a:cs typeface="Arial" panose="020B0604020202020204" pitchFamily="34" charset="0"/>
              </a:rPr>
              <a:t>and</a:t>
            </a:r>
          </a:p>
          <a:p>
            <a:pPr marL="0" indent="0" algn="just">
              <a:buNone/>
            </a:pPr>
            <a:r>
              <a:rPr lang="en-GB" sz="1800" dirty="0" smtClean="0">
                <a:effectLst/>
                <a:latin typeface="Arial" panose="020B0604020202020204" pitchFamily="34" charset="0"/>
                <a:cs typeface="Arial" panose="020B0604020202020204" pitchFamily="34" charset="0"/>
              </a:rPr>
              <a:t> </a:t>
            </a:r>
            <a:r>
              <a:rPr lang="en-GB" sz="1800" dirty="0">
                <a:effectLst/>
                <a:latin typeface="Arial" panose="020B0604020202020204" pitchFamily="34" charset="0"/>
                <a:cs typeface="Arial" panose="020B0604020202020204" pitchFamily="34" charset="0"/>
              </a:rPr>
              <a:t>(ii) </a:t>
            </a:r>
            <a:r>
              <a:rPr lang="en-GB" sz="1800" dirty="0" smtClean="0">
                <a:effectLst/>
                <a:latin typeface="Arial" panose="020B0604020202020204" pitchFamily="34" charset="0"/>
                <a:cs typeface="Arial" panose="020B0604020202020204" pitchFamily="34" charset="0"/>
              </a:rPr>
              <a:t>Branch and </a:t>
            </a:r>
            <a:r>
              <a:rPr lang="en-GB" sz="1800" dirty="0">
                <a:effectLst/>
                <a:latin typeface="Arial" panose="020B0604020202020204" pitchFamily="34" charset="0"/>
                <a:cs typeface="Arial" panose="020B0604020202020204" pitchFamily="34" charset="0"/>
              </a:rPr>
              <a:t>Bound method, </a:t>
            </a:r>
            <a:endParaRPr lang="en-GB" sz="1800" dirty="0" smtClean="0">
              <a:effectLst/>
              <a:latin typeface="Arial" panose="020B0604020202020204" pitchFamily="34" charset="0"/>
              <a:cs typeface="Arial" panose="020B0604020202020204" pitchFamily="34" charset="0"/>
            </a:endParaRPr>
          </a:p>
          <a:p>
            <a:pPr marL="0" indent="0" algn="just">
              <a:buNone/>
            </a:pPr>
            <a:r>
              <a:rPr lang="en-GB" sz="1800" dirty="0" smtClean="0">
                <a:effectLst/>
                <a:latin typeface="Arial" panose="020B0604020202020204" pitchFamily="34" charset="0"/>
                <a:cs typeface="Arial" panose="020B0604020202020204" pitchFamily="34" charset="0"/>
              </a:rPr>
              <a:t>for </a:t>
            </a:r>
            <a:r>
              <a:rPr lang="en-GB" sz="1800" dirty="0">
                <a:effectLst/>
                <a:latin typeface="Arial" panose="020B0604020202020204" pitchFamily="34" charset="0"/>
                <a:cs typeface="Arial" panose="020B0604020202020204" pitchFamily="34" charset="0"/>
              </a:rPr>
              <a:t>solving integer programming problems.</a:t>
            </a:r>
            <a:endParaRPr lang="en-US" sz="1800" dirty="0" smtClean="0">
              <a:effectLst/>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81939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xmlns="" id="{12C3F38F-06D5-4ADF-BB89-374D8DB47BD2}"/>
                  </a:ext>
                </a:extLst>
              </p:cNvPr>
              <p:cNvSpPr>
                <a:spLocks noGrp="1"/>
              </p:cNvSpPr>
              <p:nvPr>
                <p:ph idx="1"/>
              </p:nvPr>
            </p:nvSpPr>
            <p:spPr>
              <a:xfrm>
                <a:off x="873989" y="1397839"/>
                <a:ext cx="7429499" cy="4608513"/>
              </a:xfrm>
            </p:spPr>
            <p:txBody>
              <a:bodyPr>
                <a:normAutofit fontScale="92500" lnSpcReduction="10000"/>
              </a:bodyPr>
              <a:lstStyle/>
              <a:p>
                <a:pPr marL="0" indent="0" algn="just">
                  <a:buNone/>
                </a:pPr>
                <a:endParaRPr lang="en-US" sz="2000" b="1" dirty="0">
                  <a:ln w="19050">
                    <a:solidFill>
                      <a:srgbClr val="2B5F27">
                        <a:tint val="1000"/>
                      </a:srgbClr>
                    </a:solidFill>
                    <a:prstDash val="solid"/>
                  </a:ln>
                  <a:solidFill>
                    <a:srgbClr val="FF0000"/>
                  </a:solidFill>
                  <a:effectLst>
                    <a:outerShdw blurRad="50000" dist="50800" dir="7500000" algn="tl">
                      <a:srgbClr val="000000">
                        <a:shade val="5000"/>
                        <a:alpha val="35000"/>
                      </a:srgbClr>
                    </a:outerShdw>
                  </a:effectLst>
                </a:endParaRPr>
              </a:p>
              <a:p>
                <a:pPr marL="0" indent="0" algn="just">
                  <a:buNone/>
                </a:pPr>
                <a:r>
                  <a:rPr lang="en-GB" sz="1900" dirty="0" smtClean="0">
                    <a:effectLst/>
                    <a:latin typeface="Arial" panose="020B0604020202020204" pitchFamily="34" charset="0"/>
                    <a:cs typeface="Arial" panose="020B0604020202020204" pitchFamily="34" charset="0"/>
                  </a:rPr>
                  <a:t>The cutting-plane method to solve integer LP problems(ILP) was developed by R.E. </a:t>
                </a:r>
                <a:r>
                  <a:rPr lang="en-GB" sz="1900" dirty="0" err="1">
                    <a:effectLst/>
                    <a:latin typeface="Arial" panose="020B0604020202020204" pitchFamily="34" charset="0"/>
                    <a:cs typeface="Arial" panose="020B0604020202020204" pitchFamily="34" charset="0"/>
                  </a:rPr>
                  <a:t>Gomory</a:t>
                </a:r>
                <a:r>
                  <a:rPr lang="en-GB" sz="1900" dirty="0">
                    <a:effectLst/>
                    <a:latin typeface="Arial" panose="020B0604020202020204" pitchFamily="34" charset="0"/>
                    <a:cs typeface="Arial" panose="020B0604020202020204" pitchFamily="34" charset="0"/>
                  </a:rPr>
                  <a:t> in 1956. This </a:t>
                </a:r>
                <a:r>
                  <a:rPr lang="en-GB" sz="1900" dirty="0" smtClean="0">
                    <a:effectLst/>
                    <a:latin typeface="Arial" panose="020B0604020202020204" pitchFamily="34" charset="0"/>
                    <a:cs typeface="Arial" panose="020B0604020202020204" pitchFamily="34" charset="0"/>
                  </a:rPr>
                  <a:t>method is </a:t>
                </a:r>
                <a:r>
                  <a:rPr lang="en-GB" sz="1900" dirty="0">
                    <a:effectLst/>
                    <a:latin typeface="Arial" panose="020B0604020202020204" pitchFamily="34" charset="0"/>
                    <a:cs typeface="Arial" panose="020B0604020202020204" pitchFamily="34" charset="0"/>
                  </a:rPr>
                  <a:t>based on creating a sequence of linear inequalities called cuts (additional linear constraints). Such a cut reduces a part of the </a:t>
                </a:r>
                <a:r>
                  <a:rPr lang="en-GB" sz="1900" dirty="0" smtClean="0">
                    <a:effectLst/>
                    <a:latin typeface="Arial" panose="020B0604020202020204" pitchFamily="34" charset="0"/>
                    <a:cs typeface="Arial" panose="020B0604020202020204" pitchFamily="34" charset="0"/>
                  </a:rPr>
                  <a:t>feasible region </a:t>
                </a:r>
                <a:r>
                  <a:rPr lang="en-GB" sz="1900" dirty="0">
                    <a:effectLst/>
                    <a:latin typeface="Arial" panose="020B0604020202020204" pitchFamily="34" charset="0"/>
                    <a:cs typeface="Arial" panose="020B0604020202020204" pitchFamily="34" charset="0"/>
                  </a:rPr>
                  <a:t>of the given LP problem, leaving out a feasible region of the integer LP problem. </a:t>
                </a:r>
                <a:endParaRPr lang="en-GB" sz="1900" dirty="0" smtClean="0">
                  <a:effectLst/>
                  <a:latin typeface="Arial" panose="020B0604020202020204" pitchFamily="34" charset="0"/>
                  <a:cs typeface="Arial" panose="020B0604020202020204" pitchFamily="34" charset="0"/>
                </a:endParaRPr>
              </a:p>
              <a:p>
                <a:pPr marL="0" indent="0" algn="just">
                  <a:buNone/>
                </a:pPr>
                <a:endParaRPr lang="en-GB" b="1" dirty="0">
                  <a:solidFill>
                    <a:srgbClr val="FF0000"/>
                  </a:solidFill>
                  <a:effectLst/>
                  <a:latin typeface="Arial" panose="020B0604020202020204" pitchFamily="34" charset="0"/>
                  <a:cs typeface="Arial" panose="020B0604020202020204" pitchFamily="34" charset="0"/>
                </a:endParaRPr>
              </a:p>
              <a:p>
                <a:pPr marL="0" indent="0" algn="just">
                  <a:buNone/>
                </a:pPr>
                <a:r>
                  <a:rPr lang="en-GB" b="1" dirty="0" smtClean="0">
                    <a:solidFill>
                      <a:srgbClr val="C00000"/>
                    </a:solidFill>
                    <a:effectLst/>
                    <a:latin typeface="Arial" panose="020B0604020202020204" pitchFamily="34" charset="0"/>
                    <a:cs typeface="Arial" panose="020B0604020202020204" pitchFamily="34" charset="0"/>
                  </a:rPr>
                  <a:t>Remark</a:t>
                </a:r>
                <a:r>
                  <a:rPr lang="en-GB" dirty="0" smtClean="0">
                    <a:effectLst/>
                    <a:latin typeface="Arial" panose="020B0604020202020204" pitchFamily="34" charset="0"/>
                    <a:cs typeface="Arial" panose="020B0604020202020204" pitchFamily="34" charset="0"/>
                  </a:rPr>
                  <a:t> </a:t>
                </a:r>
                <a:r>
                  <a:rPr lang="en-GB" sz="1900" dirty="0">
                    <a:effectLst/>
                    <a:latin typeface="Arial" panose="020B0604020202020204" pitchFamily="34" charset="0"/>
                    <a:cs typeface="Arial" panose="020B0604020202020204" pitchFamily="34" charset="0"/>
                  </a:rPr>
                  <a:t>Reducing the feasible region by adding extra constraints (cut) can never give an improved </a:t>
                </a:r>
                <a:r>
                  <a:rPr lang="en-GB" sz="1900" dirty="0" smtClean="0">
                    <a:effectLst/>
                    <a:latin typeface="Arial" panose="020B0604020202020204" pitchFamily="34" charset="0"/>
                    <a:cs typeface="Arial" panose="020B0604020202020204" pitchFamily="34" charset="0"/>
                  </a:rPr>
                  <a:t>objective function </a:t>
                </a:r>
                <a:r>
                  <a:rPr lang="en-GB" sz="1900" dirty="0">
                    <a:effectLst/>
                    <a:latin typeface="Arial" panose="020B0604020202020204" pitchFamily="34" charset="0"/>
                    <a:cs typeface="Arial" panose="020B0604020202020204" pitchFamily="34" charset="0"/>
                  </a:rPr>
                  <a:t>value. If </a:t>
                </a:r>
                <a14:m>
                  <m:oMath xmlns:m="http://schemas.openxmlformats.org/officeDocument/2006/math">
                    <m:sSub>
                      <m:sSubPr>
                        <m:ctrlPr>
                          <a:rPr lang="en-US" sz="1900" b="0" i="1" dirty="0" smtClean="0">
                            <a:effectLst/>
                            <a:latin typeface="Cambria Math"/>
                            <a:cs typeface="Arial" panose="020B0604020202020204" pitchFamily="34" charset="0"/>
                          </a:rPr>
                        </m:ctrlPr>
                      </m:sSubPr>
                      <m:e>
                        <m:r>
                          <m:rPr>
                            <m:sty m:val="p"/>
                          </m:rPr>
                          <a:rPr lang="en-US" sz="1900" b="0" i="0" dirty="0" smtClean="0">
                            <a:effectLst/>
                            <a:latin typeface="Cambria Math"/>
                            <a:cs typeface="Arial" panose="020B0604020202020204" pitchFamily="34" charset="0"/>
                          </a:rPr>
                          <m:t>Z</m:t>
                        </m:r>
                      </m:e>
                      <m:sub>
                        <m:r>
                          <m:rPr>
                            <m:sty m:val="p"/>
                          </m:rPr>
                          <a:rPr lang="en-US" sz="1900" b="0" i="0" dirty="0" smtClean="0">
                            <a:effectLst/>
                            <a:latin typeface="Cambria Math"/>
                            <a:cs typeface="Arial" panose="020B0604020202020204" pitchFamily="34" charset="0"/>
                          </a:rPr>
                          <m:t>IP</m:t>
                        </m:r>
                      </m:sub>
                    </m:sSub>
                    <m:r>
                      <a:rPr lang="en-GB" sz="1900" i="1" dirty="0" smtClean="0">
                        <a:effectLst/>
                        <a:latin typeface="Cambria Math"/>
                        <a:cs typeface="Arial" panose="020B0604020202020204" pitchFamily="34" charset="0"/>
                      </a:rPr>
                      <m:t>  </m:t>
                    </m:r>
                  </m:oMath>
                </a14:m>
                <a:r>
                  <a:rPr lang="en-GB" sz="1900" dirty="0">
                    <a:effectLst/>
                    <a:latin typeface="Arial" panose="020B0604020202020204" pitchFamily="34" charset="0"/>
                    <a:cs typeface="Arial" panose="020B0604020202020204" pitchFamily="34" charset="0"/>
                  </a:rPr>
                  <a:t>represents the maximum value of objective function in an ILP problem and </a:t>
                </a:r>
                <a14:m>
                  <m:oMath xmlns:m="http://schemas.openxmlformats.org/officeDocument/2006/math">
                    <m:sSub>
                      <m:sSubPr>
                        <m:ctrlPr>
                          <a:rPr lang="en-US" sz="1900" b="0" i="1" dirty="0" smtClean="0">
                            <a:effectLst/>
                            <a:latin typeface="Cambria Math"/>
                            <a:cs typeface="Arial" panose="020B0604020202020204" pitchFamily="34" charset="0"/>
                          </a:rPr>
                        </m:ctrlPr>
                      </m:sSubPr>
                      <m:e>
                        <m:r>
                          <a:rPr lang="en-GB" sz="1900" i="1" dirty="0" smtClean="0">
                            <a:effectLst/>
                            <a:latin typeface="Cambria Math"/>
                            <a:cs typeface="Arial" panose="020B0604020202020204" pitchFamily="34" charset="0"/>
                          </a:rPr>
                          <m:t>𝑍</m:t>
                        </m:r>
                      </m:e>
                      <m:sub>
                        <m:r>
                          <a:rPr lang="en-US" sz="1900" b="0" i="1" dirty="0" smtClean="0">
                            <a:effectLst/>
                            <a:latin typeface="Cambria Math"/>
                            <a:cs typeface="Arial" panose="020B0604020202020204" pitchFamily="34" charset="0"/>
                          </a:rPr>
                          <m:t>𝐿𝑃</m:t>
                        </m:r>
                      </m:sub>
                    </m:sSub>
                    <m:r>
                      <a:rPr lang="en-US" sz="1900" b="0" i="0" dirty="0" smtClean="0">
                        <a:effectLst/>
                        <a:latin typeface="Cambria Math"/>
                        <a:cs typeface="Arial" panose="020B0604020202020204" pitchFamily="34" charset="0"/>
                      </a:rPr>
                      <m:t> </m:t>
                    </m:r>
                  </m:oMath>
                </a14:m>
                <a:r>
                  <a:rPr lang="en-GB" sz="1900" dirty="0" smtClean="0">
                    <a:effectLst/>
                    <a:latin typeface="Arial" panose="020B0604020202020204" pitchFamily="34" charset="0"/>
                    <a:cs typeface="Arial" panose="020B0604020202020204" pitchFamily="34" charset="0"/>
                  </a:rPr>
                  <a:t>the maximum </a:t>
                </a:r>
                <a:r>
                  <a:rPr lang="en-GB" sz="1900" dirty="0">
                    <a:effectLst/>
                    <a:latin typeface="Arial" panose="020B0604020202020204" pitchFamily="34" charset="0"/>
                    <a:cs typeface="Arial" panose="020B0604020202020204" pitchFamily="34" charset="0"/>
                  </a:rPr>
                  <a:t>value of objective function in an LP problem, then </a:t>
                </a:r>
                <a14:m>
                  <m:oMath xmlns:m="http://schemas.openxmlformats.org/officeDocument/2006/math">
                    <m:sSub>
                      <m:sSubPr>
                        <m:ctrlPr>
                          <a:rPr lang="en-US" sz="1900" i="1" dirty="0">
                            <a:effectLst/>
                            <a:latin typeface="Cambria Math"/>
                            <a:cs typeface="Arial" panose="020B0604020202020204" pitchFamily="34" charset="0"/>
                          </a:rPr>
                        </m:ctrlPr>
                      </m:sSubPr>
                      <m:e>
                        <m:r>
                          <m:rPr>
                            <m:sty m:val="p"/>
                          </m:rPr>
                          <a:rPr lang="en-US" sz="1900" dirty="0">
                            <a:effectLst/>
                            <a:latin typeface="Cambria Math"/>
                            <a:cs typeface="Arial" panose="020B0604020202020204" pitchFamily="34" charset="0"/>
                          </a:rPr>
                          <m:t>Z</m:t>
                        </m:r>
                      </m:e>
                      <m:sub>
                        <m:r>
                          <m:rPr>
                            <m:sty m:val="p"/>
                          </m:rPr>
                          <a:rPr lang="en-US" sz="1900" dirty="0">
                            <a:effectLst/>
                            <a:latin typeface="Cambria Math"/>
                            <a:cs typeface="Arial" panose="020B0604020202020204" pitchFamily="34" charset="0"/>
                          </a:rPr>
                          <m:t>IP</m:t>
                        </m:r>
                      </m:sub>
                    </m:sSub>
                  </m:oMath>
                </a14:m>
                <a:r>
                  <a:rPr lang="en-GB" sz="1900" dirty="0">
                    <a:effectLst/>
                    <a:latin typeface="Arial" panose="020B0604020202020204" pitchFamily="34" charset="0"/>
                    <a:cs typeface="Arial" panose="020B0604020202020204" pitchFamily="34" charset="0"/>
                  </a:rPr>
                  <a:t> ≤ </a:t>
                </a:r>
                <a14:m>
                  <m:oMath xmlns:m="http://schemas.openxmlformats.org/officeDocument/2006/math">
                    <m:sSub>
                      <m:sSubPr>
                        <m:ctrlPr>
                          <a:rPr lang="en-US" sz="1900" i="1" dirty="0">
                            <a:effectLst/>
                            <a:latin typeface="Cambria Math"/>
                            <a:cs typeface="Arial" panose="020B0604020202020204" pitchFamily="34" charset="0"/>
                          </a:rPr>
                        </m:ctrlPr>
                      </m:sSubPr>
                      <m:e>
                        <m:r>
                          <m:rPr>
                            <m:sty m:val="p"/>
                          </m:rPr>
                          <a:rPr lang="en-US" sz="1900" dirty="0">
                            <a:effectLst/>
                            <a:latin typeface="Cambria Math"/>
                            <a:cs typeface="Arial" panose="020B0604020202020204" pitchFamily="34" charset="0"/>
                          </a:rPr>
                          <m:t>Z</m:t>
                        </m:r>
                      </m:e>
                      <m:sub>
                        <m:r>
                          <m:rPr>
                            <m:sty m:val="p"/>
                          </m:rPr>
                          <a:rPr lang="en-US" sz="1900" b="0" i="0" dirty="0" smtClean="0">
                            <a:effectLst/>
                            <a:latin typeface="Cambria Math"/>
                            <a:cs typeface="Arial" panose="020B0604020202020204" pitchFamily="34" charset="0"/>
                          </a:rPr>
                          <m:t>L</m:t>
                        </m:r>
                        <m:r>
                          <m:rPr>
                            <m:sty m:val="p"/>
                          </m:rPr>
                          <a:rPr lang="en-US" sz="1900" dirty="0">
                            <a:effectLst/>
                            <a:latin typeface="Cambria Math"/>
                            <a:cs typeface="Arial" panose="020B0604020202020204" pitchFamily="34" charset="0"/>
                          </a:rPr>
                          <m:t>P</m:t>
                        </m:r>
                      </m:sub>
                    </m:sSub>
                  </m:oMath>
                </a14:m>
                <a:r>
                  <a:rPr lang="en-GB" sz="1900" dirty="0" smtClean="0">
                    <a:effectLst/>
                    <a:latin typeface="Arial" panose="020B0604020202020204" pitchFamily="34" charset="0"/>
                    <a:cs typeface="Arial" panose="020B0604020202020204" pitchFamily="34" charset="0"/>
                  </a:rPr>
                  <a:t>.</a:t>
                </a:r>
                <a:endParaRPr lang="en-US" sz="1900" dirty="0" smtClean="0">
                  <a:effectLst/>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Choice>
        <mc:Fallback xmlns="">
          <p:sp>
            <p:nvSpPr>
              <p:cNvPr id="6" name="Content Placeholder 5">
                <a:extLst>
                  <a:ext uri="{FF2B5EF4-FFF2-40B4-BE49-F238E27FC236}">
                    <a16:creationId xmlns="" xmlns:a16="http://schemas.microsoft.com/office/drawing/2014/main" xmlns:a14="http://schemas.microsoft.com/office/drawing/2010/main" id="{12C3F38F-06D5-4ADF-BB89-374D8DB47BD2}"/>
                  </a:ext>
                </a:extLst>
              </p:cNvPr>
              <p:cNvSpPr>
                <a:spLocks noGrp="1" noRot="1" noChangeAspect="1" noMove="1" noResize="1" noEditPoints="1" noAdjustHandles="1" noChangeArrowheads="1" noChangeShapeType="1" noTextEdit="1"/>
              </p:cNvSpPr>
              <p:nvPr>
                <p:ph idx="1"/>
              </p:nvPr>
            </p:nvSpPr>
            <p:spPr>
              <a:xfrm>
                <a:off x="873989" y="1397839"/>
                <a:ext cx="7429499" cy="4608513"/>
              </a:xfrm>
              <a:blipFill rotWithShape="1">
                <a:blip r:embed="rId2"/>
                <a:stretch>
                  <a:fillRect l="-1559" t="-529" r="-1641" b="-23677"/>
                </a:stretch>
              </a:blipFill>
            </p:spPr>
            <p:txBody>
              <a:bodyPr/>
              <a:lstStyle/>
              <a:p>
                <a:r>
                  <a:rPr lang="en-GB">
                    <a:noFill/>
                  </a:rPr>
                  <a:t> </a:t>
                </a:r>
              </a:p>
            </p:txBody>
          </p:sp>
        </mc:Fallback>
      </mc:AlternateContent>
      <p:sp>
        <p:nvSpPr>
          <p:cNvPr id="5" name="Title 1"/>
          <p:cNvSpPr>
            <a:spLocks noGrp="1"/>
          </p:cNvSpPr>
          <p:nvPr>
            <p:ph type="title"/>
          </p:nvPr>
        </p:nvSpPr>
        <p:spPr>
          <a:xfrm>
            <a:off x="945706" y="322682"/>
            <a:ext cx="7429499" cy="1478570"/>
          </a:xfrm>
        </p:spPr>
        <p:txBody>
          <a:bodyPr>
            <a:normAutofit/>
          </a:bodyPr>
          <a:lstStyle/>
          <a:p>
            <a:r>
              <a:rPr lang="en-GB" sz="4000" dirty="0" err="1">
                <a:solidFill>
                  <a:srgbClr val="C00000"/>
                </a:solidFill>
                <a:latin typeface="Arial" panose="020B0604020202020204" pitchFamily="34" charset="0"/>
                <a:cs typeface="Arial" panose="020B0604020202020204" pitchFamily="34" charset="0"/>
              </a:rPr>
              <a:t>Gomory’s</a:t>
            </a:r>
            <a:r>
              <a:rPr lang="en-GB" sz="4000" dirty="0">
                <a:solidFill>
                  <a:srgbClr val="C00000"/>
                </a:solidFill>
                <a:latin typeface="Arial" panose="020B0604020202020204" pitchFamily="34" charset="0"/>
                <a:cs typeface="Arial" panose="020B0604020202020204" pitchFamily="34" charset="0"/>
              </a:rPr>
              <a:t> cutting plane method</a:t>
            </a:r>
            <a:endParaRPr lang="en-US" sz="400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40657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xmlns="" xmlns:a14="http://schemas.microsoft.com/office/drawing/2010/main" xmlns:mc="http://schemas.openxmlformats.org/markup-compatibility/2006" id="{12C3F38F-06D5-4ADF-BB89-374D8DB47BD2}"/>
              </a:ext>
            </a:extLst>
          </p:cNvPr>
          <p:cNvSpPr>
            <a:spLocks noGrp="1"/>
          </p:cNvSpPr>
          <p:nvPr>
            <p:ph idx="1"/>
          </p:nvPr>
        </p:nvSpPr>
        <p:spPr>
          <a:xfrm>
            <a:off x="873989" y="1397839"/>
            <a:ext cx="7429499" cy="4608513"/>
          </a:xfrm>
        </p:spPr>
        <p:txBody>
          <a:bodyPr>
            <a:normAutofit/>
          </a:bodyPr>
          <a:lstStyle/>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p:cNvSpPr txBox="1"/>
              <p:nvPr/>
            </p:nvSpPr>
            <p:spPr>
              <a:xfrm>
                <a:off x="1752600" y="1828800"/>
                <a:ext cx="27745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b="0" i="1" smtClean="0">
                              <a:latin typeface="Cambria Math"/>
                            </a:rPr>
                          </m:ctrlPr>
                        </m:funcPr>
                        <m:fName>
                          <m:r>
                            <m:rPr>
                              <m:sty m:val="p"/>
                            </m:rPr>
                            <a:rPr lang="en-US" b="0" i="0" smtClean="0">
                              <a:latin typeface="Cambria Math"/>
                            </a:rPr>
                            <m:t>max</m:t>
                          </m:r>
                        </m:fName>
                        <m:e>
                          <m:r>
                            <a:rPr lang="en-US" b="0" i="1" smtClean="0">
                              <a:latin typeface="Cambria Math"/>
                            </a:rPr>
                            <m:t>𝑧</m:t>
                          </m:r>
                          <m:r>
                            <a:rPr lang="en-US" b="0" i="1" smtClean="0">
                              <a:latin typeface="Cambria Math"/>
                            </a:rPr>
                            <m:t>=</m:t>
                          </m:r>
                          <m:sSub>
                            <m:sSubPr>
                              <m:ctrlPr>
                                <a:rPr lang="en-US" b="0" i="1" smtClean="0">
                                  <a:latin typeface="Cambria Math"/>
                                </a:rPr>
                              </m:ctrlPr>
                            </m:sSubPr>
                            <m:e>
                              <m:r>
                                <a:rPr lang="en-US" b="0" i="1" smtClean="0">
                                  <a:latin typeface="Cambria Math"/>
                                </a:rPr>
                                <m:t>𝑥</m:t>
                              </m:r>
                            </m:e>
                            <m:sub>
                              <m:r>
                                <a:rPr lang="en-US" b="0" i="1" smtClean="0">
                                  <a:latin typeface="Cambria Math"/>
                                </a:rPr>
                                <m:t>1</m:t>
                              </m:r>
                            </m:sub>
                          </m:sSub>
                          <m:r>
                            <a:rPr lang="en-US" b="0" i="1" smtClean="0">
                              <a:latin typeface="Cambria Math"/>
                            </a:rPr>
                            <m:t>+</m:t>
                          </m:r>
                          <m:sSub>
                            <m:sSubPr>
                              <m:ctrlPr>
                                <a:rPr lang="en-US" b="0" i="1" smtClean="0">
                                  <a:latin typeface="Cambria Math"/>
                                </a:rPr>
                              </m:ctrlPr>
                            </m:sSubPr>
                            <m:e>
                              <m:r>
                                <a:rPr lang="en-US" b="0" i="1" smtClean="0">
                                  <a:latin typeface="Cambria Math"/>
                                </a:rPr>
                                <m:t>𝑥</m:t>
                              </m:r>
                            </m:e>
                            <m:sub>
                              <m:r>
                                <a:rPr lang="en-US" b="0" i="1" smtClean="0">
                                  <a:latin typeface="Cambria Math"/>
                                </a:rPr>
                                <m:t>2</m:t>
                              </m:r>
                            </m:sub>
                          </m:sSub>
                        </m:e>
                      </m:func>
                    </m:oMath>
                  </m:oMathPara>
                </a14:m>
                <a:endParaRPr lang="en-GB" dirty="0"/>
              </a:p>
            </p:txBody>
          </p:sp>
        </mc:Choice>
        <mc:Fallback xmlns="">
          <p:sp>
            <p:nvSpPr>
              <p:cNvPr id="2" name="TextBox 1"/>
              <p:cNvSpPr txBox="1">
                <a:spLocks noRot="1" noChangeAspect="1" noMove="1" noResize="1" noEditPoints="1" noAdjustHandles="1" noChangeArrowheads="1" noChangeShapeType="1" noTextEdit="1"/>
              </p:cNvSpPr>
              <p:nvPr/>
            </p:nvSpPr>
            <p:spPr>
              <a:xfrm>
                <a:off x="1752600" y="1828800"/>
                <a:ext cx="2774574" cy="369332"/>
              </a:xfrm>
              <a:prstGeom prst="rect">
                <a:avLst/>
              </a:prstGeom>
              <a:blipFill rotWithShape="1">
                <a:blip r:embed="rId2"/>
                <a:stretch>
                  <a:fillRect t="-8197" b="-2459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762000" y="1752600"/>
                <a:ext cx="7683529" cy="3693319"/>
              </a:xfrm>
              <a:prstGeom prst="rect">
                <a:avLst/>
              </a:prstGeom>
              <a:noFill/>
            </p:spPr>
            <p:txBody>
              <a:bodyPr wrap="square" rtlCol="0">
                <a:spAutoFit/>
              </a:bodyPr>
              <a:lstStyle/>
              <a:p>
                <a:endParaRPr lang="en-US" dirty="0" smtClean="0"/>
              </a:p>
              <a:p>
                <a:endParaRPr lang="en-US" dirty="0" smtClean="0"/>
              </a:p>
              <a:p>
                <a:r>
                  <a:rPr lang="en-US" dirty="0" smtClean="0">
                    <a:latin typeface="Arial" pitchFamily="34" charset="0"/>
                    <a:cs typeface="Arial" pitchFamily="34" charset="0"/>
                  </a:rPr>
                  <a:t>Subject to the constraints:</a:t>
                </a:r>
              </a:p>
              <a:p>
                <a:pPr/>
                <a14:m>
                  <m:oMathPara xmlns:m="http://schemas.openxmlformats.org/officeDocument/2006/math">
                    <m:oMathParaPr>
                      <m:jc m:val="centerGroup"/>
                    </m:oMathParaPr>
                    <m:oMath xmlns:m="http://schemas.openxmlformats.org/officeDocument/2006/math">
                      <m:r>
                        <a:rPr lang="en-US" b="0" i="1" smtClean="0">
                          <a:latin typeface="Cambria Math"/>
                        </a:rPr>
                        <m:t>3</m:t>
                      </m:r>
                      <m:sSub>
                        <m:sSubPr>
                          <m:ctrlPr>
                            <a:rPr lang="en-US" b="0" i="1" smtClean="0">
                              <a:latin typeface="Cambria Math"/>
                            </a:rPr>
                          </m:ctrlPr>
                        </m:sSubPr>
                        <m:e>
                          <m:r>
                            <a:rPr lang="en-US" b="0" i="1" smtClean="0">
                              <a:latin typeface="Cambria Math"/>
                            </a:rPr>
                            <m:t>𝑥</m:t>
                          </m:r>
                        </m:e>
                        <m:sub>
                          <m:r>
                            <a:rPr lang="en-US" b="0" i="1" smtClean="0">
                              <a:latin typeface="Cambria Math"/>
                            </a:rPr>
                            <m:t>1</m:t>
                          </m:r>
                        </m:sub>
                      </m:sSub>
                      <m:r>
                        <a:rPr lang="en-US" b="0" i="1" smtClean="0">
                          <a:latin typeface="Cambria Math"/>
                        </a:rPr>
                        <m:t>+2</m:t>
                      </m:r>
                      <m:sSub>
                        <m:sSubPr>
                          <m:ctrlPr>
                            <a:rPr lang="en-US" b="0" i="1" smtClean="0">
                              <a:latin typeface="Cambria Math"/>
                            </a:rPr>
                          </m:ctrlPr>
                        </m:sSubPr>
                        <m:e>
                          <m:r>
                            <a:rPr lang="en-US" b="0" i="1" smtClean="0">
                              <a:latin typeface="Cambria Math"/>
                            </a:rPr>
                            <m:t>𝑥</m:t>
                          </m:r>
                        </m:e>
                        <m:sub>
                          <m:r>
                            <a:rPr lang="en-US" b="0" i="1" smtClean="0">
                              <a:latin typeface="Cambria Math"/>
                            </a:rPr>
                            <m:t>2</m:t>
                          </m:r>
                        </m:sub>
                      </m:sSub>
                      <m:r>
                        <a:rPr lang="en-US" b="0" i="1" smtClean="0">
                          <a:latin typeface="Cambria Math"/>
                        </a:rPr>
                        <m:t>≤5</m:t>
                      </m:r>
                    </m:oMath>
                    <m:oMath xmlns:m="http://schemas.openxmlformats.org/officeDocument/2006/math">
                      <m:sSub>
                        <m:sSubPr>
                          <m:ctrlPr>
                            <a:rPr lang="en-US" b="0" i="1" smtClean="0">
                              <a:latin typeface="Cambria Math"/>
                            </a:rPr>
                          </m:ctrlPr>
                        </m:sSubPr>
                        <m:e>
                          <m:r>
                            <a:rPr lang="en-US" b="0" i="1" smtClean="0">
                              <a:latin typeface="Cambria Math"/>
                            </a:rPr>
                            <m:t>𝑥</m:t>
                          </m:r>
                        </m:e>
                        <m:sub>
                          <m:r>
                            <a:rPr lang="en-US" b="0" i="1" smtClean="0">
                              <a:latin typeface="Cambria Math"/>
                            </a:rPr>
                            <m:t>2</m:t>
                          </m:r>
                        </m:sub>
                      </m:sSub>
                      <m:r>
                        <a:rPr lang="en-US" b="0" i="1" smtClean="0">
                          <a:latin typeface="Cambria Math"/>
                        </a:rPr>
                        <m:t>≤2</m:t>
                      </m:r>
                    </m:oMath>
                  </m:oMathPara>
                </a14:m>
                <a:endParaRPr lang="en-US" b="0" dirty="0" smtClean="0">
                  <a:latin typeface="Arial" pitchFamily="34" charset="0"/>
                  <a:cs typeface="Arial" pitchFamily="34" charset="0"/>
                </a:endParaRPr>
              </a:p>
              <a:p>
                <a14:m>
                  <m:oMath xmlns:m="http://schemas.openxmlformats.org/officeDocument/2006/math">
                    <m:sSub>
                      <m:sSubPr>
                        <m:ctrlPr>
                          <a:rPr lang="en-US" b="0" i="1" smtClean="0">
                            <a:latin typeface="Cambria Math"/>
                          </a:rPr>
                        </m:ctrlPr>
                      </m:sSubPr>
                      <m:e>
                        <m:r>
                          <a:rPr lang="en-US" b="0" i="1" smtClean="0">
                            <a:latin typeface="Cambria Math"/>
                          </a:rPr>
                          <m:t>𝑥</m:t>
                        </m:r>
                      </m:e>
                      <m:sub>
                        <m:r>
                          <a:rPr lang="en-US" b="0" i="1" smtClean="0">
                            <a:latin typeface="Cambria Math"/>
                          </a:rPr>
                          <m:t>1</m:t>
                        </m:r>
                      </m:sub>
                    </m:sSub>
                    <m:r>
                      <a:rPr lang="en-US" b="0" i="1" smtClean="0">
                        <a:latin typeface="Cambria Math"/>
                      </a:rPr>
                      <m:t>, </m:t>
                    </m:r>
                    <m:sSub>
                      <m:sSubPr>
                        <m:ctrlPr>
                          <a:rPr lang="en-US" b="0" i="1" smtClean="0">
                            <a:latin typeface="Cambria Math"/>
                          </a:rPr>
                        </m:ctrlPr>
                      </m:sSubPr>
                      <m:e>
                        <m:r>
                          <a:rPr lang="en-US" b="0" i="1" smtClean="0">
                            <a:latin typeface="Cambria Math"/>
                          </a:rPr>
                          <m:t>𝑥</m:t>
                        </m:r>
                      </m:e>
                      <m:sub>
                        <m:r>
                          <a:rPr lang="en-US" b="0" i="1" smtClean="0">
                            <a:latin typeface="Cambria Math"/>
                          </a:rPr>
                          <m:t>2</m:t>
                        </m:r>
                      </m:sub>
                    </m:sSub>
                    <m:r>
                      <a:rPr lang="en-US" b="0" i="1" smtClean="0">
                        <a:latin typeface="Cambria Math"/>
                      </a:rPr>
                      <m:t>≥0, </m:t>
                    </m:r>
                  </m:oMath>
                </a14:m>
                <a:r>
                  <a:rPr lang="en-GB" dirty="0" smtClean="0">
                    <a:latin typeface="Arial" pitchFamily="34" charset="0"/>
                    <a:cs typeface="Arial" pitchFamily="34" charset="0"/>
                  </a:rPr>
                  <a:t>and are integers.</a:t>
                </a:r>
              </a:p>
              <a:p>
                <a:endParaRPr lang="en-US" dirty="0">
                  <a:latin typeface="Arial" pitchFamily="34" charset="0"/>
                  <a:cs typeface="Arial" pitchFamily="34" charset="0"/>
                </a:endParaRPr>
              </a:p>
              <a:p>
                <a:r>
                  <a:rPr lang="en-US" dirty="0" smtClean="0">
                    <a:solidFill>
                      <a:srgbClr val="C00000"/>
                    </a:solidFill>
                    <a:latin typeface="Arial" pitchFamily="34" charset="0"/>
                    <a:cs typeface="Arial" pitchFamily="34" charset="0"/>
                  </a:rPr>
                  <a:t>Solution: </a:t>
                </a:r>
                <a:r>
                  <a:rPr lang="en-US" dirty="0" smtClean="0">
                    <a:latin typeface="Arial" pitchFamily="34" charset="0"/>
                    <a:cs typeface="Arial" pitchFamily="34" charset="0"/>
                  </a:rPr>
                  <a:t>Simplex Method:</a:t>
                </a:r>
              </a:p>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a:rPr>
                        <m:t>𝑧</m:t>
                      </m:r>
                      <m:r>
                        <a:rPr lang="en-US" b="0" i="1" smtClean="0">
                          <a:solidFill>
                            <a:schemeClr val="tx1"/>
                          </a:solidFill>
                          <a:latin typeface="Cambria Math"/>
                        </a:rPr>
                        <m:t>−</m:t>
                      </m:r>
                      <m:sSub>
                        <m:sSubPr>
                          <m:ctrlPr>
                            <a:rPr lang="en-US" b="0" i="1" smtClean="0">
                              <a:solidFill>
                                <a:schemeClr val="tx1"/>
                              </a:solidFill>
                              <a:latin typeface="Cambria Math"/>
                            </a:rPr>
                          </m:ctrlPr>
                        </m:sSubPr>
                        <m:e>
                          <m:r>
                            <a:rPr lang="en-US" b="0" i="1" smtClean="0">
                              <a:solidFill>
                                <a:schemeClr val="tx1"/>
                              </a:solidFill>
                              <a:latin typeface="Cambria Math"/>
                            </a:rPr>
                            <m:t>𝑥</m:t>
                          </m:r>
                        </m:e>
                        <m:sub>
                          <m:r>
                            <a:rPr lang="en-US" b="0" i="1" smtClean="0">
                              <a:solidFill>
                                <a:schemeClr val="tx1"/>
                              </a:solidFill>
                              <a:latin typeface="Cambria Math"/>
                            </a:rPr>
                            <m:t>1</m:t>
                          </m:r>
                        </m:sub>
                      </m:sSub>
                      <m:r>
                        <a:rPr lang="en-US" b="0" i="1" smtClean="0">
                          <a:solidFill>
                            <a:schemeClr val="tx1"/>
                          </a:solidFill>
                          <a:latin typeface="Cambria Math"/>
                        </a:rPr>
                        <m:t>−</m:t>
                      </m:r>
                      <m:sSub>
                        <m:sSubPr>
                          <m:ctrlPr>
                            <a:rPr lang="en-US" b="0" i="1" smtClean="0">
                              <a:solidFill>
                                <a:schemeClr val="tx1"/>
                              </a:solidFill>
                              <a:latin typeface="Cambria Math"/>
                            </a:rPr>
                          </m:ctrlPr>
                        </m:sSubPr>
                        <m:e>
                          <m:r>
                            <a:rPr lang="en-US" b="0" i="1" smtClean="0">
                              <a:solidFill>
                                <a:schemeClr val="tx1"/>
                              </a:solidFill>
                              <a:latin typeface="Cambria Math"/>
                            </a:rPr>
                            <m:t>𝑥</m:t>
                          </m:r>
                        </m:e>
                        <m:sub>
                          <m:r>
                            <a:rPr lang="en-US" b="0" i="1" smtClean="0">
                              <a:solidFill>
                                <a:schemeClr val="tx1"/>
                              </a:solidFill>
                              <a:latin typeface="Cambria Math"/>
                            </a:rPr>
                            <m:t>2</m:t>
                          </m:r>
                        </m:sub>
                      </m:sSub>
                      <m:r>
                        <a:rPr lang="en-US" b="0" i="1" smtClean="0">
                          <a:solidFill>
                            <a:schemeClr val="tx1"/>
                          </a:solidFill>
                          <a:latin typeface="Cambria Math"/>
                        </a:rPr>
                        <m:t>=0</m:t>
                      </m:r>
                    </m:oMath>
                    <m:oMath xmlns:m="http://schemas.openxmlformats.org/officeDocument/2006/math">
                      <m:r>
                        <a:rPr lang="en-US" i="1">
                          <a:latin typeface="Cambria Math"/>
                        </a:rPr>
                        <m:t>3</m:t>
                      </m:r>
                      <m:sSub>
                        <m:sSubPr>
                          <m:ctrlPr>
                            <a:rPr lang="en-US" i="1">
                              <a:latin typeface="Cambria Math"/>
                            </a:rPr>
                          </m:ctrlPr>
                        </m:sSubPr>
                        <m:e>
                          <m:r>
                            <a:rPr lang="en-US" i="1">
                              <a:latin typeface="Cambria Math"/>
                            </a:rPr>
                            <m:t>𝑥</m:t>
                          </m:r>
                        </m:e>
                        <m:sub>
                          <m:r>
                            <a:rPr lang="en-US" i="1">
                              <a:latin typeface="Cambria Math"/>
                            </a:rPr>
                            <m:t>1</m:t>
                          </m:r>
                        </m:sub>
                      </m:sSub>
                      <m:r>
                        <a:rPr lang="en-US" i="1">
                          <a:latin typeface="Cambria Math"/>
                        </a:rPr>
                        <m:t>+2</m:t>
                      </m:r>
                      <m:sSub>
                        <m:sSubPr>
                          <m:ctrlPr>
                            <a:rPr lang="en-US" i="1">
                              <a:latin typeface="Cambria Math"/>
                            </a:rPr>
                          </m:ctrlPr>
                        </m:sSubPr>
                        <m:e>
                          <m:r>
                            <a:rPr lang="en-US" i="1">
                              <a:latin typeface="Cambria Math"/>
                            </a:rPr>
                            <m:t>𝑥</m:t>
                          </m:r>
                        </m:e>
                        <m:sub>
                          <m:r>
                            <a:rPr lang="en-US" i="1">
                              <a:latin typeface="Cambria Math"/>
                            </a:rPr>
                            <m:t>2</m:t>
                          </m:r>
                        </m:sub>
                      </m:sSub>
                      <m:r>
                        <a:rPr lang="en-US" b="0" i="1" smtClean="0">
                          <a:latin typeface="Cambria Math"/>
                        </a:rPr>
                        <m:t>+</m:t>
                      </m:r>
                      <m:sSub>
                        <m:sSubPr>
                          <m:ctrlPr>
                            <a:rPr lang="en-US" b="0" i="1" smtClean="0">
                              <a:latin typeface="Cambria Math"/>
                            </a:rPr>
                          </m:ctrlPr>
                        </m:sSubPr>
                        <m:e>
                          <m:r>
                            <a:rPr lang="en-US" b="0" i="1" smtClean="0">
                              <a:latin typeface="Cambria Math"/>
                            </a:rPr>
                            <m:t>𝑠</m:t>
                          </m:r>
                        </m:e>
                        <m:sub>
                          <m:r>
                            <a:rPr lang="en-US" b="0" i="1" smtClean="0">
                              <a:latin typeface="Cambria Math"/>
                            </a:rPr>
                            <m:t>1</m:t>
                          </m:r>
                        </m:sub>
                      </m:sSub>
                      <m:r>
                        <a:rPr lang="en-US" b="0" i="1" smtClean="0">
                          <a:latin typeface="Cambria Math"/>
                        </a:rPr>
                        <m:t>=</m:t>
                      </m:r>
                      <m:r>
                        <a:rPr lang="en-US" i="1">
                          <a:latin typeface="Cambria Math"/>
                        </a:rPr>
                        <m:t>5</m:t>
                      </m:r>
                    </m:oMath>
                    <m:oMath xmlns:m="http://schemas.openxmlformats.org/officeDocument/2006/math">
                      <m:sSub>
                        <m:sSubPr>
                          <m:ctrlPr>
                            <a:rPr lang="en-US" i="1">
                              <a:latin typeface="Cambria Math"/>
                            </a:rPr>
                          </m:ctrlPr>
                        </m:sSubPr>
                        <m:e>
                          <m:r>
                            <a:rPr lang="en-US" i="1">
                              <a:latin typeface="Cambria Math"/>
                            </a:rPr>
                            <m:t>𝑥</m:t>
                          </m:r>
                        </m:e>
                        <m:sub>
                          <m:r>
                            <a:rPr lang="en-US" i="1">
                              <a:latin typeface="Cambria Math"/>
                            </a:rPr>
                            <m:t>2</m:t>
                          </m:r>
                        </m:sub>
                      </m:sSub>
                      <m:r>
                        <a:rPr lang="en-US" b="0" i="1" smtClean="0">
                          <a:latin typeface="Cambria Math"/>
                        </a:rPr>
                        <m:t>+</m:t>
                      </m:r>
                      <m:sSub>
                        <m:sSubPr>
                          <m:ctrlPr>
                            <a:rPr lang="en-US" b="0" i="1" smtClean="0">
                              <a:latin typeface="Cambria Math"/>
                            </a:rPr>
                          </m:ctrlPr>
                        </m:sSubPr>
                        <m:e>
                          <m:r>
                            <a:rPr lang="en-US" b="0" i="1" smtClean="0">
                              <a:latin typeface="Cambria Math"/>
                            </a:rPr>
                            <m:t>𝑠</m:t>
                          </m:r>
                        </m:e>
                        <m:sub>
                          <m:r>
                            <a:rPr lang="en-US" b="0" i="1" smtClean="0">
                              <a:latin typeface="Cambria Math"/>
                            </a:rPr>
                            <m:t>2</m:t>
                          </m:r>
                        </m:sub>
                      </m:sSub>
                      <m:r>
                        <a:rPr lang="en-US" b="0" i="1" smtClean="0">
                          <a:latin typeface="Cambria Math"/>
                        </a:rPr>
                        <m:t>=</m:t>
                      </m:r>
                      <m:r>
                        <a:rPr lang="en-US" i="1">
                          <a:latin typeface="Cambria Math"/>
                        </a:rPr>
                        <m:t>2</m:t>
                      </m:r>
                    </m:oMath>
                  </m:oMathPara>
                </a14:m>
                <a:endParaRPr lang="en-US" dirty="0" smtClean="0"/>
              </a:p>
              <a:p>
                <a:endParaRPr lang="en-US" dirty="0"/>
              </a:p>
              <a:p>
                <a:endParaRPr lang="en-GB" dirty="0">
                  <a:solidFill>
                    <a:srgbClr val="FF0000"/>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762000" y="1752600"/>
                <a:ext cx="7683529" cy="3693319"/>
              </a:xfrm>
              <a:prstGeom prst="rect">
                <a:avLst/>
              </a:prstGeom>
              <a:blipFill rotWithShape="1">
                <a:blip r:embed="rId3"/>
                <a:stretch>
                  <a:fillRect l="-635" t="-826" b="-165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2907743183"/>
                  </p:ext>
                </p:extLst>
              </p:nvPr>
            </p:nvGraphicFramePr>
            <p:xfrm>
              <a:off x="1555764" y="5029200"/>
              <a:ext cx="6095999" cy="175260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870857"/>
                    <a:gridCol w="870857"/>
                  </a:tblGrid>
                  <a:tr h="370840">
                    <a:tc>
                      <a:txBody>
                        <a:bodyPr/>
                        <a:lstStyle/>
                        <a:p>
                          <a:pPr algn="ctr"/>
                          <a:r>
                            <a:rPr lang="en-US" sz="1400" dirty="0" smtClean="0"/>
                            <a:t>Basic</a:t>
                          </a:r>
                          <a:r>
                            <a:rPr lang="en-US" sz="1400" baseline="0" dirty="0" smtClean="0"/>
                            <a:t> Variable</a:t>
                          </a:r>
                          <a:endParaRPr lang="en-GB" sz="14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solidFill>
                                          <a:srgbClr val="C00000"/>
                                        </a:solidFill>
                                        <a:latin typeface="Cambria Math"/>
                                      </a:rPr>
                                    </m:ctrlPr>
                                  </m:sSubPr>
                                  <m:e>
                                    <m:r>
                                      <a:rPr lang="en-US" i="1" dirty="0" smtClean="0">
                                        <a:solidFill>
                                          <a:srgbClr val="C00000"/>
                                        </a:solidFill>
                                        <a:latin typeface="Cambria Math"/>
                                      </a:rPr>
                                      <m:t>𝑥</m:t>
                                    </m:r>
                                  </m:e>
                                  <m:sub>
                                    <m:r>
                                      <a:rPr lang="en-US" i="1" dirty="0" smtClean="0">
                                        <a:solidFill>
                                          <a:srgbClr val="C00000"/>
                                        </a:solidFill>
                                        <a:latin typeface="Cambria Math"/>
                                      </a:rPr>
                                      <m:t>1</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b="0" i="1" dirty="0" smtClean="0">
                                        <a:latin typeface="Cambria Math"/>
                                      </a:rPr>
                                      <m:t>𝑥</m:t>
                                    </m:r>
                                  </m:e>
                                  <m:sub>
                                    <m:r>
                                      <a:rPr lang="en-US" i="1" dirty="0" smtClean="0">
                                        <a:latin typeface="Cambria Math"/>
                                      </a:rPr>
                                      <m:t>2</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i="1" dirty="0" smtClean="0">
                                        <a:latin typeface="Cambria Math"/>
                                      </a:rPr>
                                      <m:t>𝑆</m:t>
                                    </m:r>
                                  </m:e>
                                  <m:sub>
                                    <m:r>
                                      <a:rPr lang="en-US" i="1" dirty="0" smtClean="0">
                                        <a:latin typeface="Cambria Math"/>
                                      </a:rPr>
                                      <m:t>1</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i="1" dirty="0" smtClean="0">
                                        <a:latin typeface="Cambria Math"/>
                                      </a:rPr>
                                      <m:t>𝑆</m:t>
                                    </m:r>
                                  </m:e>
                                  <m:sub>
                                    <m:r>
                                      <a:rPr lang="en-US" i="1" dirty="0" smtClean="0">
                                        <a:latin typeface="Cambria Math"/>
                                      </a:rPr>
                                      <m:t>2</m:t>
                                    </m:r>
                                  </m:sub>
                                </m:sSub>
                              </m:oMath>
                            </m:oMathPara>
                          </a14:m>
                          <a:endParaRPr lang="en-GB" dirty="0"/>
                        </a:p>
                      </a:txBody>
                      <a:tcPr/>
                    </a:tc>
                    <a:tc>
                      <a:txBody>
                        <a:bodyPr/>
                        <a:lstStyle/>
                        <a:p>
                          <a:r>
                            <a:rPr lang="en-US" dirty="0" smtClean="0"/>
                            <a:t>sol</a:t>
                          </a:r>
                          <a:endParaRPr lang="en-GB" dirty="0"/>
                        </a:p>
                      </a:txBody>
                      <a:tcPr/>
                    </a:tc>
                    <a:tc>
                      <a:txBody>
                        <a:bodyPr/>
                        <a:lstStyle/>
                        <a:p>
                          <a:r>
                            <a:rPr lang="en-US" dirty="0" smtClean="0"/>
                            <a:t>Min Ratio</a:t>
                          </a:r>
                          <a:endParaRPr lang="en-GB" dirty="0"/>
                        </a:p>
                      </a:txBody>
                      <a:tcPr/>
                    </a:tc>
                  </a:tr>
                  <a:tr h="370840">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a:rPr>
                                  <m:t>𝑧</m:t>
                                </m:r>
                              </m:oMath>
                            </m:oMathPara>
                          </a14:m>
                          <a:endParaRPr lang="en-GB" dirty="0"/>
                        </a:p>
                      </a:txBody>
                      <a:tcPr/>
                    </a:tc>
                    <a:tc>
                      <a:txBody>
                        <a:bodyPr/>
                        <a:lstStyle/>
                        <a:p>
                          <a:pPr algn="ctr"/>
                          <a:r>
                            <a:rPr lang="en-US" dirty="0" smtClean="0"/>
                            <a:t>-1</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0</a:t>
                          </a:r>
                          <a:endParaRPr lang="en-GB" dirty="0"/>
                        </a:p>
                      </a:txBody>
                      <a:tcPr/>
                    </a:tc>
                    <a:tc>
                      <a:txBody>
                        <a:bodyPr/>
                        <a:lstStyle/>
                        <a:p>
                          <a:pPr algn="ctr"/>
                          <a:r>
                            <a:rPr lang="en-US" dirty="0" smtClean="0"/>
                            <a:t>0</a:t>
                          </a:r>
                          <a:endParaRPr lang="en-GB" dirty="0"/>
                        </a:p>
                      </a:txBody>
                      <a:tcPr/>
                    </a:tc>
                    <a:tc>
                      <a:txBody>
                        <a:bodyPr/>
                        <a:lstStyle/>
                        <a:p>
                          <a:pPr algn="ctr"/>
                          <a:r>
                            <a:rPr lang="en-US" dirty="0" smtClean="0"/>
                            <a:t>_____</a:t>
                          </a:r>
                          <a:endParaRPr lang="en-GB" dirty="0"/>
                        </a:p>
                      </a:txBody>
                      <a:tcPr/>
                    </a:tc>
                  </a:tr>
                  <a:tr h="370840">
                    <a:tc>
                      <a:txBody>
                        <a:bodyPr/>
                        <a:lstStyle/>
                        <a:p>
                          <a:pPr/>
                          <a14:m>
                            <m:oMathPara xmlns:m="http://schemas.openxmlformats.org/officeDocument/2006/math">
                              <m:oMathParaPr>
                                <m:jc m:val="centerGroup"/>
                              </m:oMathParaPr>
                              <m:oMath xmlns:m="http://schemas.openxmlformats.org/officeDocument/2006/math">
                                <m:sSub>
                                  <m:sSubPr>
                                    <m:ctrlPr>
                                      <a:rPr lang="en-US" i="1" dirty="0" smtClean="0">
                                        <a:solidFill>
                                          <a:srgbClr val="C00000"/>
                                        </a:solidFill>
                                        <a:latin typeface="Cambria Math"/>
                                      </a:rPr>
                                    </m:ctrlPr>
                                  </m:sSubPr>
                                  <m:e>
                                    <m:r>
                                      <a:rPr lang="en-US" i="1" dirty="0" smtClean="0">
                                        <a:solidFill>
                                          <a:srgbClr val="C00000"/>
                                        </a:solidFill>
                                        <a:latin typeface="Cambria Math"/>
                                      </a:rPr>
                                      <m:t>𝑆</m:t>
                                    </m:r>
                                  </m:e>
                                  <m:sub>
                                    <m:r>
                                      <a:rPr lang="en-US" i="1" dirty="0" smtClean="0">
                                        <a:solidFill>
                                          <a:srgbClr val="C00000"/>
                                        </a:solidFill>
                                        <a:latin typeface="Cambria Math"/>
                                      </a:rPr>
                                      <m:t>1</m:t>
                                    </m:r>
                                  </m:sub>
                                </m:sSub>
                              </m:oMath>
                            </m:oMathPara>
                          </a14:m>
                          <a:endParaRPr lang="en-GB" dirty="0"/>
                        </a:p>
                      </a:txBody>
                      <a:tcPr/>
                    </a:tc>
                    <a:tc>
                      <a:txBody>
                        <a:bodyPr/>
                        <a:lstStyle/>
                        <a:p>
                          <a:pPr algn="ctr"/>
                          <a:r>
                            <a:rPr lang="en-US" dirty="0" smtClean="0">
                              <a:solidFill>
                                <a:srgbClr val="C00000"/>
                              </a:solidFill>
                            </a:rPr>
                            <a:t>3</a:t>
                          </a:r>
                          <a:endParaRPr lang="en-GB" dirty="0">
                            <a:solidFill>
                              <a:srgbClr val="C00000"/>
                            </a:solidFill>
                          </a:endParaRPr>
                        </a:p>
                      </a:txBody>
                      <a:tcPr/>
                    </a:tc>
                    <a:tc>
                      <a:txBody>
                        <a:bodyPr/>
                        <a:lstStyle/>
                        <a:p>
                          <a:pPr algn="ctr"/>
                          <a:r>
                            <a:rPr lang="en-US" dirty="0" smtClean="0"/>
                            <a:t>2</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5</a:t>
                          </a:r>
                          <a:endParaRPr lang="en-GB" dirty="0"/>
                        </a:p>
                      </a:txBody>
                      <a:tcPr/>
                    </a:tc>
                    <a:tc>
                      <a:txBody>
                        <a:bodyPr/>
                        <a:lstStyle/>
                        <a:p>
                          <a:pPr algn="ctr"/>
                          <a:r>
                            <a:rPr lang="en-US" dirty="0" smtClean="0">
                              <a:solidFill>
                                <a:srgbClr val="C00000"/>
                              </a:solidFill>
                            </a:rPr>
                            <a:t>5/3</a:t>
                          </a:r>
                          <a:endParaRPr lang="en-GB" dirty="0">
                            <a:solidFill>
                              <a:srgbClr val="C00000"/>
                            </a:solidFill>
                          </a:endParaRPr>
                        </a:p>
                      </a:txBody>
                      <a:tcPr/>
                    </a:tc>
                  </a:tr>
                  <a:tr h="370840">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i="1" dirty="0" smtClean="0">
                                        <a:latin typeface="Cambria Math"/>
                                      </a:rPr>
                                      <m:t>𝑆</m:t>
                                    </m:r>
                                  </m:e>
                                  <m:sub>
                                    <m:r>
                                      <a:rPr lang="en-US" i="1" dirty="0" smtClean="0">
                                        <a:latin typeface="Cambria Math"/>
                                      </a:rPr>
                                      <m:t>2</m:t>
                                    </m:r>
                                  </m:sub>
                                </m:sSub>
                              </m:oMath>
                            </m:oMathPara>
                          </a14:m>
                          <a:endParaRPr lang="en-GB" dirty="0"/>
                        </a:p>
                      </a:txBody>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2</a:t>
                          </a:r>
                          <a:endParaRPr lang="en-GB" dirty="0"/>
                        </a:p>
                      </a:txBody>
                      <a:tcPr/>
                    </a:tc>
                    <a:tc>
                      <a:txBody>
                        <a:bodyPr/>
                        <a:lstStyle/>
                        <a:p>
                          <a:pPr algn="ctr"/>
                          <a:r>
                            <a:rPr lang="en-US" dirty="0" err="1" smtClean="0"/>
                            <a:t>undef</a:t>
                          </a:r>
                          <a:endParaRPr lang="en-GB" dirty="0"/>
                        </a:p>
                      </a:txBody>
                      <a:tcPr/>
                    </a:tc>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2907743183"/>
                  </p:ext>
                </p:extLst>
              </p:nvPr>
            </p:nvGraphicFramePr>
            <p:xfrm>
              <a:off x="1555764" y="5029200"/>
              <a:ext cx="6095999" cy="175260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870857"/>
                    <a:gridCol w="870857"/>
                  </a:tblGrid>
                  <a:tr h="640080">
                    <a:tc>
                      <a:txBody>
                        <a:bodyPr/>
                        <a:lstStyle/>
                        <a:p>
                          <a:pPr algn="ctr"/>
                          <a:r>
                            <a:rPr lang="en-US" sz="1400" dirty="0" smtClean="0"/>
                            <a:t>Basic</a:t>
                          </a:r>
                          <a:r>
                            <a:rPr lang="en-US" sz="1400" baseline="0" dirty="0" smtClean="0"/>
                            <a:t> Variable</a:t>
                          </a:r>
                          <a:endParaRPr lang="en-GB" sz="1400" dirty="0"/>
                        </a:p>
                      </a:txBody>
                      <a:tcPr/>
                    </a:tc>
                    <a:tc>
                      <a:txBody>
                        <a:bodyPr/>
                        <a:lstStyle/>
                        <a:p>
                          <a:endParaRPr lang="en-US"/>
                        </a:p>
                      </a:txBody>
                      <a:tcPr>
                        <a:blipFill rotWithShape="1">
                          <a:blip r:embed="rId4"/>
                          <a:stretch>
                            <a:fillRect l="-100000" t="-4762" r="-500000" b="-188571"/>
                          </a:stretch>
                        </a:blipFill>
                      </a:tcPr>
                    </a:tc>
                    <a:tc>
                      <a:txBody>
                        <a:bodyPr/>
                        <a:lstStyle/>
                        <a:p>
                          <a:endParaRPr lang="en-US"/>
                        </a:p>
                      </a:txBody>
                      <a:tcPr>
                        <a:blipFill rotWithShape="1">
                          <a:blip r:embed="rId4"/>
                          <a:stretch>
                            <a:fillRect l="-200000" t="-4762" r="-400000" b="-188571"/>
                          </a:stretch>
                        </a:blipFill>
                      </a:tcPr>
                    </a:tc>
                    <a:tc>
                      <a:txBody>
                        <a:bodyPr/>
                        <a:lstStyle/>
                        <a:p>
                          <a:endParaRPr lang="en-US"/>
                        </a:p>
                      </a:txBody>
                      <a:tcPr>
                        <a:blipFill rotWithShape="1">
                          <a:blip r:embed="rId4"/>
                          <a:stretch>
                            <a:fillRect l="-302113" t="-4762" r="-302817" b="-188571"/>
                          </a:stretch>
                        </a:blipFill>
                      </a:tcPr>
                    </a:tc>
                    <a:tc>
                      <a:txBody>
                        <a:bodyPr/>
                        <a:lstStyle/>
                        <a:p>
                          <a:endParaRPr lang="en-US"/>
                        </a:p>
                      </a:txBody>
                      <a:tcPr>
                        <a:blipFill rotWithShape="1">
                          <a:blip r:embed="rId4"/>
                          <a:stretch>
                            <a:fillRect l="-399301" t="-4762" r="-200699" b="-188571"/>
                          </a:stretch>
                        </a:blipFill>
                      </a:tcPr>
                    </a:tc>
                    <a:tc>
                      <a:txBody>
                        <a:bodyPr/>
                        <a:lstStyle/>
                        <a:p>
                          <a:r>
                            <a:rPr lang="en-US" dirty="0" smtClean="0"/>
                            <a:t>sol</a:t>
                          </a:r>
                          <a:endParaRPr lang="en-GB" dirty="0"/>
                        </a:p>
                      </a:txBody>
                      <a:tcPr/>
                    </a:tc>
                    <a:tc>
                      <a:txBody>
                        <a:bodyPr/>
                        <a:lstStyle/>
                        <a:p>
                          <a:r>
                            <a:rPr lang="en-US" dirty="0" smtClean="0"/>
                            <a:t>Min Ratio</a:t>
                          </a:r>
                          <a:endParaRPr lang="en-GB" dirty="0"/>
                        </a:p>
                      </a:txBody>
                      <a:tcPr/>
                    </a:tc>
                  </a:tr>
                  <a:tr h="370840">
                    <a:tc>
                      <a:txBody>
                        <a:bodyPr/>
                        <a:lstStyle/>
                        <a:p>
                          <a:endParaRPr lang="en-US"/>
                        </a:p>
                      </a:txBody>
                      <a:tcPr>
                        <a:blipFill rotWithShape="1">
                          <a:blip r:embed="rId4"/>
                          <a:stretch>
                            <a:fillRect t="-180328" r="-600000" b="-224590"/>
                          </a:stretch>
                        </a:blipFill>
                      </a:tcPr>
                    </a:tc>
                    <a:tc>
                      <a:txBody>
                        <a:bodyPr/>
                        <a:lstStyle/>
                        <a:p>
                          <a:pPr algn="ctr"/>
                          <a:r>
                            <a:rPr lang="en-US" dirty="0" smtClean="0"/>
                            <a:t>-1</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0</a:t>
                          </a:r>
                          <a:endParaRPr lang="en-GB" dirty="0"/>
                        </a:p>
                      </a:txBody>
                      <a:tcPr/>
                    </a:tc>
                    <a:tc>
                      <a:txBody>
                        <a:bodyPr/>
                        <a:lstStyle/>
                        <a:p>
                          <a:pPr algn="ctr"/>
                          <a:r>
                            <a:rPr lang="en-US" dirty="0" smtClean="0"/>
                            <a:t>0</a:t>
                          </a:r>
                          <a:endParaRPr lang="en-GB" dirty="0"/>
                        </a:p>
                      </a:txBody>
                      <a:tcPr/>
                    </a:tc>
                    <a:tc>
                      <a:txBody>
                        <a:bodyPr/>
                        <a:lstStyle/>
                        <a:p>
                          <a:pPr algn="ctr"/>
                          <a:r>
                            <a:rPr lang="en-US" dirty="0" smtClean="0"/>
                            <a:t>_____</a:t>
                          </a:r>
                          <a:endParaRPr lang="en-GB" dirty="0"/>
                        </a:p>
                      </a:txBody>
                      <a:tcPr/>
                    </a:tc>
                  </a:tr>
                  <a:tr h="370840">
                    <a:tc>
                      <a:txBody>
                        <a:bodyPr/>
                        <a:lstStyle/>
                        <a:p>
                          <a:endParaRPr lang="en-US"/>
                        </a:p>
                      </a:txBody>
                      <a:tcPr>
                        <a:blipFill rotWithShape="1">
                          <a:blip r:embed="rId4"/>
                          <a:stretch>
                            <a:fillRect t="-280328" r="-600000" b="-124590"/>
                          </a:stretch>
                        </a:blipFill>
                      </a:tcPr>
                    </a:tc>
                    <a:tc>
                      <a:txBody>
                        <a:bodyPr/>
                        <a:lstStyle/>
                        <a:p>
                          <a:pPr algn="ctr"/>
                          <a:r>
                            <a:rPr lang="en-US" dirty="0" smtClean="0">
                              <a:solidFill>
                                <a:srgbClr val="C00000"/>
                              </a:solidFill>
                            </a:rPr>
                            <a:t>3</a:t>
                          </a:r>
                          <a:endParaRPr lang="en-GB" dirty="0">
                            <a:solidFill>
                              <a:srgbClr val="C00000"/>
                            </a:solidFill>
                          </a:endParaRPr>
                        </a:p>
                      </a:txBody>
                      <a:tcPr/>
                    </a:tc>
                    <a:tc>
                      <a:txBody>
                        <a:bodyPr/>
                        <a:lstStyle/>
                        <a:p>
                          <a:pPr algn="ctr"/>
                          <a:r>
                            <a:rPr lang="en-US" dirty="0" smtClean="0"/>
                            <a:t>2</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5</a:t>
                          </a:r>
                          <a:endParaRPr lang="en-GB" dirty="0"/>
                        </a:p>
                      </a:txBody>
                      <a:tcPr/>
                    </a:tc>
                    <a:tc>
                      <a:txBody>
                        <a:bodyPr/>
                        <a:lstStyle/>
                        <a:p>
                          <a:pPr algn="ctr"/>
                          <a:r>
                            <a:rPr lang="en-US" dirty="0" smtClean="0">
                              <a:solidFill>
                                <a:srgbClr val="C00000"/>
                              </a:solidFill>
                            </a:rPr>
                            <a:t>5/3</a:t>
                          </a:r>
                          <a:endParaRPr lang="en-GB" dirty="0">
                            <a:solidFill>
                              <a:srgbClr val="C00000"/>
                            </a:solidFill>
                          </a:endParaRPr>
                        </a:p>
                      </a:txBody>
                      <a:tcPr/>
                    </a:tc>
                  </a:tr>
                  <a:tr h="370840">
                    <a:tc>
                      <a:txBody>
                        <a:bodyPr/>
                        <a:lstStyle/>
                        <a:p>
                          <a:endParaRPr lang="en-US"/>
                        </a:p>
                      </a:txBody>
                      <a:tcPr>
                        <a:blipFill rotWithShape="1">
                          <a:blip r:embed="rId4"/>
                          <a:stretch>
                            <a:fillRect t="-380328" r="-600000" b="-24590"/>
                          </a:stretch>
                        </a:blipFill>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2</a:t>
                          </a:r>
                          <a:endParaRPr lang="en-GB" dirty="0"/>
                        </a:p>
                      </a:txBody>
                      <a:tcPr/>
                    </a:tc>
                    <a:tc>
                      <a:txBody>
                        <a:bodyPr/>
                        <a:lstStyle/>
                        <a:p>
                          <a:pPr algn="ctr"/>
                          <a:r>
                            <a:rPr lang="en-US" dirty="0" err="1" smtClean="0"/>
                            <a:t>undef</a:t>
                          </a:r>
                          <a:endParaRPr lang="en-GB" dirty="0"/>
                        </a:p>
                      </a:txBody>
                      <a:tcPr/>
                    </a:tc>
                  </a:tr>
                </a:tbl>
              </a:graphicData>
            </a:graphic>
          </p:graphicFrame>
        </mc:Fallback>
      </mc:AlternateContent>
      <p:sp>
        <p:nvSpPr>
          <p:cNvPr id="7" name="Title 1"/>
          <p:cNvSpPr>
            <a:spLocks noGrp="1"/>
          </p:cNvSpPr>
          <p:nvPr>
            <p:ph type="title"/>
          </p:nvPr>
        </p:nvSpPr>
        <p:spPr>
          <a:xfrm>
            <a:off x="945706" y="322682"/>
            <a:ext cx="7429499" cy="1478570"/>
          </a:xfrm>
        </p:spPr>
        <p:txBody>
          <a:bodyPr>
            <a:normAutofit/>
          </a:bodyPr>
          <a:lstStyle/>
          <a:p>
            <a:r>
              <a:rPr lang="en-GB" sz="4000" dirty="0" err="1">
                <a:solidFill>
                  <a:srgbClr val="C00000"/>
                </a:solidFill>
                <a:latin typeface="Arial" panose="020B0604020202020204" pitchFamily="34" charset="0"/>
                <a:cs typeface="Arial" panose="020B0604020202020204" pitchFamily="34" charset="0"/>
              </a:rPr>
              <a:t>Gomory’s</a:t>
            </a:r>
            <a:r>
              <a:rPr lang="en-GB" sz="4000" dirty="0">
                <a:solidFill>
                  <a:srgbClr val="C00000"/>
                </a:solidFill>
                <a:latin typeface="Arial" panose="020B0604020202020204" pitchFamily="34" charset="0"/>
                <a:cs typeface="Arial" panose="020B0604020202020204" pitchFamily="34" charset="0"/>
              </a:rPr>
              <a:t> cutting plane method</a:t>
            </a:r>
            <a:endParaRPr lang="en-US" sz="400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15891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407069364"/>
                  </p:ext>
                </p:extLst>
              </p:nvPr>
            </p:nvGraphicFramePr>
            <p:xfrm>
              <a:off x="1524000" y="1295400"/>
              <a:ext cx="6095999" cy="175260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870857"/>
                    <a:gridCol w="870857"/>
                  </a:tblGrid>
                  <a:tr h="370840">
                    <a:tc>
                      <a:txBody>
                        <a:bodyPr/>
                        <a:lstStyle/>
                        <a:p>
                          <a:pPr algn="ctr"/>
                          <a:r>
                            <a:rPr lang="en-US" dirty="0" smtClean="0"/>
                            <a:t>B.V</a:t>
                          </a:r>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i="1" dirty="0" smtClean="0">
                                        <a:latin typeface="Cambria Math"/>
                                      </a:rPr>
                                      <m:t>𝑥</m:t>
                                    </m:r>
                                  </m:e>
                                  <m:sub>
                                    <m:r>
                                      <a:rPr lang="en-US" i="1" dirty="0" smtClean="0">
                                        <a:latin typeface="Cambria Math"/>
                                      </a:rPr>
                                      <m:t>1</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solidFill>
                                          <a:srgbClr val="FF0000"/>
                                        </a:solidFill>
                                        <a:latin typeface="Cambria Math"/>
                                      </a:rPr>
                                    </m:ctrlPr>
                                  </m:sSubPr>
                                  <m:e>
                                    <m:r>
                                      <a:rPr lang="en-US" b="0" i="1" dirty="0" smtClean="0">
                                        <a:solidFill>
                                          <a:srgbClr val="FF0000"/>
                                        </a:solidFill>
                                        <a:latin typeface="Cambria Math"/>
                                      </a:rPr>
                                      <m:t>𝑥</m:t>
                                    </m:r>
                                  </m:e>
                                  <m:sub>
                                    <m:r>
                                      <a:rPr lang="en-US" i="1" dirty="0" smtClean="0">
                                        <a:solidFill>
                                          <a:srgbClr val="FF0000"/>
                                        </a:solidFill>
                                        <a:latin typeface="Cambria Math"/>
                                      </a:rPr>
                                      <m:t>2</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i="1" dirty="0" smtClean="0">
                                        <a:latin typeface="Cambria Math"/>
                                      </a:rPr>
                                      <m:t>𝑆</m:t>
                                    </m:r>
                                  </m:e>
                                  <m:sub>
                                    <m:r>
                                      <a:rPr lang="en-US" i="1" dirty="0" smtClean="0">
                                        <a:latin typeface="Cambria Math"/>
                                      </a:rPr>
                                      <m:t>1</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i="1" dirty="0" smtClean="0">
                                        <a:latin typeface="Cambria Math"/>
                                      </a:rPr>
                                      <m:t>𝑆</m:t>
                                    </m:r>
                                  </m:e>
                                  <m:sub>
                                    <m:r>
                                      <a:rPr lang="en-US" i="1" dirty="0" smtClean="0">
                                        <a:latin typeface="Cambria Math"/>
                                      </a:rPr>
                                      <m:t>2</m:t>
                                    </m:r>
                                  </m:sub>
                                </m:sSub>
                              </m:oMath>
                            </m:oMathPara>
                          </a14:m>
                          <a:endParaRPr lang="en-GB" dirty="0"/>
                        </a:p>
                      </a:txBody>
                      <a:tcPr/>
                    </a:tc>
                    <a:tc>
                      <a:txBody>
                        <a:bodyPr/>
                        <a:lstStyle/>
                        <a:p>
                          <a:r>
                            <a:rPr lang="en-US" dirty="0" smtClean="0"/>
                            <a:t>sol</a:t>
                          </a:r>
                          <a:endParaRPr lang="en-GB" dirty="0"/>
                        </a:p>
                      </a:txBody>
                      <a:tcPr/>
                    </a:tc>
                    <a:tc>
                      <a:txBody>
                        <a:bodyPr/>
                        <a:lstStyle/>
                        <a:p>
                          <a:r>
                            <a:rPr lang="en-US" dirty="0" smtClean="0"/>
                            <a:t>Min Ratio</a:t>
                          </a:r>
                          <a:endParaRPr lang="en-GB" dirty="0"/>
                        </a:p>
                      </a:txBody>
                      <a:tcPr/>
                    </a:tc>
                  </a:tr>
                  <a:tr h="370840">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a:rPr>
                                  <m:t>𝑧</m:t>
                                </m:r>
                              </m:oMath>
                            </m:oMathPara>
                          </a14:m>
                          <a:endParaRPr lang="en-GB" dirty="0"/>
                        </a:p>
                      </a:txBody>
                      <a:tcPr/>
                    </a:tc>
                    <a:tc>
                      <a:txBody>
                        <a:bodyPr/>
                        <a:lstStyle/>
                        <a:p>
                          <a:pPr algn="ctr"/>
                          <a:r>
                            <a:rPr lang="en-US" dirty="0" smtClean="0"/>
                            <a:t>0</a:t>
                          </a:r>
                          <a:endParaRPr lang="en-GB" dirty="0"/>
                        </a:p>
                      </a:txBody>
                      <a:tcPr/>
                    </a:tc>
                    <a:tc>
                      <a:txBody>
                        <a:bodyPr/>
                        <a:lstStyle/>
                        <a:p>
                          <a:pPr algn="ctr"/>
                          <a:r>
                            <a:rPr lang="en-US" dirty="0" smtClean="0"/>
                            <a:t>-1/3</a:t>
                          </a:r>
                          <a:endParaRPr lang="en-GB" dirty="0"/>
                        </a:p>
                      </a:txBody>
                      <a:tcPr/>
                    </a:tc>
                    <a:tc>
                      <a:txBody>
                        <a:bodyPr/>
                        <a:lstStyle/>
                        <a:p>
                          <a:pPr algn="ctr"/>
                          <a:r>
                            <a:rPr lang="en-US" dirty="0" smtClean="0"/>
                            <a:t>1/3</a:t>
                          </a:r>
                          <a:endParaRPr lang="en-GB" dirty="0"/>
                        </a:p>
                      </a:txBody>
                      <a:tcPr/>
                    </a:tc>
                    <a:tc>
                      <a:txBody>
                        <a:bodyPr/>
                        <a:lstStyle/>
                        <a:p>
                          <a:pPr algn="ctr"/>
                          <a:r>
                            <a:rPr lang="en-US" dirty="0" smtClean="0"/>
                            <a:t>0</a:t>
                          </a:r>
                          <a:endParaRPr lang="en-GB" dirty="0"/>
                        </a:p>
                      </a:txBody>
                      <a:tcPr/>
                    </a:tc>
                    <a:tc>
                      <a:txBody>
                        <a:bodyPr/>
                        <a:lstStyle/>
                        <a:p>
                          <a:pPr algn="ctr"/>
                          <a:r>
                            <a:rPr lang="en-US" dirty="0" smtClean="0"/>
                            <a:t>5/3</a:t>
                          </a:r>
                          <a:endParaRPr lang="en-GB" dirty="0"/>
                        </a:p>
                      </a:txBody>
                      <a:tcPr/>
                    </a:tc>
                    <a:tc>
                      <a:txBody>
                        <a:bodyPr/>
                        <a:lstStyle/>
                        <a:p>
                          <a:pPr algn="ctr"/>
                          <a:r>
                            <a:rPr lang="en-US" dirty="0" smtClean="0"/>
                            <a:t>_____</a:t>
                          </a:r>
                          <a:endParaRPr lang="en-GB" dirty="0"/>
                        </a:p>
                      </a:txBody>
                      <a:tcPr/>
                    </a:tc>
                  </a:tr>
                  <a:tr h="370840">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b="0" i="1" dirty="0" smtClean="0">
                                        <a:latin typeface="Cambria Math"/>
                                      </a:rPr>
                                      <m:t>𝑥</m:t>
                                    </m:r>
                                  </m:e>
                                  <m:sub>
                                    <m:r>
                                      <a:rPr lang="en-US" i="1" dirty="0" smtClean="0">
                                        <a:latin typeface="Cambria Math"/>
                                      </a:rPr>
                                      <m:t>1</m:t>
                                    </m:r>
                                  </m:sub>
                                </m:sSub>
                              </m:oMath>
                            </m:oMathPara>
                          </a14:m>
                          <a:endParaRPr lang="en-GB" dirty="0"/>
                        </a:p>
                      </a:txBody>
                      <a:tcPr/>
                    </a:tc>
                    <a:tc>
                      <a:txBody>
                        <a:bodyPr/>
                        <a:lstStyle/>
                        <a:p>
                          <a:pPr algn="ctr"/>
                          <a:r>
                            <a:rPr lang="en-US" dirty="0" smtClean="0"/>
                            <a:t>1</a:t>
                          </a:r>
                          <a:endParaRPr lang="en-GB" dirty="0"/>
                        </a:p>
                      </a:txBody>
                      <a:tcPr/>
                    </a:tc>
                    <a:tc>
                      <a:txBody>
                        <a:bodyPr/>
                        <a:lstStyle/>
                        <a:p>
                          <a:pPr algn="ctr"/>
                          <a:r>
                            <a:rPr lang="en-US" dirty="0" smtClean="0"/>
                            <a:t>2/3</a:t>
                          </a:r>
                          <a:endParaRPr lang="en-GB" dirty="0"/>
                        </a:p>
                      </a:txBody>
                      <a:tcPr/>
                    </a:tc>
                    <a:tc>
                      <a:txBody>
                        <a:bodyPr/>
                        <a:lstStyle/>
                        <a:p>
                          <a:pPr algn="ctr"/>
                          <a:r>
                            <a:rPr lang="en-US" dirty="0" smtClean="0"/>
                            <a:t>1/3</a:t>
                          </a:r>
                          <a:endParaRPr lang="en-GB" dirty="0"/>
                        </a:p>
                      </a:txBody>
                      <a:tcPr/>
                    </a:tc>
                    <a:tc>
                      <a:txBody>
                        <a:bodyPr/>
                        <a:lstStyle/>
                        <a:p>
                          <a:pPr algn="ctr"/>
                          <a:r>
                            <a:rPr lang="en-US" dirty="0" smtClean="0"/>
                            <a:t>0</a:t>
                          </a:r>
                          <a:endParaRPr lang="en-GB" dirty="0"/>
                        </a:p>
                      </a:txBody>
                      <a:tcPr/>
                    </a:tc>
                    <a:tc>
                      <a:txBody>
                        <a:bodyPr/>
                        <a:lstStyle/>
                        <a:p>
                          <a:pPr algn="ctr"/>
                          <a:r>
                            <a:rPr lang="en-US" dirty="0" smtClean="0"/>
                            <a:t>5/3</a:t>
                          </a:r>
                          <a:endParaRPr lang="en-GB" dirty="0"/>
                        </a:p>
                      </a:txBody>
                      <a:tcPr/>
                    </a:tc>
                    <a:tc>
                      <a:txBody>
                        <a:bodyPr/>
                        <a:lstStyle/>
                        <a:p>
                          <a:pPr algn="ctr"/>
                          <a:r>
                            <a:rPr lang="en-US" dirty="0" smtClean="0"/>
                            <a:t>5/2</a:t>
                          </a:r>
                          <a:endParaRPr lang="en-GB" dirty="0"/>
                        </a:p>
                      </a:txBody>
                      <a:tcPr/>
                    </a:tc>
                  </a:tr>
                  <a:tr h="370840">
                    <a:tc>
                      <a:txBody>
                        <a:bodyPr/>
                        <a:lstStyle/>
                        <a:p>
                          <a:pPr/>
                          <a14:m>
                            <m:oMathPara xmlns:m="http://schemas.openxmlformats.org/officeDocument/2006/math">
                              <m:oMathParaPr>
                                <m:jc m:val="centerGroup"/>
                              </m:oMathParaPr>
                              <m:oMath xmlns:m="http://schemas.openxmlformats.org/officeDocument/2006/math">
                                <m:sSub>
                                  <m:sSubPr>
                                    <m:ctrlPr>
                                      <a:rPr lang="en-US" i="1" dirty="0" smtClean="0">
                                        <a:solidFill>
                                          <a:srgbClr val="FF0000"/>
                                        </a:solidFill>
                                        <a:latin typeface="Cambria Math"/>
                                      </a:rPr>
                                    </m:ctrlPr>
                                  </m:sSubPr>
                                  <m:e>
                                    <m:r>
                                      <a:rPr lang="en-US" i="1" dirty="0" smtClean="0">
                                        <a:solidFill>
                                          <a:srgbClr val="FF0000"/>
                                        </a:solidFill>
                                        <a:latin typeface="Cambria Math"/>
                                      </a:rPr>
                                      <m:t>𝑆</m:t>
                                    </m:r>
                                  </m:e>
                                  <m:sub>
                                    <m:r>
                                      <a:rPr lang="en-US" i="1" dirty="0" smtClean="0">
                                        <a:solidFill>
                                          <a:srgbClr val="FF0000"/>
                                        </a:solidFill>
                                        <a:latin typeface="Cambria Math"/>
                                      </a:rPr>
                                      <m:t>2</m:t>
                                    </m:r>
                                  </m:sub>
                                </m:sSub>
                              </m:oMath>
                            </m:oMathPara>
                          </a14:m>
                          <a:endParaRPr lang="en-GB" dirty="0"/>
                        </a:p>
                      </a:txBody>
                      <a:tcPr/>
                    </a:tc>
                    <a:tc>
                      <a:txBody>
                        <a:bodyPr/>
                        <a:lstStyle/>
                        <a:p>
                          <a:pPr algn="ctr"/>
                          <a:r>
                            <a:rPr lang="en-US" dirty="0" smtClean="0"/>
                            <a:t>0</a:t>
                          </a:r>
                          <a:endParaRPr lang="en-GB" dirty="0"/>
                        </a:p>
                      </a:txBody>
                      <a:tcPr/>
                    </a:tc>
                    <a:tc>
                      <a:txBody>
                        <a:bodyPr/>
                        <a:lstStyle/>
                        <a:p>
                          <a:pPr algn="ctr"/>
                          <a:r>
                            <a:rPr lang="en-US" dirty="0" smtClean="0">
                              <a:solidFill>
                                <a:srgbClr val="FF0000"/>
                              </a:solidFill>
                            </a:rPr>
                            <a:t>1</a:t>
                          </a:r>
                          <a:endParaRPr lang="en-GB" dirty="0">
                            <a:solidFill>
                              <a:srgbClr val="FF0000"/>
                            </a:solidFill>
                          </a:endParaRPr>
                        </a:p>
                      </a:txBody>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2</a:t>
                          </a:r>
                          <a:endParaRPr lang="en-GB" dirty="0"/>
                        </a:p>
                      </a:txBody>
                      <a:tcPr/>
                    </a:tc>
                    <a:tc>
                      <a:txBody>
                        <a:bodyPr/>
                        <a:lstStyle/>
                        <a:p>
                          <a:pPr algn="ctr"/>
                          <a:r>
                            <a:rPr lang="en-US" dirty="0" smtClean="0">
                              <a:solidFill>
                                <a:srgbClr val="FF0000"/>
                              </a:solidFill>
                            </a:rPr>
                            <a:t>2</a:t>
                          </a:r>
                          <a:endParaRPr lang="en-GB" dirty="0">
                            <a:solidFill>
                              <a:srgbClr val="FF0000"/>
                            </a:solidFill>
                          </a:endParaRPr>
                        </a:p>
                      </a:txBody>
                      <a:tcPr/>
                    </a:tc>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407069364"/>
                  </p:ext>
                </p:extLst>
              </p:nvPr>
            </p:nvGraphicFramePr>
            <p:xfrm>
              <a:off x="1524000" y="1295400"/>
              <a:ext cx="6095999" cy="175260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870857"/>
                    <a:gridCol w="870857"/>
                  </a:tblGrid>
                  <a:tr h="640080">
                    <a:tc>
                      <a:txBody>
                        <a:bodyPr/>
                        <a:lstStyle/>
                        <a:p>
                          <a:pPr algn="ctr"/>
                          <a:r>
                            <a:rPr lang="en-US" dirty="0" smtClean="0"/>
                            <a:t>B.V</a:t>
                          </a:r>
                          <a:endParaRPr lang="en-GB" dirty="0"/>
                        </a:p>
                      </a:txBody>
                      <a:tcPr/>
                    </a:tc>
                    <a:tc>
                      <a:txBody>
                        <a:bodyPr/>
                        <a:lstStyle/>
                        <a:p>
                          <a:endParaRPr lang="en-US"/>
                        </a:p>
                      </a:txBody>
                      <a:tcPr>
                        <a:blipFill rotWithShape="1">
                          <a:blip r:embed="rId2"/>
                          <a:stretch>
                            <a:fillRect l="-100000" t="-4762" r="-499301" b="-187619"/>
                          </a:stretch>
                        </a:blipFill>
                      </a:tcPr>
                    </a:tc>
                    <a:tc>
                      <a:txBody>
                        <a:bodyPr/>
                        <a:lstStyle/>
                        <a:p>
                          <a:endParaRPr lang="en-US"/>
                        </a:p>
                      </a:txBody>
                      <a:tcPr>
                        <a:blipFill rotWithShape="1">
                          <a:blip r:embed="rId2"/>
                          <a:stretch>
                            <a:fillRect l="-200000" t="-4762" r="-399301" b="-187619"/>
                          </a:stretch>
                        </a:blipFill>
                      </a:tcPr>
                    </a:tc>
                    <a:tc>
                      <a:txBody>
                        <a:bodyPr/>
                        <a:lstStyle/>
                        <a:p>
                          <a:endParaRPr lang="en-US"/>
                        </a:p>
                      </a:txBody>
                      <a:tcPr>
                        <a:blipFill rotWithShape="1">
                          <a:blip r:embed="rId2"/>
                          <a:stretch>
                            <a:fillRect l="-302113" t="-4762" r="-302113" b="-187619"/>
                          </a:stretch>
                        </a:blipFill>
                      </a:tcPr>
                    </a:tc>
                    <a:tc>
                      <a:txBody>
                        <a:bodyPr/>
                        <a:lstStyle/>
                        <a:p>
                          <a:endParaRPr lang="en-US"/>
                        </a:p>
                      </a:txBody>
                      <a:tcPr>
                        <a:blipFill rotWithShape="1">
                          <a:blip r:embed="rId2"/>
                          <a:stretch>
                            <a:fillRect l="-399301" t="-4762" r="-200000" b="-187619"/>
                          </a:stretch>
                        </a:blipFill>
                      </a:tcPr>
                    </a:tc>
                    <a:tc>
                      <a:txBody>
                        <a:bodyPr/>
                        <a:lstStyle/>
                        <a:p>
                          <a:r>
                            <a:rPr lang="en-US" dirty="0" smtClean="0"/>
                            <a:t>sol</a:t>
                          </a:r>
                          <a:endParaRPr lang="en-GB" dirty="0"/>
                        </a:p>
                      </a:txBody>
                      <a:tcPr/>
                    </a:tc>
                    <a:tc>
                      <a:txBody>
                        <a:bodyPr/>
                        <a:lstStyle/>
                        <a:p>
                          <a:r>
                            <a:rPr lang="en-US" dirty="0" smtClean="0"/>
                            <a:t>Min Ratio</a:t>
                          </a:r>
                          <a:endParaRPr lang="en-GB" dirty="0"/>
                        </a:p>
                      </a:txBody>
                      <a:tcPr/>
                    </a:tc>
                  </a:tr>
                  <a:tr h="370840">
                    <a:tc>
                      <a:txBody>
                        <a:bodyPr/>
                        <a:lstStyle/>
                        <a:p>
                          <a:endParaRPr lang="en-US"/>
                        </a:p>
                      </a:txBody>
                      <a:tcPr>
                        <a:blipFill rotWithShape="1">
                          <a:blip r:embed="rId2"/>
                          <a:stretch>
                            <a:fillRect t="-180328" r="-599301" b="-222951"/>
                          </a:stretch>
                        </a:blipFill>
                      </a:tcPr>
                    </a:tc>
                    <a:tc>
                      <a:txBody>
                        <a:bodyPr/>
                        <a:lstStyle/>
                        <a:p>
                          <a:pPr algn="ctr"/>
                          <a:r>
                            <a:rPr lang="en-US" dirty="0" smtClean="0"/>
                            <a:t>0</a:t>
                          </a:r>
                          <a:endParaRPr lang="en-GB" dirty="0"/>
                        </a:p>
                      </a:txBody>
                      <a:tcPr/>
                    </a:tc>
                    <a:tc>
                      <a:txBody>
                        <a:bodyPr/>
                        <a:lstStyle/>
                        <a:p>
                          <a:pPr algn="ctr"/>
                          <a:r>
                            <a:rPr lang="en-US" dirty="0" smtClean="0"/>
                            <a:t>-1/3</a:t>
                          </a:r>
                          <a:endParaRPr lang="en-GB" dirty="0"/>
                        </a:p>
                      </a:txBody>
                      <a:tcPr/>
                    </a:tc>
                    <a:tc>
                      <a:txBody>
                        <a:bodyPr/>
                        <a:lstStyle/>
                        <a:p>
                          <a:pPr algn="ctr"/>
                          <a:r>
                            <a:rPr lang="en-US" dirty="0" smtClean="0"/>
                            <a:t>1/3</a:t>
                          </a:r>
                          <a:endParaRPr lang="en-GB" dirty="0"/>
                        </a:p>
                      </a:txBody>
                      <a:tcPr/>
                    </a:tc>
                    <a:tc>
                      <a:txBody>
                        <a:bodyPr/>
                        <a:lstStyle/>
                        <a:p>
                          <a:pPr algn="ctr"/>
                          <a:r>
                            <a:rPr lang="en-US" dirty="0" smtClean="0"/>
                            <a:t>0</a:t>
                          </a:r>
                          <a:endParaRPr lang="en-GB" dirty="0"/>
                        </a:p>
                      </a:txBody>
                      <a:tcPr/>
                    </a:tc>
                    <a:tc>
                      <a:txBody>
                        <a:bodyPr/>
                        <a:lstStyle/>
                        <a:p>
                          <a:pPr algn="ctr"/>
                          <a:r>
                            <a:rPr lang="en-US" dirty="0" smtClean="0"/>
                            <a:t>5/3</a:t>
                          </a:r>
                          <a:endParaRPr lang="en-GB" dirty="0"/>
                        </a:p>
                      </a:txBody>
                      <a:tcPr/>
                    </a:tc>
                    <a:tc>
                      <a:txBody>
                        <a:bodyPr/>
                        <a:lstStyle/>
                        <a:p>
                          <a:pPr algn="ctr"/>
                          <a:r>
                            <a:rPr lang="en-US" dirty="0" smtClean="0"/>
                            <a:t>_____</a:t>
                          </a:r>
                          <a:endParaRPr lang="en-GB" dirty="0"/>
                        </a:p>
                      </a:txBody>
                      <a:tcPr/>
                    </a:tc>
                  </a:tr>
                  <a:tr h="370840">
                    <a:tc>
                      <a:txBody>
                        <a:bodyPr/>
                        <a:lstStyle/>
                        <a:p>
                          <a:endParaRPr lang="en-US"/>
                        </a:p>
                      </a:txBody>
                      <a:tcPr>
                        <a:blipFill rotWithShape="1">
                          <a:blip r:embed="rId2"/>
                          <a:stretch>
                            <a:fillRect t="-285000" r="-599301" b="-126667"/>
                          </a:stretch>
                        </a:blipFill>
                      </a:tcPr>
                    </a:tc>
                    <a:tc>
                      <a:txBody>
                        <a:bodyPr/>
                        <a:lstStyle/>
                        <a:p>
                          <a:pPr algn="ctr"/>
                          <a:r>
                            <a:rPr lang="en-US" dirty="0" smtClean="0"/>
                            <a:t>1</a:t>
                          </a:r>
                          <a:endParaRPr lang="en-GB" dirty="0"/>
                        </a:p>
                      </a:txBody>
                      <a:tcPr/>
                    </a:tc>
                    <a:tc>
                      <a:txBody>
                        <a:bodyPr/>
                        <a:lstStyle/>
                        <a:p>
                          <a:pPr algn="ctr"/>
                          <a:r>
                            <a:rPr lang="en-US" dirty="0" smtClean="0"/>
                            <a:t>2/3</a:t>
                          </a:r>
                          <a:endParaRPr lang="en-GB" dirty="0"/>
                        </a:p>
                      </a:txBody>
                      <a:tcPr/>
                    </a:tc>
                    <a:tc>
                      <a:txBody>
                        <a:bodyPr/>
                        <a:lstStyle/>
                        <a:p>
                          <a:pPr algn="ctr"/>
                          <a:r>
                            <a:rPr lang="en-US" dirty="0" smtClean="0"/>
                            <a:t>1/3</a:t>
                          </a:r>
                          <a:endParaRPr lang="en-GB" dirty="0"/>
                        </a:p>
                      </a:txBody>
                      <a:tcPr/>
                    </a:tc>
                    <a:tc>
                      <a:txBody>
                        <a:bodyPr/>
                        <a:lstStyle/>
                        <a:p>
                          <a:pPr algn="ctr"/>
                          <a:r>
                            <a:rPr lang="en-US" dirty="0" smtClean="0"/>
                            <a:t>0</a:t>
                          </a:r>
                          <a:endParaRPr lang="en-GB" dirty="0"/>
                        </a:p>
                      </a:txBody>
                      <a:tcPr/>
                    </a:tc>
                    <a:tc>
                      <a:txBody>
                        <a:bodyPr/>
                        <a:lstStyle/>
                        <a:p>
                          <a:pPr algn="ctr"/>
                          <a:r>
                            <a:rPr lang="en-US" dirty="0" smtClean="0"/>
                            <a:t>5/3</a:t>
                          </a:r>
                          <a:endParaRPr lang="en-GB" dirty="0"/>
                        </a:p>
                      </a:txBody>
                      <a:tcPr/>
                    </a:tc>
                    <a:tc>
                      <a:txBody>
                        <a:bodyPr/>
                        <a:lstStyle/>
                        <a:p>
                          <a:pPr algn="ctr"/>
                          <a:r>
                            <a:rPr lang="en-US" dirty="0" smtClean="0"/>
                            <a:t>5/2</a:t>
                          </a:r>
                          <a:endParaRPr lang="en-GB" dirty="0"/>
                        </a:p>
                      </a:txBody>
                      <a:tcPr/>
                    </a:tc>
                  </a:tr>
                  <a:tr h="370840">
                    <a:tc>
                      <a:txBody>
                        <a:bodyPr/>
                        <a:lstStyle/>
                        <a:p>
                          <a:endParaRPr lang="en-US"/>
                        </a:p>
                      </a:txBody>
                      <a:tcPr>
                        <a:blipFill rotWithShape="1">
                          <a:blip r:embed="rId2"/>
                          <a:stretch>
                            <a:fillRect t="-378689" r="-599301" b="-24590"/>
                          </a:stretch>
                        </a:blipFill>
                      </a:tcPr>
                    </a:tc>
                    <a:tc>
                      <a:txBody>
                        <a:bodyPr/>
                        <a:lstStyle/>
                        <a:p>
                          <a:pPr algn="ctr"/>
                          <a:r>
                            <a:rPr lang="en-US" dirty="0" smtClean="0"/>
                            <a:t>0</a:t>
                          </a:r>
                          <a:endParaRPr lang="en-GB" dirty="0"/>
                        </a:p>
                      </a:txBody>
                      <a:tcPr/>
                    </a:tc>
                    <a:tc>
                      <a:txBody>
                        <a:bodyPr/>
                        <a:lstStyle/>
                        <a:p>
                          <a:pPr algn="ctr"/>
                          <a:r>
                            <a:rPr lang="en-US" dirty="0" smtClean="0">
                              <a:solidFill>
                                <a:srgbClr val="FF0000"/>
                              </a:solidFill>
                            </a:rPr>
                            <a:t>1</a:t>
                          </a:r>
                          <a:endParaRPr lang="en-GB" dirty="0">
                            <a:solidFill>
                              <a:srgbClr val="FF0000"/>
                            </a:solidFill>
                          </a:endParaRPr>
                        </a:p>
                      </a:txBody>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2</a:t>
                          </a:r>
                          <a:endParaRPr lang="en-GB" dirty="0"/>
                        </a:p>
                      </a:txBody>
                      <a:tcPr/>
                    </a:tc>
                    <a:tc>
                      <a:txBody>
                        <a:bodyPr/>
                        <a:lstStyle/>
                        <a:p>
                          <a:pPr algn="ctr"/>
                          <a:r>
                            <a:rPr lang="en-US" dirty="0" smtClean="0">
                              <a:solidFill>
                                <a:srgbClr val="FF0000"/>
                              </a:solidFill>
                            </a:rPr>
                            <a:t>2</a:t>
                          </a:r>
                          <a:endParaRPr lang="en-GB" dirty="0">
                            <a:solidFill>
                              <a:srgbClr val="FF0000"/>
                            </a:solidFill>
                          </a:endParaRPr>
                        </a:p>
                      </a:txBody>
                      <a:tcPr/>
                    </a:tc>
                  </a:tr>
                </a:tbl>
              </a:graphicData>
            </a:graphic>
          </p:graphicFrame>
        </mc:Fallback>
      </mc:AlternateContent>
      <mc:AlternateContent xmlns:mc="http://schemas.openxmlformats.org/markup-compatibility/2006" xmlns:a14="http://schemas.microsoft.com/office/drawing/2010/main">
        <mc:Choice Requires="a14">
          <p:sp>
            <p:nvSpPr>
              <p:cNvPr id="5" name="TextBox 4"/>
              <p:cNvSpPr txBox="1"/>
              <p:nvPr/>
            </p:nvSpPr>
            <p:spPr>
              <a:xfrm>
                <a:off x="1494182" y="762000"/>
                <a:ext cx="2696817" cy="484876"/>
              </a:xfrm>
              <a:prstGeom prst="rect">
                <a:avLst/>
              </a:prstGeom>
              <a:noFill/>
            </p:spPr>
            <p:txBody>
              <a:bodyPr wrap="square" rtlCol="0">
                <a:spAutoFit/>
              </a:bodyPr>
              <a:lstStyle/>
              <a:p>
                <a:r>
                  <a:rPr lang="en-US" dirty="0" smtClean="0"/>
                  <a:t>By </a:t>
                </a:r>
                <a14:m>
                  <m:oMath xmlns:m="http://schemas.openxmlformats.org/officeDocument/2006/math">
                    <m:f>
                      <m:fPr>
                        <m:ctrlPr>
                          <a:rPr lang="en-US" i="1" smtClean="0">
                            <a:latin typeface="Cambria Math"/>
                          </a:rPr>
                        </m:ctrlPr>
                      </m:fPr>
                      <m:num>
                        <m:r>
                          <a:rPr lang="en-US" b="0" i="1" smtClean="0">
                            <a:latin typeface="Cambria Math"/>
                          </a:rPr>
                          <m:t>1</m:t>
                        </m:r>
                      </m:num>
                      <m:den>
                        <m:r>
                          <a:rPr lang="en-US" b="0" i="1" smtClean="0">
                            <a:latin typeface="Cambria Math"/>
                          </a:rPr>
                          <m:t>3</m:t>
                        </m:r>
                      </m:den>
                    </m:f>
                    <m:sSub>
                      <m:sSubPr>
                        <m:ctrlPr>
                          <a:rPr lang="en-US" b="0" i="1" smtClean="0">
                            <a:latin typeface="Cambria Math"/>
                          </a:rPr>
                        </m:ctrlPr>
                      </m:sSubPr>
                      <m:e>
                        <m:r>
                          <a:rPr lang="en-US" b="0" i="1" smtClean="0">
                            <a:latin typeface="Cambria Math"/>
                          </a:rPr>
                          <m:t>𝑥</m:t>
                        </m:r>
                      </m:e>
                      <m:sub>
                        <m:r>
                          <a:rPr lang="en-US" b="0" i="1" smtClean="0">
                            <a:latin typeface="Cambria Math"/>
                          </a:rPr>
                          <m:t>1</m:t>
                        </m:r>
                      </m:sub>
                    </m:sSub>
                    <m:r>
                      <a:rPr lang="en-US" b="0" i="1" smtClean="0">
                        <a:latin typeface="Cambria Math"/>
                      </a:rPr>
                      <m:t>, </m:t>
                    </m:r>
                    <m:r>
                      <a:rPr lang="en-US" b="0" i="1" smtClean="0">
                        <a:latin typeface="Cambria Math"/>
                      </a:rPr>
                      <m:t>𝑎𝑛𝑑</m:t>
                    </m:r>
                    <m:r>
                      <a:rPr lang="en-US" b="0" i="1" smtClean="0">
                        <a:latin typeface="Cambria Math"/>
                      </a:rPr>
                      <m:t> </m:t>
                    </m:r>
                    <m:r>
                      <a:rPr lang="en-US" b="0" i="1" smtClean="0">
                        <a:latin typeface="Cambria Math"/>
                      </a:rPr>
                      <m:t>𝑧</m:t>
                    </m:r>
                    <m:r>
                      <a:rPr lang="en-US" b="0" i="1" smtClean="0">
                        <a:latin typeface="Cambria Math"/>
                      </a:rPr>
                      <m:t>+</m:t>
                    </m:r>
                    <m:sSub>
                      <m:sSubPr>
                        <m:ctrlPr>
                          <a:rPr lang="en-US" b="0" i="1" smtClean="0">
                            <a:latin typeface="Cambria Math"/>
                          </a:rPr>
                        </m:ctrlPr>
                      </m:sSubPr>
                      <m:e>
                        <m:r>
                          <a:rPr lang="en-US" b="0" i="1" smtClean="0">
                            <a:latin typeface="Cambria Math"/>
                          </a:rPr>
                          <m:t>𝑥</m:t>
                        </m:r>
                      </m:e>
                      <m:sub>
                        <m:r>
                          <a:rPr lang="en-US" b="0" i="1" smtClean="0">
                            <a:latin typeface="Cambria Math"/>
                          </a:rPr>
                          <m:t>1</m:t>
                        </m:r>
                      </m:sub>
                    </m:sSub>
                  </m:oMath>
                </a14:m>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1494182" y="762000"/>
                <a:ext cx="2696817" cy="484876"/>
              </a:xfrm>
              <a:prstGeom prst="rect">
                <a:avLst/>
              </a:prstGeom>
              <a:blipFill rotWithShape="1">
                <a:blip r:embed="rId3"/>
                <a:stretch>
                  <a:fillRect l="-1810" b="-7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1227816939"/>
                  </p:ext>
                </p:extLst>
              </p:nvPr>
            </p:nvGraphicFramePr>
            <p:xfrm>
              <a:off x="1600200" y="4114800"/>
              <a:ext cx="5225142" cy="148336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870857"/>
                  </a:tblGrid>
                  <a:tr h="370840">
                    <a:tc>
                      <a:txBody>
                        <a:bodyPr/>
                        <a:lstStyle/>
                        <a:p>
                          <a:pPr algn="ctr"/>
                          <a:r>
                            <a:rPr lang="en-US" dirty="0" smtClean="0"/>
                            <a:t>B.V</a:t>
                          </a:r>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i="1" dirty="0" smtClean="0">
                                        <a:latin typeface="Cambria Math"/>
                                      </a:rPr>
                                      <m:t>𝑥</m:t>
                                    </m:r>
                                  </m:e>
                                  <m:sub>
                                    <m:r>
                                      <a:rPr lang="en-US" i="1" dirty="0" smtClean="0">
                                        <a:latin typeface="Cambria Math"/>
                                      </a:rPr>
                                      <m:t>1</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b="0" i="1" dirty="0" smtClean="0">
                                        <a:latin typeface="Cambria Math"/>
                                      </a:rPr>
                                      <m:t>𝑥</m:t>
                                    </m:r>
                                  </m:e>
                                  <m:sub>
                                    <m:r>
                                      <a:rPr lang="en-US" i="1" dirty="0" smtClean="0">
                                        <a:latin typeface="Cambria Math"/>
                                      </a:rPr>
                                      <m:t>2</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i="1" dirty="0" smtClean="0">
                                        <a:latin typeface="Cambria Math"/>
                                      </a:rPr>
                                      <m:t>𝑆</m:t>
                                    </m:r>
                                  </m:e>
                                  <m:sub>
                                    <m:r>
                                      <a:rPr lang="en-US" i="1" dirty="0" smtClean="0">
                                        <a:latin typeface="Cambria Math"/>
                                      </a:rPr>
                                      <m:t>1</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i="1" dirty="0" smtClean="0">
                                        <a:latin typeface="Cambria Math"/>
                                      </a:rPr>
                                      <m:t>𝑆</m:t>
                                    </m:r>
                                  </m:e>
                                  <m:sub>
                                    <m:r>
                                      <a:rPr lang="en-US" i="1" dirty="0" smtClean="0">
                                        <a:latin typeface="Cambria Math"/>
                                      </a:rPr>
                                      <m:t>2</m:t>
                                    </m:r>
                                  </m:sub>
                                </m:sSub>
                              </m:oMath>
                            </m:oMathPara>
                          </a14:m>
                          <a:endParaRPr lang="en-GB" dirty="0"/>
                        </a:p>
                      </a:txBody>
                      <a:tcPr/>
                    </a:tc>
                    <a:tc>
                      <a:txBody>
                        <a:bodyPr/>
                        <a:lstStyle/>
                        <a:p>
                          <a:r>
                            <a:rPr lang="en-US" dirty="0" smtClean="0"/>
                            <a:t>sol</a:t>
                          </a:r>
                          <a:endParaRPr lang="en-GB" dirty="0"/>
                        </a:p>
                      </a:txBody>
                      <a:tcPr/>
                    </a:tc>
                  </a:tr>
                  <a:tr h="370840">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a:rPr>
                                  <m:t>𝑧</m:t>
                                </m:r>
                              </m:oMath>
                            </m:oMathPara>
                          </a14:m>
                          <a:endParaRPr lang="en-GB" dirty="0"/>
                        </a:p>
                      </a:txBody>
                      <a:tcPr/>
                    </a:tc>
                    <a:tc>
                      <a:txBody>
                        <a:bodyPr/>
                        <a:lstStyle/>
                        <a:p>
                          <a:pPr algn="ctr"/>
                          <a:r>
                            <a:rPr lang="en-US" dirty="0" smtClean="0"/>
                            <a:t>0</a:t>
                          </a:r>
                          <a:endParaRPr lang="en-GB" dirty="0"/>
                        </a:p>
                      </a:txBody>
                      <a:tcPr/>
                    </a:tc>
                    <a:tc>
                      <a:txBody>
                        <a:bodyPr/>
                        <a:lstStyle/>
                        <a:p>
                          <a:pPr algn="ctr"/>
                          <a:r>
                            <a:rPr lang="en-US" dirty="0" smtClean="0"/>
                            <a:t>0</a:t>
                          </a:r>
                          <a:endParaRPr lang="en-GB" dirty="0"/>
                        </a:p>
                      </a:txBody>
                      <a:tcPr/>
                    </a:tc>
                    <a:tc>
                      <a:txBody>
                        <a:bodyPr/>
                        <a:lstStyle/>
                        <a:p>
                          <a:pPr algn="ctr"/>
                          <a:r>
                            <a:rPr lang="en-US" dirty="0" smtClean="0"/>
                            <a:t>1/3</a:t>
                          </a:r>
                          <a:endParaRPr lang="en-GB" dirty="0"/>
                        </a:p>
                      </a:txBody>
                      <a:tcPr/>
                    </a:tc>
                    <a:tc>
                      <a:txBody>
                        <a:bodyPr/>
                        <a:lstStyle/>
                        <a:p>
                          <a:pPr algn="ctr"/>
                          <a:r>
                            <a:rPr lang="en-US" dirty="0" smtClean="0"/>
                            <a:t>1/3</a:t>
                          </a:r>
                          <a:endParaRPr lang="en-GB" dirty="0"/>
                        </a:p>
                      </a:txBody>
                      <a:tcPr/>
                    </a:tc>
                    <a:tc>
                      <a:txBody>
                        <a:bodyPr/>
                        <a:lstStyle/>
                        <a:p>
                          <a:pPr algn="ctr"/>
                          <a:r>
                            <a:rPr lang="en-US" dirty="0" smtClean="0"/>
                            <a:t>7/3</a:t>
                          </a:r>
                          <a:endParaRPr lang="en-GB" dirty="0"/>
                        </a:p>
                      </a:txBody>
                      <a:tcPr/>
                    </a:tc>
                  </a:tr>
                  <a:tr h="370840">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b="0" i="1" dirty="0" smtClean="0">
                                        <a:latin typeface="Cambria Math"/>
                                      </a:rPr>
                                      <m:t>𝑥</m:t>
                                    </m:r>
                                  </m:e>
                                  <m:sub>
                                    <m:r>
                                      <a:rPr lang="en-US" i="1" dirty="0" smtClean="0">
                                        <a:latin typeface="Cambria Math"/>
                                      </a:rPr>
                                      <m:t>1</m:t>
                                    </m:r>
                                  </m:sub>
                                </m:sSub>
                              </m:oMath>
                            </m:oMathPara>
                          </a14:m>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1/3</a:t>
                          </a:r>
                          <a:endParaRPr lang="en-GB" dirty="0"/>
                        </a:p>
                      </a:txBody>
                      <a:tcPr/>
                    </a:tc>
                    <a:tc>
                      <a:txBody>
                        <a:bodyPr/>
                        <a:lstStyle/>
                        <a:p>
                          <a:pPr algn="ctr"/>
                          <a:r>
                            <a:rPr lang="en-US" dirty="0" smtClean="0"/>
                            <a:t>-2/3</a:t>
                          </a:r>
                          <a:endParaRPr lang="en-GB" dirty="0"/>
                        </a:p>
                      </a:txBody>
                      <a:tcPr/>
                    </a:tc>
                    <a:tc>
                      <a:txBody>
                        <a:bodyPr/>
                        <a:lstStyle/>
                        <a:p>
                          <a:pPr algn="ctr"/>
                          <a:r>
                            <a:rPr lang="en-US" dirty="0" smtClean="0"/>
                            <a:t>1/3</a:t>
                          </a:r>
                          <a:endParaRPr lang="en-GB" dirty="0"/>
                        </a:p>
                      </a:txBody>
                      <a:tcPr/>
                    </a:tc>
                  </a:tr>
                  <a:tr h="370840">
                    <a:tc>
                      <a:txBody>
                        <a:bodyPr/>
                        <a:lstStyle/>
                        <a:p>
                          <a:pPr/>
                          <a14:m>
                            <m:oMathPara xmlns:m="http://schemas.openxmlformats.org/officeDocument/2006/math">
                              <m:oMathParaPr>
                                <m:jc m:val="centerGroup"/>
                              </m:oMathParaPr>
                              <m:oMath xmlns:m="http://schemas.openxmlformats.org/officeDocument/2006/math">
                                <m:sSub>
                                  <m:sSubPr>
                                    <m:ctrlPr>
                                      <a:rPr lang="en-US" i="1" dirty="0" smtClean="0">
                                        <a:solidFill>
                                          <a:srgbClr val="FF0000"/>
                                        </a:solidFill>
                                        <a:latin typeface="Cambria Math"/>
                                      </a:rPr>
                                    </m:ctrlPr>
                                  </m:sSubPr>
                                  <m:e>
                                    <m:r>
                                      <a:rPr lang="en-US" b="0" i="1" dirty="0" smtClean="0">
                                        <a:solidFill>
                                          <a:srgbClr val="FF0000"/>
                                        </a:solidFill>
                                        <a:latin typeface="Cambria Math"/>
                                      </a:rPr>
                                      <m:t>𝑥</m:t>
                                    </m:r>
                                  </m:e>
                                  <m:sub>
                                    <m:r>
                                      <a:rPr lang="en-US" i="1" dirty="0" smtClean="0">
                                        <a:solidFill>
                                          <a:srgbClr val="FF0000"/>
                                        </a:solidFill>
                                        <a:latin typeface="Cambria Math"/>
                                      </a:rPr>
                                      <m:t>2</m:t>
                                    </m:r>
                                  </m:sub>
                                </m:sSub>
                              </m:oMath>
                            </m:oMathPara>
                          </a14:m>
                          <a:endParaRPr lang="en-GB" dirty="0"/>
                        </a:p>
                      </a:txBody>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2</a:t>
                          </a:r>
                          <a:endParaRPr lang="en-GB" dirty="0"/>
                        </a:p>
                      </a:txBody>
                      <a:tcPr/>
                    </a:tc>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1227816939"/>
                  </p:ext>
                </p:extLst>
              </p:nvPr>
            </p:nvGraphicFramePr>
            <p:xfrm>
              <a:off x="1600200" y="4114800"/>
              <a:ext cx="5225142" cy="148336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870857"/>
                  </a:tblGrid>
                  <a:tr h="370840">
                    <a:tc>
                      <a:txBody>
                        <a:bodyPr/>
                        <a:lstStyle/>
                        <a:p>
                          <a:pPr algn="ctr"/>
                          <a:r>
                            <a:rPr lang="en-US" dirty="0" smtClean="0"/>
                            <a:t>B.V</a:t>
                          </a:r>
                          <a:endParaRPr lang="en-GB" dirty="0"/>
                        </a:p>
                      </a:txBody>
                      <a:tcPr/>
                    </a:tc>
                    <a:tc>
                      <a:txBody>
                        <a:bodyPr/>
                        <a:lstStyle/>
                        <a:p>
                          <a:endParaRPr lang="en-US"/>
                        </a:p>
                      </a:txBody>
                      <a:tcPr>
                        <a:blipFill rotWithShape="1">
                          <a:blip r:embed="rId4"/>
                          <a:stretch>
                            <a:fillRect l="-100699" t="-8197" r="-399301" b="-322951"/>
                          </a:stretch>
                        </a:blipFill>
                      </a:tcPr>
                    </a:tc>
                    <a:tc>
                      <a:txBody>
                        <a:bodyPr/>
                        <a:lstStyle/>
                        <a:p>
                          <a:endParaRPr lang="en-US"/>
                        </a:p>
                      </a:txBody>
                      <a:tcPr>
                        <a:blipFill rotWithShape="1">
                          <a:blip r:embed="rId4"/>
                          <a:stretch>
                            <a:fillRect l="-200699" t="-8197" r="-299301" b="-322951"/>
                          </a:stretch>
                        </a:blipFill>
                      </a:tcPr>
                    </a:tc>
                    <a:tc>
                      <a:txBody>
                        <a:bodyPr/>
                        <a:lstStyle/>
                        <a:p>
                          <a:endParaRPr lang="en-US"/>
                        </a:p>
                      </a:txBody>
                      <a:tcPr>
                        <a:blipFill rotWithShape="1">
                          <a:blip r:embed="rId4"/>
                          <a:stretch>
                            <a:fillRect l="-302817" t="-8197" r="-201408" b="-322951"/>
                          </a:stretch>
                        </a:blipFill>
                      </a:tcPr>
                    </a:tc>
                    <a:tc>
                      <a:txBody>
                        <a:bodyPr/>
                        <a:lstStyle/>
                        <a:p>
                          <a:endParaRPr lang="en-US"/>
                        </a:p>
                      </a:txBody>
                      <a:tcPr>
                        <a:blipFill rotWithShape="1">
                          <a:blip r:embed="rId4"/>
                          <a:stretch>
                            <a:fillRect l="-400000" t="-8197" r="-100000" b="-322951"/>
                          </a:stretch>
                        </a:blipFill>
                      </a:tcPr>
                    </a:tc>
                    <a:tc>
                      <a:txBody>
                        <a:bodyPr/>
                        <a:lstStyle/>
                        <a:p>
                          <a:r>
                            <a:rPr lang="en-US" dirty="0" smtClean="0"/>
                            <a:t>sol</a:t>
                          </a:r>
                          <a:endParaRPr lang="en-GB" dirty="0"/>
                        </a:p>
                      </a:txBody>
                      <a:tcPr/>
                    </a:tc>
                  </a:tr>
                  <a:tr h="370840">
                    <a:tc>
                      <a:txBody>
                        <a:bodyPr/>
                        <a:lstStyle/>
                        <a:p>
                          <a:endParaRPr lang="en-US"/>
                        </a:p>
                      </a:txBody>
                      <a:tcPr>
                        <a:blipFill rotWithShape="1">
                          <a:blip r:embed="rId4"/>
                          <a:stretch>
                            <a:fillRect l="-699" t="-108197" r="-499301" b="-222951"/>
                          </a:stretch>
                        </a:blipFill>
                      </a:tcPr>
                    </a:tc>
                    <a:tc>
                      <a:txBody>
                        <a:bodyPr/>
                        <a:lstStyle/>
                        <a:p>
                          <a:pPr algn="ctr"/>
                          <a:r>
                            <a:rPr lang="en-US" dirty="0" smtClean="0"/>
                            <a:t>0</a:t>
                          </a:r>
                          <a:endParaRPr lang="en-GB" dirty="0"/>
                        </a:p>
                      </a:txBody>
                      <a:tcPr/>
                    </a:tc>
                    <a:tc>
                      <a:txBody>
                        <a:bodyPr/>
                        <a:lstStyle/>
                        <a:p>
                          <a:pPr algn="ctr"/>
                          <a:r>
                            <a:rPr lang="en-US" dirty="0" smtClean="0"/>
                            <a:t>0</a:t>
                          </a:r>
                          <a:endParaRPr lang="en-GB" dirty="0"/>
                        </a:p>
                      </a:txBody>
                      <a:tcPr/>
                    </a:tc>
                    <a:tc>
                      <a:txBody>
                        <a:bodyPr/>
                        <a:lstStyle/>
                        <a:p>
                          <a:pPr algn="ctr"/>
                          <a:r>
                            <a:rPr lang="en-US" dirty="0" smtClean="0"/>
                            <a:t>1/3</a:t>
                          </a:r>
                          <a:endParaRPr lang="en-GB" dirty="0"/>
                        </a:p>
                      </a:txBody>
                      <a:tcPr/>
                    </a:tc>
                    <a:tc>
                      <a:txBody>
                        <a:bodyPr/>
                        <a:lstStyle/>
                        <a:p>
                          <a:pPr algn="ctr"/>
                          <a:r>
                            <a:rPr lang="en-US" dirty="0" smtClean="0"/>
                            <a:t>1/3</a:t>
                          </a:r>
                          <a:endParaRPr lang="en-GB" dirty="0"/>
                        </a:p>
                      </a:txBody>
                      <a:tcPr/>
                    </a:tc>
                    <a:tc>
                      <a:txBody>
                        <a:bodyPr/>
                        <a:lstStyle/>
                        <a:p>
                          <a:pPr algn="ctr"/>
                          <a:r>
                            <a:rPr lang="en-US" dirty="0" smtClean="0"/>
                            <a:t>7/3</a:t>
                          </a:r>
                          <a:endParaRPr lang="en-GB" dirty="0"/>
                        </a:p>
                      </a:txBody>
                      <a:tcPr/>
                    </a:tc>
                  </a:tr>
                  <a:tr h="370840">
                    <a:tc>
                      <a:txBody>
                        <a:bodyPr/>
                        <a:lstStyle/>
                        <a:p>
                          <a:endParaRPr lang="en-US"/>
                        </a:p>
                      </a:txBody>
                      <a:tcPr>
                        <a:blipFill rotWithShape="1">
                          <a:blip r:embed="rId4"/>
                          <a:stretch>
                            <a:fillRect l="-699" t="-211667" r="-499301" b="-126667"/>
                          </a:stretch>
                        </a:blipFill>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1/3</a:t>
                          </a:r>
                          <a:endParaRPr lang="en-GB" dirty="0"/>
                        </a:p>
                      </a:txBody>
                      <a:tcPr/>
                    </a:tc>
                    <a:tc>
                      <a:txBody>
                        <a:bodyPr/>
                        <a:lstStyle/>
                        <a:p>
                          <a:pPr algn="ctr"/>
                          <a:r>
                            <a:rPr lang="en-US" dirty="0" smtClean="0"/>
                            <a:t>-2/3</a:t>
                          </a:r>
                          <a:endParaRPr lang="en-GB" dirty="0"/>
                        </a:p>
                      </a:txBody>
                      <a:tcPr/>
                    </a:tc>
                    <a:tc>
                      <a:txBody>
                        <a:bodyPr/>
                        <a:lstStyle/>
                        <a:p>
                          <a:pPr algn="ctr"/>
                          <a:r>
                            <a:rPr lang="en-US" dirty="0" smtClean="0"/>
                            <a:t>1/3</a:t>
                          </a:r>
                          <a:endParaRPr lang="en-GB" dirty="0"/>
                        </a:p>
                      </a:txBody>
                      <a:tcPr/>
                    </a:tc>
                  </a:tr>
                  <a:tr h="370840">
                    <a:tc>
                      <a:txBody>
                        <a:bodyPr/>
                        <a:lstStyle/>
                        <a:p>
                          <a:endParaRPr lang="en-US"/>
                        </a:p>
                      </a:txBody>
                      <a:tcPr>
                        <a:blipFill rotWithShape="1">
                          <a:blip r:embed="rId4"/>
                          <a:stretch>
                            <a:fillRect l="-699" t="-306557" r="-499301" b="-24590"/>
                          </a:stretch>
                        </a:blipFill>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2</a:t>
                          </a:r>
                          <a:endParaRPr lang="en-GB" dirty="0"/>
                        </a:p>
                      </a:txBody>
                      <a:tcPr/>
                    </a:tc>
                  </a:tr>
                </a:tbl>
              </a:graphicData>
            </a:graphic>
          </p:graphicFrame>
        </mc:Fallback>
      </mc:AlternateContent>
      <mc:AlternateContent xmlns:mc="http://schemas.openxmlformats.org/markup-compatibility/2006" xmlns:a14="http://schemas.microsoft.com/office/drawing/2010/main">
        <mc:Choice Requires="a14">
          <p:sp>
            <p:nvSpPr>
              <p:cNvPr id="7" name="TextBox 6"/>
              <p:cNvSpPr txBox="1"/>
              <p:nvPr/>
            </p:nvSpPr>
            <p:spPr>
              <a:xfrm>
                <a:off x="1676400" y="3352800"/>
                <a:ext cx="3352800" cy="485454"/>
              </a:xfrm>
              <a:prstGeom prst="rect">
                <a:avLst/>
              </a:prstGeom>
              <a:noFill/>
            </p:spPr>
            <p:txBody>
              <a:bodyPr wrap="square" rtlCol="0">
                <a:spAutoFit/>
              </a:bodyPr>
              <a:lstStyle/>
              <a:p>
                <a:r>
                  <a:rPr lang="en-US" dirty="0" smtClean="0"/>
                  <a:t>By </a:t>
                </a:r>
                <a14:m>
                  <m:oMath xmlns:m="http://schemas.openxmlformats.org/officeDocument/2006/math">
                    <m:r>
                      <a:rPr lang="en-US" i="1" dirty="0" smtClean="0">
                        <a:latin typeface="Cambria Math"/>
                      </a:rPr>
                      <m:t>𝑧</m:t>
                    </m:r>
                    <m:r>
                      <a:rPr lang="en-US" i="1" dirty="0" smtClean="0">
                        <a:latin typeface="Cambria Math"/>
                      </a:rPr>
                      <m:t>+</m:t>
                    </m:r>
                    <m:f>
                      <m:fPr>
                        <m:ctrlPr>
                          <a:rPr lang="en-US" i="1" dirty="0" smtClean="0">
                            <a:latin typeface="Cambria Math"/>
                          </a:rPr>
                        </m:ctrlPr>
                      </m:fPr>
                      <m:num>
                        <m:r>
                          <a:rPr lang="en-US" b="0" i="1" dirty="0" smtClean="0">
                            <a:latin typeface="Cambria Math"/>
                          </a:rPr>
                          <m:t>1</m:t>
                        </m:r>
                      </m:num>
                      <m:den>
                        <m:r>
                          <a:rPr lang="en-US" b="0" i="1" dirty="0" smtClean="0">
                            <a:latin typeface="Cambria Math"/>
                          </a:rPr>
                          <m:t>3</m:t>
                        </m:r>
                      </m:den>
                    </m:f>
                    <m:r>
                      <a:rPr lang="en-US" i="1" dirty="0" smtClean="0">
                        <a:latin typeface="Cambria Math"/>
                      </a:rPr>
                      <m:t> </m:t>
                    </m:r>
                    <m:sSub>
                      <m:sSubPr>
                        <m:ctrlPr>
                          <a:rPr lang="en-US" i="1" dirty="0" smtClean="0">
                            <a:latin typeface="Cambria Math"/>
                          </a:rPr>
                        </m:ctrlPr>
                      </m:sSubPr>
                      <m:e>
                        <m:r>
                          <a:rPr lang="en-US" i="1" dirty="0" smtClean="0">
                            <a:latin typeface="Cambria Math"/>
                          </a:rPr>
                          <m:t>𝑥</m:t>
                        </m:r>
                      </m:e>
                      <m:sub>
                        <m:r>
                          <a:rPr lang="en-US" i="1" dirty="0" smtClean="0">
                            <a:latin typeface="Cambria Math"/>
                          </a:rPr>
                          <m:t>2</m:t>
                        </m:r>
                      </m:sub>
                    </m:sSub>
                    <m:r>
                      <a:rPr lang="en-US" b="0" i="1" dirty="0" smtClean="0">
                        <a:latin typeface="Cambria Math"/>
                      </a:rPr>
                      <m:t>,   </m:t>
                    </m:r>
                    <m:sSub>
                      <m:sSubPr>
                        <m:ctrlPr>
                          <a:rPr lang="en-US" b="0" i="1" dirty="0" smtClean="0">
                            <a:latin typeface="Cambria Math"/>
                          </a:rPr>
                        </m:ctrlPr>
                      </m:sSubPr>
                      <m:e>
                        <m:r>
                          <a:rPr lang="en-US" b="0" i="1" dirty="0" smtClean="0">
                            <a:latin typeface="Cambria Math"/>
                          </a:rPr>
                          <m:t>𝑥</m:t>
                        </m:r>
                      </m:e>
                      <m:sub>
                        <m:r>
                          <a:rPr lang="en-US" b="0" i="1" dirty="0" smtClean="0">
                            <a:latin typeface="Cambria Math"/>
                          </a:rPr>
                          <m:t>1</m:t>
                        </m:r>
                      </m:sub>
                    </m:sSub>
                    <m:r>
                      <a:rPr lang="en-US" b="0" i="1" dirty="0" smtClean="0">
                        <a:latin typeface="Cambria Math"/>
                      </a:rPr>
                      <m:t>−</m:t>
                    </m:r>
                    <m:f>
                      <m:fPr>
                        <m:ctrlPr>
                          <a:rPr lang="en-US" b="0" i="1" dirty="0" smtClean="0">
                            <a:latin typeface="Cambria Math"/>
                          </a:rPr>
                        </m:ctrlPr>
                      </m:fPr>
                      <m:num>
                        <m:r>
                          <a:rPr lang="en-US" b="0" i="1" dirty="0" smtClean="0">
                            <a:latin typeface="Cambria Math"/>
                          </a:rPr>
                          <m:t>2</m:t>
                        </m:r>
                      </m:num>
                      <m:den>
                        <m:r>
                          <a:rPr lang="en-US" b="0" i="1" dirty="0" smtClean="0">
                            <a:latin typeface="Cambria Math"/>
                          </a:rPr>
                          <m:t>3</m:t>
                        </m:r>
                      </m:den>
                    </m:f>
                    <m:sSub>
                      <m:sSubPr>
                        <m:ctrlPr>
                          <a:rPr lang="en-US" b="0" i="1" dirty="0" smtClean="0">
                            <a:latin typeface="Cambria Math"/>
                          </a:rPr>
                        </m:ctrlPr>
                      </m:sSubPr>
                      <m:e>
                        <m:r>
                          <a:rPr lang="en-US" b="0" i="1" dirty="0" smtClean="0">
                            <a:latin typeface="Cambria Math"/>
                          </a:rPr>
                          <m:t>𝑥</m:t>
                        </m:r>
                      </m:e>
                      <m:sub>
                        <m:r>
                          <a:rPr lang="en-US" b="0" i="1" dirty="0" smtClean="0">
                            <a:latin typeface="Cambria Math"/>
                          </a:rPr>
                          <m:t>2</m:t>
                        </m:r>
                      </m:sub>
                    </m:sSub>
                  </m:oMath>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1676400" y="3352800"/>
                <a:ext cx="3352800" cy="485454"/>
              </a:xfrm>
              <a:prstGeom prst="rect">
                <a:avLst/>
              </a:prstGeom>
              <a:blipFill rotWithShape="1">
                <a:blip r:embed="rId5"/>
                <a:stretch>
                  <a:fillRect l="-1455" b="-7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905000" y="5867400"/>
                <a:ext cx="5638800" cy="484876"/>
              </a:xfrm>
              <a:prstGeom prst="rect">
                <a:avLst/>
              </a:prstGeom>
              <a:noFill/>
            </p:spPr>
            <p:txBody>
              <a:bodyPr wrap="square" rtlCol="0">
                <a:spAutoFit/>
              </a:bodyPr>
              <a:lstStyle/>
              <a:p>
                <a:r>
                  <a:rPr lang="en-US" dirty="0" smtClean="0"/>
                  <a:t>Z-row is non-negative, therefore </a:t>
                </a:r>
                <a14:m>
                  <m:oMath xmlns:m="http://schemas.openxmlformats.org/officeDocument/2006/math">
                    <m:sSub>
                      <m:sSubPr>
                        <m:ctrlPr>
                          <a:rPr lang="en-US" b="0" i="1" smtClean="0">
                            <a:latin typeface="Cambria Math"/>
                          </a:rPr>
                        </m:ctrlPr>
                      </m:sSubPr>
                      <m:e>
                        <m:r>
                          <a:rPr lang="en-US" b="0" i="1" smtClean="0">
                            <a:latin typeface="Cambria Math"/>
                          </a:rPr>
                          <m:t>𝑥</m:t>
                        </m:r>
                      </m:e>
                      <m:sub>
                        <m:r>
                          <a:rPr lang="en-US" b="0" i="1" smtClean="0">
                            <a:latin typeface="Cambria Math"/>
                          </a:rPr>
                          <m:t>1</m:t>
                        </m:r>
                      </m:sub>
                    </m:sSub>
                    <m:r>
                      <a:rPr lang="en-US" b="0" i="1" smtClean="0">
                        <a:latin typeface="Cambria Math"/>
                      </a:rPr>
                      <m:t>=</m:t>
                    </m:r>
                    <m:f>
                      <m:fPr>
                        <m:ctrlPr>
                          <a:rPr lang="en-US" b="0" i="1" smtClean="0">
                            <a:latin typeface="Cambria Math"/>
                          </a:rPr>
                        </m:ctrlPr>
                      </m:fPr>
                      <m:num>
                        <m:r>
                          <a:rPr lang="en-US" b="0" i="1" smtClean="0">
                            <a:latin typeface="Cambria Math"/>
                          </a:rPr>
                          <m:t>1</m:t>
                        </m:r>
                      </m:num>
                      <m:den>
                        <m:r>
                          <a:rPr lang="en-US" b="0" i="1" smtClean="0">
                            <a:latin typeface="Cambria Math"/>
                          </a:rPr>
                          <m:t>3</m:t>
                        </m:r>
                      </m:den>
                    </m:f>
                    <m:r>
                      <a:rPr lang="en-US" b="0" i="1" smtClean="0">
                        <a:latin typeface="Cambria Math"/>
                      </a:rPr>
                      <m:t>, </m:t>
                    </m:r>
                    <m:sSub>
                      <m:sSubPr>
                        <m:ctrlPr>
                          <a:rPr lang="en-US" b="0" i="1" smtClean="0">
                            <a:latin typeface="Cambria Math"/>
                          </a:rPr>
                        </m:ctrlPr>
                      </m:sSubPr>
                      <m:e>
                        <m:r>
                          <a:rPr lang="en-US" b="0" i="1" smtClean="0">
                            <a:latin typeface="Cambria Math"/>
                          </a:rPr>
                          <m:t>𝑥</m:t>
                        </m:r>
                      </m:e>
                      <m:sub>
                        <m:r>
                          <a:rPr lang="en-US" b="0" i="1" smtClean="0">
                            <a:latin typeface="Cambria Math"/>
                          </a:rPr>
                          <m:t>2</m:t>
                        </m:r>
                      </m:sub>
                    </m:sSub>
                    <m:r>
                      <a:rPr lang="en-US" b="0" i="1" smtClean="0">
                        <a:latin typeface="Cambria Math"/>
                      </a:rPr>
                      <m:t>=2, </m:t>
                    </m:r>
                    <m:r>
                      <a:rPr lang="en-US" b="0" i="1" smtClean="0">
                        <a:latin typeface="Cambria Math"/>
                      </a:rPr>
                      <m:t>𝑧</m:t>
                    </m:r>
                    <m:r>
                      <a:rPr lang="en-US" b="0" i="1" smtClean="0">
                        <a:latin typeface="Cambria Math"/>
                      </a:rPr>
                      <m:t>=</m:t>
                    </m:r>
                    <m:f>
                      <m:fPr>
                        <m:ctrlPr>
                          <a:rPr lang="en-US" b="0" i="1" smtClean="0">
                            <a:latin typeface="Cambria Math"/>
                          </a:rPr>
                        </m:ctrlPr>
                      </m:fPr>
                      <m:num>
                        <m:r>
                          <a:rPr lang="en-US" b="0" i="1" smtClean="0">
                            <a:latin typeface="Cambria Math"/>
                          </a:rPr>
                          <m:t>7</m:t>
                        </m:r>
                      </m:num>
                      <m:den>
                        <m:r>
                          <a:rPr lang="en-US" b="0" i="1" smtClean="0">
                            <a:latin typeface="Cambria Math"/>
                          </a:rPr>
                          <m:t>3</m:t>
                        </m:r>
                      </m:den>
                    </m:f>
                  </m:oMath>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1905000" y="5867400"/>
                <a:ext cx="5638800" cy="484876"/>
              </a:xfrm>
              <a:prstGeom prst="rect">
                <a:avLst/>
              </a:prstGeom>
              <a:blipFill rotWithShape="1">
                <a:blip r:embed="rId6"/>
                <a:stretch>
                  <a:fillRect l="-973" b="-7595"/>
                </a:stretch>
              </a:blipFill>
            </p:spPr>
            <p:txBody>
              <a:bodyPr/>
              <a:lstStyle/>
              <a:p>
                <a:r>
                  <a:rPr lang="en-GB">
                    <a:noFill/>
                  </a:rPr>
                  <a:t> </a:t>
                </a:r>
              </a:p>
            </p:txBody>
          </p:sp>
        </mc:Fallback>
      </mc:AlternateContent>
    </p:spTree>
    <p:extLst>
      <p:ext uri="{BB962C8B-B14F-4D97-AF65-F5344CB8AC3E}">
        <p14:creationId xmlns:p14="http://schemas.microsoft.com/office/powerpoint/2010/main" val="16356292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C00000"/>
                </a:solidFill>
                <a:latin typeface="Arial" pitchFamily="34" charset="0"/>
                <a:cs typeface="Arial" pitchFamily="34" charset="0"/>
              </a:rPr>
              <a:t>Generate cutting plane</a:t>
            </a:r>
            <a:br>
              <a:rPr lang="en-US" dirty="0" smtClean="0">
                <a:solidFill>
                  <a:srgbClr val="C00000"/>
                </a:solidFill>
                <a:latin typeface="Arial" pitchFamily="34" charset="0"/>
                <a:cs typeface="Arial" pitchFamily="34" charset="0"/>
              </a:rPr>
            </a:br>
            <a:r>
              <a:rPr lang="en-US" dirty="0" smtClean="0">
                <a:solidFill>
                  <a:srgbClr val="C00000"/>
                </a:solidFill>
                <a:latin typeface="Arial" pitchFamily="34" charset="0"/>
                <a:cs typeface="Arial" pitchFamily="34" charset="0"/>
              </a:rPr>
              <a:t>(</a:t>
            </a:r>
            <a:r>
              <a:rPr lang="en-US" dirty="0" err="1" smtClean="0">
                <a:solidFill>
                  <a:srgbClr val="C00000"/>
                </a:solidFill>
                <a:latin typeface="Arial" pitchFamily="34" charset="0"/>
                <a:cs typeface="Arial" pitchFamily="34" charset="0"/>
              </a:rPr>
              <a:t>Gomory’s</a:t>
            </a:r>
            <a:r>
              <a:rPr lang="en-US" dirty="0" smtClean="0">
                <a:solidFill>
                  <a:srgbClr val="C00000"/>
                </a:solidFill>
                <a:latin typeface="Arial" pitchFamily="34" charset="0"/>
                <a:cs typeface="Arial" pitchFamily="34" charset="0"/>
              </a:rPr>
              <a:t> constraint)</a:t>
            </a:r>
            <a:endParaRPr lang="en-GB" dirty="0">
              <a:solidFill>
                <a:srgbClr val="C00000"/>
              </a:solidFill>
              <a:latin typeface="Arial" pitchFamily="34" charset="0"/>
              <a:cs typeface="Arial" pitchFamily="34" charset="0"/>
            </a:endParaRPr>
          </a:p>
        </p:txBody>
      </p:sp>
      <p:sp>
        <p:nvSpPr>
          <p:cNvPr id="3" name="Content Placeholder 2"/>
          <p:cNvSpPr>
            <a:spLocks noGrp="1"/>
          </p:cNvSpPr>
          <p:nvPr>
            <p:ph idx="1"/>
          </p:nvPr>
        </p:nvSpPr>
        <p:spPr>
          <a:xfrm>
            <a:off x="838200" y="1905000"/>
            <a:ext cx="7429499" cy="3541714"/>
          </a:xfrm>
        </p:spPr>
        <p:txBody>
          <a:bodyPr>
            <a:noAutofit/>
          </a:bodyPr>
          <a:lstStyle/>
          <a:p>
            <a:pPr marL="0" indent="0">
              <a:buNone/>
            </a:pPr>
            <a:r>
              <a:rPr lang="en-US" sz="1800" dirty="0" smtClean="0">
                <a:effectLst/>
                <a:latin typeface="Arial" pitchFamily="34" charset="0"/>
                <a:cs typeface="Arial" pitchFamily="34" charset="0"/>
              </a:rPr>
              <a:t>Non-integer solutions are not desirable.</a:t>
            </a:r>
          </a:p>
          <a:p>
            <a:pPr marL="457200" indent="-457200">
              <a:buAutoNum type="arabicParenR"/>
            </a:pPr>
            <a:r>
              <a:rPr lang="en-US" sz="1800" dirty="0" smtClean="0">
                <a:effectLst/>
                <a:latin typeface="Arial" pitchFamily="34" charset="0"/>
                <a:cs typeface="Arial" pitchFamily="34" charset="0"/>
              </a:rPr>
              <a:t>Source Row: Choose the row with largest fractional value.</a:t>
            </a:r>
          </a:p>
          <a:p>
            <a:pPr marL="0" indent="0">
              <a:buNone/>
            </a:pPr>
            <a:r>
              <a:rPr lang="en-US" sz="1800" dirty="0" smtClean="0">
                <a:effectLst/>
                <a:latin typeface="Arial" pitchFamily="34" charset="0"/>
                <a:cs typeface="Arial" pitchFamily="34" charset="0"/>
              </a:rPr>
              <a:t>If there is tie, then choose the one that has the smallest profit/unit coefficient in the objective function of maximization LPP or largest cost/unit coefficient in the objective function of minimization LPP.</a:t>
            </a:r>
          </a:p>
          <a:p>
            <a:pPr marL="457200" indent="-457200">
              <a:buAutoNum type="arabicParenR" startAt="2"/>
            </a:pPr>
            <a:r>
              <a:rPr lang="en-US" sz="1800" dirty="0" smtClean="0">
                <a:effectLst/>
                <a:latin typeface="Arial" pitchFamily="34" charset="0"/>
                <a:cs typeface="Arial" pitchFamily="34" charset="0"/>
              </a:rPr>
              <a:t>Develop the cut. Write source row in the form of integer plus strictly positive fractional value. Eliminate integer values to obtain the </a:t>
            </a:r>
            <a:r>
              <a:rPr lang="en-US" sz="1800" dirty="0" err="1" smtClean="0">
                <a:effectLst/>
                <a:latin typeface="Arial" pitchFamily="34" charset="0"/>
                <a:cs typeface="Arial" pitchFamily="34" charset="0"/>
              </a:rPr>
              <a:t>Gomory’s</a:t>
            </a:r>
            <a:r>
              <a:rPr lang="en-US" sz="1800" dirty="0" smtClean="0">
                <a:effectLst/>
                <a:latin typeface="Arial" pitchFamily="34" charset="0"/>
                <a:cs typeface="Arial" pitchFamily="34" charset="0"/>
              </a:rPr>
              <a:t> constraint. Now  </a:t>
            </a:r>
            <a:r>
              <a:rPr lang="en-US" sz="1800" dirty="0">
                <a:effectLst/>
                <a:latin typeface="Arial" pitchFamily="34" charset="0"/>
                <a:cs typeface="Arial" pitchFamily="34" charset="0"/>
              </a:rPr>
              <a:t>a</a:t>
            </a:r>
            <a:r>
              <a:rPr lang="en-US" sz="1800" dirty="0" smtClean="0">
                <a:effectLst/>
                <a:latin typeface="Arial" pitchFamily="34" charset="0"/>
                <a:cs typeface="Arial" pitchFamily="34" charset="0"/>
              </a:rPr>
              <a:t>dd slack variable to form an equation.</a:t>
            </a:r>
          </a:p>
          <a:p>
            <a:pPr marL="457200" indent="-457200">
              <a:buAutoNum type="arabicParenR" startAt="2"/>
            </a:pPr>
            <a:r>
              <a:rPr lang="en-US" sz="1800" dirty="0" smtClean="0">
                <a:effectLst/>
                <a:latin typeface="Arial" pitchFamily="34" charset="0"/>
                <a:cs typeface="Arial" pitchFamily="34" charset="0"/>
              </a:rPr>
              <a:t>Add this </a:t>
            </a:r>
            <a:r>
              <a:rPr lang="en-US" sz="1800" dirty="0" err="1" smtClean="0">
                <a:effectLst/>
                <a:latin typeface="Arial" pitchFamily="34" charset="0"/>
                <a:cs typeface="Arial" pitchFamily="34" charset="0"/>
              </a:rPr>
              <a:t>Gomory’s</a:t>
            </a:r>
            <a:r>
              <a:rPr lang="en-US" sz="1800" dirty="0" smtClean="0">
                <a:effectLst/>
                <a:latin typeface="Arial" pitchFamily="34" charset="0"/>
                <a:cs typeface="Arial" pitchFamily="34" charset="0"/>
              </a:rPr>
              <a:t> constraint at the bottom of optimal simplex table.</a:t>
            </a:r>
          </a:p>
          <a:p>
            <a:pPr marL="457200" indent="-457200">
              <a:buAutoNum type="arabicParenR" startAt="2"/>
            </a:pPr>
            <a:r>
              <a:rPr lang="en-US" sz="1800" dirty="0" smtClean="0">
                <a:effectLst/>
                <a:latin typeface="Arial" pitchFamily="34" charset="0"/>
                <a:cs typeface="Arial" pitchFamily="34" charset="0"/>
              </a:rPr>
              <a:t>Find a new optimal solution using </a:t>
            </a:r>
            <a:r>
              <a:rPr lang="en-US" sz="1800" b="1" dirty="0" smtClean="0">
                <a:solidFill>
                  <a:srgbClr val="C00000"/>
                </a:solidFill>
                <a:effectLst/>
                <a:latin typeface="Arial" pitchFamily="34" charset="0"/>
                <a:cs typeface="Arial" pitchFamily="34" charset="0"/>
              </a:rPr>
              <a:t>Dual Simplex Method.</a:t>
            </a:r>
            <a:endParaRPr lang="en-GB" sz="1800" b="1" dirty="0">
              <a:solidFill>
                <a:srgbClr val="C00000"/>
              </a:solidFill>
              <a:effectLst/>
              <a:latin typeface="Arial" pitchFamily="34" charset="0"/>
              <a:cs typeface="Arial" pitchFamily="34" charset="0"/>
            </a:endParaRPr>
          </a:p>
        </p:txBody>
      </p:sp>
    </p:spTree>
    <p:extLst>
      <p:ext uri="{BB962C8B-B14F-4D97-AF65-F5344CB8AC3E}">
        <p14:creationId xmlns:p14="http://schemas.microsoft.com/office/powerpoint/2010/main" val="17015560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43000" y="990600"/>
                <a:ext cx="7429499" cy="5638800"/>
              </a:xfrm>
            </p:spPr>
            <p:txBody>
              <a:bodyPr>
                <a:normAutofit fontScale="92500"/>
              </a:bodyPr>
              <a:lstStyle/>
              <a:p>
                <a:pPr marL="0" indent="0">
                  <a:buNone/>
                </a:pPr>
                <a14:m>
                  <m:oMath xmlns:m="http://schemas.openxmlformats.org/officeDocument/2006/math">
                    <m:sSub>
                      <m:sSubPr>
                        <m:ctrlPr>
                          <a:rPr lang="en-US" b="0" i="1" smtClean="0">
                            <a:effectLst/>
                            <a:latin typeface="Cambria Math"/>
                          </a:rPr>
                        </m:ctrlPr>
                      </m:sSubPr>
                      <m:e>
                        <m:r>
                          <a:rPr lang="en-US" b="0" i="1" smtClean="0">
                            <a:effectLst/>
                            <a:latin typeface="Cambria Math"/>
                          </a:rPr>
                          <m:t>𝑥</m:t>
                        </m:r>
                      </m:e>
                      <m:sub>
                        <m:r>
                          <a:rPr lang="en-US" b="0" i="1" smtClean="0">
                            <a:effectLst/>
                            <a:latin typeface="Cambria Math"/>
                          </a:rPr>
                          <m:t>1</m:t>
                        </m:r>
                      </m:sub>
                    </m:sSub>
                  </m:oMath>
                </a14:m>
                <a:r>
                  <a:rPr lang="en-GB" dirty="0" smtClean="0">
                    <a:effectLst/>
                  </a:rPr>
                  <a:t> has largest fractional value, choose row </a:t>
                </a:r>
                <a14:m>
                  <m:oMath xmlns:m="http://schemas.openxmlformats.org/officeDocument/2006/math">
                    <m:sSub>
                      <m:sSubPr>
                        <m:ctrlPr>
                          <a:rPr lang="en-US" b="0" i="1" smtClean="0">
                            <a:effectLst/>
                            <a:latin typeface="Cambria Math"/>
                          </a:rPr>
                        </m:ctrlPr>
                      </m:sSubPr>
                      <m:e>
                        <m:r>
                          <a:rPr lang="en-US" b="0" i="1" smtClean="0">
                            <a:effectLst/>
                            <a:latin typeface="Cambria Math"/>
                          </a:rPr>
                          <m:t>𝑥</m:t>
                        </m:r>
                      </m:e>
                      <m:sub>
                        <m:r>
                          <a:rPr lang="en-US" b="0" i="1" smtClean="0">
                            <a:effectLst/>
                            <a:latin typeface="Cambria Math"/>
                          </a:rPr>
                          <m:t>1</m:t>
                        </m:r>
                      </m:sub>
                    </m:sSub>
                  </m:oMath>
                </a14:m>
                <a:r>
                  <a:rPr lang="en-GB" dirty="0" smtClean="0">
                    <a:effectLst/>
                  </a:rPr>
                  <a:t> as source row. </a:t>
                </a:r>
                <a:endParaRPr lang="en-GB" dirty="0" smtClean="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a:rPr>
                          </m:ctrlPr>
                        </m:sSubPr>
                        <m:e>
                          <m:r>
                            <a:rPr lang="en-US" b="0" i="1" smtClean="0">
                              <a:latin typeface="Cambria Math"/>
                            </a:rPr>
                            <m:t>𝑥</m:t>
                          </m:r>
                        </m:e>
                        <m:sub>
                          <m:r>
                            <a:rPr lang="en-US" b="0" i="1" smtClean="0">
                              <a:latin typeface="Cambria Math"/>
                            </a:rPr>
                            <m:t>1</m:t>
                          </m:r>
                        </m:sub>
                      </m:sSub>
                      <m:r>
                        <a:rPr lang="en-US" b="0" i="1" smtClean="0">
                          <a:latin typeface="Cambria Math"/>
                        </a:rPr>
                        <m:t>+0 </m:t>
                      </m:r>
                      <m:sSub>
                        <m:sSubPr>
                          <m:ctrlPr>
                            <a:rPr lang="en-US" b="0" i="1" smtClean="0">
                              <a:latin typeface="Cambria Math"/>
                            </a:rPr>
                          </m:ctrlPr>
                        </m:sSubPr>
                        <m:e>
                          <m:r>
                            <a:rPr lang="en-US" b="0" i="1" smtClean="0">
                              <a:latin typeface="Cambria Math"/>
                            </a:rPr>
                            <m:t>𝑥</m:t>
                          </m:r>
                        </m:e>
                        <m:sub>
                          <m:r>
                            <a:rPr lang="en-US" b="0" i="1" smtClean="0">
                              <a:latin typeface="Cambria Math"/>
                            </a:rPr>
                            <m:t>2</m:t>
                          </m:r>
                        </m:sub>
                      </m:sSub>
                      <m:r>
                        <a:rPr lang="en-US" b="0" i="1" smtClean="0">
                          <a:latin typeface="Cambria Math"/>
                        </a:rPr>
                        <m:t>+</m:t>
                      </m:r>
                      <m:f>
                        <m:fPr>
                          <m:ctrlPr>
                            <a:rPr lang="en-US" b="0" i="1" smtClean="0">
                              <a:latin typeface="Cambria Math"/>
                            </a:rPr>
                          </m:ctrlPr>
                        </m:fPr>
                        <m:num>
                          <m:r>
                            <a:rPr lang="en-US" b="0" i="1" smtClean="0">
                              <a:latin typeface="Cambria Math"/>
                            </a:rPr>
                            <m:t>1</m:t>
                          </m:r>
                        </m:num>
                        <m:den>
                          <m:r>
                            <a:rPr lang="en-US" b="0" i="1" smtClean="0">
                              <a:latin typeface="Cambria Math"/>
                            </a:rPr>
                            <m:t>3</m:t>
                          </m:r>
                        </m:den>
                      </m:f>
                      <m:sSub>
                        <m:sSubPr>
                          <m:ctrlPr>
                            <a:rPr lang="en-US" b="0" i="1" smtClean="0">
                              <a:latin typeface="Cambria Math"/>
                            </a:rPr>
                          </m:ctrlPr>
                        </m:sSubPr>
                        <m:e>
                          <m:r>
                            <a:rPr lang="en-US" b="0" i="1" smtClean="0">
                              <a:latin typeface="Cambria Math"/>
                            </a:rPr>
                            <m:t>𝑠</m:t>
                          </m:r>
                        </m:e>
                        <m:sub>
                          <m:r>
                            <a:rPr lang="en-US" b="0" i="1" smtClean="0">
                              <a:latin typeface="Cambria Math"/>
                            </a:rPr>
                            <m:t>1</m:t>
                          </m:r>
                        </m:sub>
                      </m:sSub>
                      <m:r>
                        <a:rPr lang="en-US" b="0" i="1" smtClean="0">
                          <a:latin typeface="Cambria Math"/>
                        </a:rPr>
                        <m:t>−</m:t>
                      </m:r>
                      <m:f>
                        <m:fPr>
                          <m:ctrlPr>
                            <a:rPr lang="en-US" b="0" i="1" smtClean="0">
                              <a:latin typeface="Cambria Math"/>
                            </a:rPr>
                          </m:ctrlPr>
                        </m:fPr>
                        <m:num>
                          <m:r>
                            <a:rPr lang="en-US" b="0" i="1" smtClean="0">
                              <a:latin typeface="Cambria Math"/>
                            </a:rPr>
                            <m:t>2</m:t>
                          </m:r>
                        </m:num>
                        <m:den>
                          <m:r>
                            <a:rPr lang="en-US" b="0" i="1" smtClean="0">
                              <a:latin typeface="Cambria Math"/>
                            </a:rPr>
                            <m:t>3</m:t>
                          </m:r>
                        </m:den>
                      </m:f>
                      <m:sSub>
                        <m:sSubPr>
                          <m:ctrlPr>
                            <a:rPr lang="en-US" b="0" i="1" smtClean="0">
                              <a:latin typeface="Cambria Math"/>
                            </a:rPr>
                          </m:ctrlPr>
                        </m:sSubPr>
                        <m:e>
                          <m:r>
                            <a:rPr lang="en-US" b="0" i="1" smtClean="0">
                              <a:latin typeface="Cambria Math"/>
                            </a:rPr>
                            <m:t>𝑠</m:t>
                          </m:r>
                        </m:e>
                        <m:sub>
                          <m:r>
                            <a:rPr lang="en-US" b="0" i="1" smtClean="0">
                              <a:latin typeface="Cambria Math"/>
                            </a:rPr>
                            <m:t>2</m:t>
                          </m:r>
                        </m:sub>
                      </m:sSub>
                      <m:r>
                        <a:rPr lang="en-US" b="0" i="1" smtClean="0">
                          <a:latin typeface="Cambria Math"/>
                        </a:rPr>
                        <m:t>=</m:t>
                      </m:r>
                      <m:f>
                        <m:fPr>
                          <m:ctrlPr>
                            <a:rPr lang="en-US" b="0" i="1" smtClean="0">
                              <a:latin typeface="Cambria Math"/>
                            </a:rPr>
                          </m:ctrlPr>
                        </m:fPr>
                        <m:num>
                          <m:r>
                            <a:rPr lang="en-US" b="0" i="1" smtClean="0">
                              <a:latin typeface="Cambria Math"/>
                            </a:rPr>
                            <m:t>1</m:t>
                          </m:r>
                        </m:num>
                        <m:den>
                          <m:r>
                            <a:rPr lang="en-US" b="0" i="1" smtClean="0">
                              <a:latin typeface="Cambria Math"/>
                            </a:rPr>
                            <m:t>3</m:t>
                          </m:r>
                        </m:den>
                      </m:f>
                    </m:oMath>
                    <m:oMath xmlns:m="http://schemas.openxmlformats.org/officeDocument/2006/math">
                      <m:d>
                        <m:dPr>
                          <m:ctrlPr>
                            <a:rPr lang="en-US" b="0" i="1" smtClean="0">
                              <a:latin typeface="Cambria Math"/>
                            </a:rPr>
                          </m:ctrlPr>
                        </m:dPr>
                        <m:e>
                          <m:r>
                            <a:rPr lang="en-US" b="0" i="1" smtClean="0">
                              <a:latin typeface="Cambria Math"/>
                            </a:rPr>
                            <m:t>1+0</m:t>
                          </m:r>
                        </m:e>
                      </m:d>
                      <m:sSub>
                        <m:sSubPr>
                          <m:ctrlPr>
                            <a:rPr lang="en-US" b="0" i="1" smtClean="0">
                              <a:latin typeface="Cambria Math"/>
                            </a:rPr>
                          </m:ctrlPr>
                        </m:sSubPr>
                        <m:e>
                          <m:r>
                            <a:rPr lang="en-US" b="0" i="1" smtClean="0">
                              <a:latin typeface="Cambria Math"/>
                            </a:rPr>
                            <m:t>𝑥</m:t>
                          </m:r>
                        </m:e>
                        <m:sub>
                          <m:r>
                            <a:rPr lang="en-US" b="0" i="1" smtClean="0">
                              <a:latin typeface="Cambria Math"/>
                            </a:rPr>
                            <m:t>1</m:t>
                          </m:r>
                        </m:sub>
                      </m:sSub>
                      <m:r>
                        <a:rPr lang="en-US" b="0" i="1" smtClean="0">
                          <a:latin typeface="Cambria Math"/>
                        </a:rPr>
                        <m:t>+(0+</m:t>
                      </m:r>
                      <m:f>
                        <m:fPr>
                          <m:ctrlPr>
                            <a:rPr lang="en-US" b="0" i="1" smtClean="0">
                              <a:latin typeface="Cambria Math"/>
                            </a:rPr>
                          </m:ctrlPr>
                        </m:fPr>
                        <m:num>
                          <m:r>
                            <a:rPr lang="en-US" b="0" i="1" smtClean="0">
                              <a:latin typeface="Cambria Math"/>
                            </a:rPr>
                            <m:t>1</m:t>
                          </m:r>
                        </m:num>
                        <m:den>
                          <m:r>
                            <a:rPr lang="en-US" b="0" i="1" smtClean="0">
                              <a:latin typeface="Cambria Math"/>
                            </a:rPr>
                            <m:t>3</m:t>
                          </m:r>
                        </m:den>
                      </m:f>
                      <m:sSub>
                        <m:sSubPr>
                          <m:ctrlPr>
                            <a:rPr lang="en-US" b="0" i="1" smtClean="0">
                              <a:latin typeface="Cambria Math"/>
                            </a:rPr>
                          </m:ctrlPr>
                        </m:sSubPr>
                        <m:e>
                          <m:r>
                            <a:rPr lang="en-US" b="0" i="1" smtClean="0">
                              <a:latin typeface="Cambria Math"/>
                            </a:rPr>
                            <m:t>)</m:t>
                          </m:r>
                          <m:r>
                            <a:rPr lang="en-US" b="0" i="1" smtClean="0">
                              <a:latin typeface="Cambria Math"/>
                            </a:rPr>
                            <m:t>𝑠</m:t>
                          </m:r>
                        </m:e>
                        <m:sub>
                          <m:r>
                            <a:rPr lang="en-US" b="0" i="1" smtClean="0">
                              <a:latin typeface="Cambria Math"/>
                            </a:rPr>
                            <m:t>1</m:t>
                          </m:r>
                        </m:sub>
                      </m:sSub>
                      <m:r>
                        <a:rPr lang="en-US" b="0" i="1" smtClean="0">
                          <a:latin typeface="Cambria Math"/>
                        </a:rPr>
                        <m:t>+</m:t>
                      </m:r>
                      <m:d>
                        <m:dPr>
                          <m:ctrlPr>
                            <a:rPr lang="en-US" b="0" i="1" smtClean="0">
                              <a:latin typeface="Cambria Math"/>
                            </a:rPr>
                          </m:ctrlPr>
                        </m:dPr>
                        <m:e>
                          <m:r>
                            <a:rPr lang="en-US" b="0" i="1" smtClean="0">
                              <a:latin typeface="Cambria Math"/>
                            </a:rPr>
                            <m:t>−1+</m:t>
                          </m:r>
                          <m:f>
                            <m:fPr>
                              <m:ctrlPr>
                                <a:rPr lang="en-US" b="0" i="1" smtClean="0">
                                  <a:latin typeface="Cambria Math"/>
                                </a:rPr>
                              </m:ctrlPr>
                            </m:fPr>
                            <m:num>
                              <m:r>
                                <a:rPr lang="en-US" b="0" i="1" smtClean="0">
                                  <a:latin typeface="Cambria Math"/>
                                </a:rPr>
                                <m:t>1</m:t>
                              </m:r>
                            </m:num>
                            <m:den>
                              <m:r>
                                <a:rPr lang="en-US" b="0" i="1" smtClean="0">
                                  <a:latin typeface="Cambria Math"/>
                                </a:rPr>
                                <m:t>3</m:t>
                              </m:r>
                            </m:den>
                          </m:f>
                        </m:e>
                      </m:d>
                      <m:sSub>
                        <m:sSubPr>
                          <m:ctrlPr>
                            <a:rPr lang="en-US" b="0" i="1" smtClean="0">
                              <a:latin typeface="Cambria Math"/>
                            </a:rPr>
                          </m:ctrlPr>
                        </m:sSubPr>
                        <m:e>
                          <m:r>
                            <a:rPr lang="en-US" b="0" i="1" smtClean="0">
                              <a:latin typeface="Cambria Math"/>
                            </a:rPr>
                            <m:t>𝑠</m:t>
                          </m:r>
                        </m:e>
                        <m:sub>
                          <m:r>
                            <a:rPr lang="en-US" b="0" i="1" smtClean="0">
                              <a:latin typeface="Cambria Math"/>
                            </a:rPr>
                            <m:t>2</m:t>
                          </m:r>
                        </m:sub>
                      </m:sSub>
                      <m:r>
                        <a:rPr lang="en-US" b="0" i="1" smtClean="0">
                          <a:latin typeface="Cambria Math"/>
                        </a:rPr>
                        <m:t>=(0+</m:t>
                      </m:r>
                      <m:f>
                        <m:fPr>
                          <m:ctrlPr>
                            <a:rPr lang="en-US" b="0" i="1" smtClean="0">
                              <a:latin typeface="Cambria Math"/>
                            </a:rPr>
                          </m:ctrlPr>
                        </m:fPr>
                        <m:num>
                          <m:r>
                            <a:rPr lang="en-US" b="0" i="1" smtClean="0">
                              <a:latin typeface="Cambria Math"/>
                            </a:rPr>
                            <m:t>1</m:t>
                          </m:r>
                        </m:num>
                        <m:den>
                          <m:r>
                            <a:rPr lang="en-US" b="0" i="1" smtClean="0">
                              <a:latin typeface="Cambria Math"/>
                            </a:rPr>
                            <m:t>3</m:t>
                          </m:r>
                        </m:den>
                      </m:f>
                      <m:r>
                        <a:rPr lang="en-US" b="0" i="1" smtClean="0">
                          <a:latin typeface="Cambria Math"/>
                        </a:rPr>
                        <m:t>)</m:t>
                      </m:r>
                    </m:oMath>
                  </m:oMathPara>
                </a14:m>
                <a:endParaRPr lang="en-US" b="0" i="1" dirty="0" smtClean="0">
                  <a:latin typeface="Cambria Math"/>
                </a:endParaRPr>
              </a:p>
              <a:p>
                <a:pPr marL="0" indent="0">
                  <a:buNone/>
                </a:pPr>
                <a14:m>
                  <m:oMathPara xmlns:m="http://schemas.openxmlformats.org/officeDocument/2006/math">
                    <m:oMathParaPr>
                      <m:jc m:val="centerGroup"/>
                    </m:oMathParaPr>
                    <m:oMath xmlns:m="http://schemas.openxmlformats.org/officeDocument/2006/math">
                      <m:f>
                        <m:fPr>
                          <m:ctrlPr>
                            <a:rPr lang="en-US" i="1">
                              <a:latin typeface="Cambria Math"/>
                            </a:rPr>
                          </m:ctrlPr>
                        </m:fPr>
                        <m:num>
                          <m:r>
                            <a:rPr lang="en-US" i="1">
                              <a:latin typeface="Cambria Math"/>
                            </a:rPr>
                            <m:t>1</m:t>
                          </m:r>
                        </m:num>
                        <m:den>
                          <m:r>
                            <a:rPr lang="en-US" i="1">
                              <a:latin typeface="Cambria Math"/>
                            </a:rPr>
                            <m:t>3</m:t>
                          </m:r>
                        </m:den>
                      </m:f>
                      <m:sSub>
                        <m:sSubPr>
                          <m:ctrlPr>
                            <a:rPr lang="en-US" i="1">
                              <a:latin typeface="Cambria Math"/>
                            </a:rPr>
                          </m:ctrlPr>
                        </m:sSubPr>
                        <m:e>
                          <m:r>
                            <a:rPr lang="en-US" i="1">
                              <a:latin typeface="Cambria Math"/>
                            </a:rPr>
                            <m:t>𝑠</m:t>
                          </m:r>
                        </m:e>
                        <m:sub>
                          <m:r>
                            <a:rPr lang="en-US" i="1">
                              <a:latin typeface="Cambria Math"/>
                            </a:rPr>
                            <m:t>1</m:t>
                          </m:r>
                        </m:sub>
                      </m:sSub>
                      <m:r>
                        <a:rPr lang="en-US" i="1" smtClean="0">
                          <a:latin typeface="Cambria Math"/>
                        </a:rPr>
                        <m:t>+</m:t>
                      </m:r>
                      <m:f>
                        <m:fPr>
                          <m:ctrlPr>
                            <a:rPr lang="en-US" b="0" i="1" smtClean="0">
                              <a:latin typeface="Cambria Math"/>
                            </a:rPr>
                          </m:ctrlPr>
                        </m:fPr>
                        <m:num>
                          <m:r>
                            <a:rPr lang="en-US" b="0" i="1" smtClean="0">
                              <a:latin typeface="Cambria Math"/>
                            </a:rPr>
                            <m:t>1</m:t>
                          </m:r>
                        </m:num>
                        <m:den>
                          <m:r>
                            <a:rPr lang="en-US" b="0" i="1" smtClean="0">
                              <a:latin typeface="Cambria Math"/>
                            </a:rPr>
                            <m:t>3</m:t>
                          </m:r>
                        </m:den>
                      </m:f>
                      <m:sSub>
                        <m:sSubPr>
                          <m:ctrlPr>
                            <a:rPr lang="en-US" i="1">
                              <a:latin typeface="Cambria Math"/>
                            </a:rPr>
                          </m:ctrlPr>
                        </m:sSubPr>
                        <m:e>
                          <m:r>
                            <a:rPr lang="en-US" i="1">
                              <a:latin typeface="Cambria Math"/>
                            </a:rPr>
                            <m:t>𝑠</m:t>
                          </m:r>
                        </m:e>
                        <m:sub>
                          <m:r>
                            <a:rPr lang="en-US" i="1">
                              <a:latin typeface="Cambria Math"/>
                            </a:rPr>
                            <m:t>2</m:t>
                          </m:r>
                        </m:sub>
                      </m:sSub>
                      <m:r>
                        <a:rPr lang="en-US" i="1">
                          <a:latin typeface="Cambria Math"/>
                        </a:rPr>
                        <m:t>=</m:t>
                      </m:r>
                      <m:f>
                        <m:fPr>
                          <m:ctrlPr>
                            <a:rPr lang="en-US" i="1">
                              <a:latin typeface="Cambria Math"/>
                            </a:rPr>
                          </m:ctrlPr>
                        </m:fPr>
                        <m:num>
                          <m:r>
                            <a:rPr lang="en-US" i="1">
                              <a:latin typeface="Cambria Math"/>
                            </a:rPr>
                            <m:t>1</m:t>
                          </m:r>
                        </m:num>
                        <m:den>
                          <m:r>
                            <a:rPr lang="en-US" i="1">
                              <a:latin typeface="Cambria Math"/>
                            </a:rPr>
                            <m:t>3</m:t>
                          </m:r>
                        </m:den>
                      </m:f>
                      <m:r>
                        <a:rPr lang="en-US" b="0" i="1" smtClean="0">
                          <a:latin typeface="Cambria Math"/>
                        </a:rPr>
                        <m:t>+(</m:t>
                      </m:r>
                      <m:sSub>
                        <m:sSubPr>
                          <m:ctrlPr>
                            <a:rPr lang="en-US" i="1">
                              <a:latin typeface="Cambria Math"/>
                            </a:rPr>
                          </m:ctrlPr>
                        </m:sSubPr>
                        <m:e>
                          <m:r>
                            <a:rPr lang="en-US" i="1">
                              <a:latin typeface="Cambria Math"/>
                            </a:rPr>
                            <m:t>𝑠</m:t>
                          </m:r>
                        </m:e>
                        <m:sub>
                          <m:r>
                            <a:rPr lang="en-US" i="1">
                              <a:latin typeface="Cambria Math"/>
                            </a:rPr>
                            <m:t>2</m:t>
                          </m:r>
                        </m:sub>
                      </m:sSub>
                      <m:r>
                        <a:rPr lang="en-US" b="0" i="1" smtClean="0">
                          <a:latin typeface="Cambria Math"/>
                        </a:rPr>
                        <m:t>−</m:t>
                      </m:r>
                      <m:sSub>
                        <m:sSubPr>
                          <m:ctrlPr>
                            <a:rPr lang="en-US" b="0" i="1" smtClean="0">
                              <a:latin typeface="Cambria Math"/>
                            </a:rPr>
                          </m:ctrlPr>
                        </m:sSubPr>
                        <m:e>
                          <m:r>
                            <a:rPr lang="en-US" b="0" i="1" smtClean="0">
                              <a:latin typeface="Cambria Math"/>
                            </a:rPr>
                            <m:t>𝑥</m:t>
                          </m:r>
                        </m:e>
                        <m:sub>
                          <m:r>
                            <a:rPr lang="en-US" b="0" i="1" smtClean="0">
                              <a:latin typeface="Cambria Math"/>
                            </a:rPr>
                            <m:t>1</m:t>
                          </m:r>
                        </m:sub>
                      </m:sSub>
                      <m:r>
                        <a:rPr lang="en-US" b="0" i="1" smtClean="0">
                          <a:latin typeface="Cambria Math"/>
                        </a:rPr>
                        <m:t>)</m:t>
                      </m:r>
                    </m:oMath>
                    <m:oMath xmlns:m="http://schemas.openxmlformats.org/officeDocument/2006/math">
                      <m:f>
                        <m:fPr>
                          <m:ctrlPr>
                            <a:rPr lang="en-US" b="0" i="1" smtClean="0">
                              <a:latin typeface="Cambria Math"/>
                            </a:rPr>
                          </m:ctrlPr>
                        </m:fPr>
                        <m:num>
                          <m:r>
                            <a:rPr lang="en-US" b="0" i="1" smtClean="0">
                              <a:latin typeface="Cambria Math"/>
                            </a:rPr>
                            <m:t>1</m:t>
                          </m:r>
                        </m:num>
                        <m:den>
                          <m:r>
                            <a:rPr lang="en-US" b="0" i="1" smtClean="0">
                              <a:latin typeface="Cambria Math"/>
                            </a:rPr>
                            <m:t>3</m:t>
                          </m:r>
                        </m:den>
                      </m:f>
                      <m:sSub>
                        <m:sSubPr>
                          <m:ctrlPr>
                            <a:rPr lang="en-US" b="0" i="1" smtClean="0">
                              <a:latin typeface="Cambria Math"/>
                            </a:rPr>
                          </m:ctrlPr>
                        </m:sSubPr>
                        <m:e>
                          <m:r>
                            <a:rPr lang="en-US" b="0" i="1" smtClean="0">
                              <a:latin typeface="Cambria Math"/>
                            </a:rPr>
                            <m:t>𝑠</m:t>
                          </m:r>
                        </m:e>
                        <m:sub>
                          <m:r>
                            <a:rPr lang="en-US" b="0" i="1" smtClean="0">
                              <a:latin typeface="Cambria Math"/>
                            </a:rPr>
                            <m:t>1</m:t>
                          </m:r>
                        </m:sub>
                      </m:sSub>
                      <m:r>
                        <a:rPr lang="en-US" b="0" i="1" smtClean="0">
                          <a:latin typeface="Cambria Math"/>
                        </a:rPr>
                        <m:t>+</m:t>
                      </m:r>
                      <m:f>
                        <m:fPr>
                          <m:ctrlPr>
                            <a:rPr lang="en-US" b="0" i="1" smtClean="0">
                              <a:latin typeface="Cambria Math"/>
                            </a:rPr>
                          </m:ctrlPr>
                        </m:fPr>
                        <m:num>
                          <m:r>
                            <a:rPr lang="en-US" b="0" i="1" smtClean="0">
                              <a:latin typeface="Cambria Math"/>
                            </a:rPr>
                            <m:t>1</m:t>
                          </m:r>
                        </m:num>
                        <m:den>
                          <m:r>
                            <a:rPr lang="en-US" b="0" i="1" smtClean="0">
                              <a:latin typeface="Cambria Math"/>
                            </a:rPr>
                            <m:t>3</m:t>
                          </m:r>
                        </m:den>
                      </m:f>
                      <m:sSub>
                        <m:sSubPr>
                          <m:ctrlPr>
                            <a:rPr lang="en-US" b="0" i="1" smtClean="0">
                              <a:latin typeface="Cambria Math"/>
                            </a:rPr>
                          </m:ctrlPr>
                        </m:sSubPr>
                        <m:e>
                          <m:r>
                            <a:rPr lang="en-US" b="0" i="1" smtClean="0">
                              <a:latin typeface="Cambria Math"/>
                            </a:rPr>
                            <m:t>𝑠</m:t>
                          </m:r>
                        </m:e>
                        <m:sub>
                          <m:r>
                            <a:rPr lang="en-US" b="0" i="1" smtClean="0">
                              <a:latin typeface="Cambria Math"/>
                            </a:rPr>
                            <m:t>2</m:t>
                          </m:r>
                        </m:sub>
                      </m:sSub>
                      <m:r>
                        <a:rPr lang="en-US" b="0" i="1" smtClean="0">
                          <a:latin typeface="Cambria Math"/>
                        </a:rPr>
                        <m:t>≥</m:t>
                      </m:r>
                      <m:f>
                        <m:fPr>
                          <m:ctrlPr>
                            <a:rPr lang="en-US" b="0" i="1" smtClean="0">
                              <a:latin typeface="Cambria Math"/>
                            </a:rPr>
                          </m:ctrlPr>
                        </m:fPr>
                        <m:num>
                          <m:r>
                            <a:rPr lang="en-US" b="0" i="1" smtClean="0">
                              <a:latin typeface="Cambria Math"/>
                            </a:rPr>
                            <m:t>1</m:t>
                          </m:r>
                        </m:num>
                        <m:den>
                          <m:r>
                            <a:rPr lang="en-US" b="0" i="1" smtClean="0">
                              <a:latin typeface="Cambria Math"/>
                            </a:rPr>
                            <m:t>3</m:t>
                          </m:r>
                        </m:den>
                      </m:f>
                    </m:oMath>
                    <m:oMath xmlns:m="http://schemas.openxmlformats.org/officeDocument/2006/math">
                      <m:r>
                        <a:rPr lang="en-US" b="0" i="1" smtClean="0">
                          <a:latin typeface="Cambria Math"/>
                        </a:rPr>
                        <m:t>−</m:t>
                      </m:r>
                      <m:f>
                        <m:fPr>
                          <m:ctrlPr>
                            <a:rPr lang="en-US" b="0" i="1" smtClean="0">
                              <a:latin typeface="Cambria Math"/>
                            </a:rPr>
                          </m:ctrlPr>
                        </m:fPr>
                        <m:num>
                          <m:r>
                            <a:rPr lang="en-US" b="0" i="1" smtClean="0">
                              <a:latin typeface="Cambria Math"/>
                            </a:rPr>
                            <m:t>1</m:t>
                          </m:r>
                        </m:num>
                        <m:den>
                          <m:r>
                            <a:rPr lang="en-US" b="0" i="1" smtClean="0">
                              <a:latin typeface="Cambria Math"/>
                            </a:rPr>
                            <m:t>3</m:t>
                          </m:r>
                        </m:den>
                      </m:f>
                      <m:sSub>
                        <m:sSubPr>
                          <m:ctrlPr>
                            <a:rPr lang="en-US" b="0" i="1" smtClean="0">
                              <a:latin typeface="Cambria Math"/>
                            </a:rPr>
                          </m:ctrlPr>
                        </m:sSubPr>
                        <m:e>
                          <m:r>
                            <a:rPr lang="en-US" b="0" i="1" smtClean="0">
                              <a:latin typeface="Cambria Math"/>
                            </a:rPr>
                            <m:t>𝑠</m:t>
                          </m:r>
                        </m:e>
                        <m:sub>
                          <m:r>
                            <a:rPr lang="en-US" b="0" i="1" smtClean="0">
                              <a:latin typeface="Cambria Math"/>
                            </a:rPr>
                            <m:t>1</m:t>
                          </m:r>
                        </m:sub>
                      </m:sSub>
                      <m:r>
                        <a:rPr lang="en-US" b="0" i="1" smtClean="0">
                          <a:latin typeface="Cambria Math"/>
                        </a:rPr>
                        <m:t>−</m:t>
                      </m:r>
                      <m:f>
                        <m:fPr>
                          <m:ctrlPr>
                            <a:rPr lang="en-US" b="0" i="1" smtClean="0">
                              <a:latin typeface="Cambria Math"/>
                            </a:rPr>
                          </m:ctrlPr>
                        </m:fPr>
                        <m:num>
                          <m:r>
                            <a:rPr lang="en-US" b="0" i="1" smtClean="0">
                              <a:latin typeface="Cambria Math"/>
                            </a:rPr>
                            <m:t>1</m:t>
                          </m:r>
                        </m:num>
                        <m:den>
                          <m:r>
                            <a:rPr lang="en-US" b="0" i="1" smtClean="0">
                              <a:latin typeface="Cambria Math"/>
                            </a:rPr>
                            <m:t>3</m:t>
                          </m:r>
                        </m:den>
                      </m:f>
                      <m:sSub>
                        <m:sSubPr>
                          <m:ctrlPr>
                            <a:rPr lang="en-US" b="0" i="1" smtClean="0">
                              <a:latin typeface="Cambria Math"/>
                            </a:rPr>
                          </m:ctrlPr>
                        </m:sSubPr>
                        <m:e>
                          <m:r>
                            <a:rPr lang="en-US" b="0" i="1" smtClean="0">
                              <a:latin typeface="Cambria Math"/>
                            </a:rPr>
                            <m:t>𝑠</m:t>
                          </m:r>
                        </m:e>
                        <m:sub>
                          <m:r>
                            <a:rPr lang="en-US" b="0" i="1" smtClean="0">
                              <a:latin typeface="Cambria Math"/>
                            </a:rPr>
                            <m:t>2</m:t>
                          </m:r>
                        </m:sub>
                      </m:sSub>
                      <m:r>
                        <a:rPr lang="en-US" b="0" i="1" smtClean="0">
                          <a:latin typeface="Cambria Math"/>
                        </a:rPr>
                        <m:t>≤−</m:t>
                      </m:r>
                      <m:f>
                        <m:fPr>
                          <m:ctrlPr>
                            <a:rPr lang="en-US" b="0" i="1" smtClean="0">
                              <a:latin typeface="Cambria Math"/>
                            </a:rPr>
                          </m:ctrlPr>
                        </m:fPr>
                        <m:num>
                          <m:r>
                            <a:rPr lang="en-US" b="0" i="1" smtClean="0">
                              <a:latin typeface="Cambria Math"/>
                            </a:rPr>
                            <m:t>1</m:t>
                          </m:r>
                        </m:num>
                        <m:den>
                          <m:r>
                            <a:rPr lang="en-US" b="0" i="1" smtClean="0">
                              <a:latin typeface="Cambria Math"/>
                            </a:rPr>
                            <m:t>3</m:t>
                          </m:r>
                        </m:den>
                      </m:f>
                    </m:oMath>
                    <m:oMath xmlns:m="http://schemas.openxmlformats.org/officeDocument/2006/math">
                      <m:r>
                        <a:rPr lang="en-US" b="0" i="1" smtClean="0">
                          <a:latin typeface="Cambria Math"/>
                        </a:rPr>
                        <m:t>−</m:t>
                      </m:r>
                      <m:f>
                        <m:fPr>
                          <m:ctrlPr>
                            <a:rPr lang="en-US" b="0" i="1" smtClean="0">
                              <a:latin typeface="Cambria Math"/>
                            </a:rPr>
                          </m:ctrlPr>
                        </m:fPr>
                        <m:num>
                          <m:r>
                            <a:rPr lang="en-US" b="0" i="1" smtClean="0">
                              <a:latin typeface="Cambria Math"/>
                            </a:rPr>
                            <m:t>1</m:t>
                          </m:r>
                        </m:num>
                        <m:den>
                          <m:r>
                            <a:rPr lang="en-US" b="0" i="1" smtClean="0">
                              <a:latin typeface="Cambria Math"/>
                            </a:rPr>
                            <m:t>3</m:t>
                          </m:r>
                        </m:den>
                      </m:f>
                      <m:sSub>
                        <m:sSubPr>
                          <m:ctrlPr>
                            <a:rPr lang="en-US" b="0" i="1" smtClean="0">
                              <a:latin typeface="Cambria Math"/>
                            </a:rPr>
                          </m:ctrlPr>
                        </m:sSubPr>
                        <m:e>
                          <m:r>
                            <a:rPr lang="en-US" b="0" i="1" smtClean="0">
                              <a:latin typeface="Cambria Math"/>
                            </a:rPr>
                            <m:t>𝑠</m:t>
                          </m:r>
                        </m:e>
                        <m:sub>
                          <m:r>
                            <a:rPr lang="en-US" b="0" i="1" smtClean="0">
                              <a:latin typeface="Cambria Math"/>
                            </a:rPr>
                            <m:t>1</m:t>
                          </m:r>
                        </m:sub>
                      </m:sSub>
                      <m:r>
                        <a:rPr lang="en-US" b="0" i="1" smtClean="0">
                          <a:latin typeface="Cambria Math"/>
                        </a:rPr>
                        <m:t>−</m:t>
                      </m:r>
                      <m:f>
                        <m:fPr>
                          <m:ctrlPr>
                            <a:rPr lang="en-US" b="0" i="1" smtClean="0">
                              <a:latin typeface="Cambria Math"/>
                            </a:rPr>
                          </m:ctrlPr>
                        </m:fPr>
                        <m:num>
                          <m:r>
                            <a:rPr lang="en-US" b="0" i="1" smtClean="0">
                              <a:latin typeface="Cambria Math"/>
                            </a:rPr>
                            <m:t>1</m:t>
                          </m:r>
                        </m:num>
                        <m:den>
                          <m:r>
                            <a:rPr lang="en-US" b="0" i="1" smtClean="0">
                              <a:latin typeface="Cambria Math"/>
                            </a:rPr>
                            <m:t>3</m:t>
                          </m:r>
                        </m:den>
                      </m:f>
                      <m:sSub>
                        <m:sSubPr>
                          <m:ctrlPr>
                            <a:rPr lang="en-US" b="0" i="1" smtClean="0">
                              <a:latin typeface="Cambria Math"/>
                            </a:rPr>
                          </m:ctrlPr>
                        </m:sSubPr>
                        <m:e>
                          <m:r>
                            <a:rPr lang="en-US" b="0" i="1" smtClean="0">
                              <a:latin typeface="Cambria Math"/>
                            </a:rPr>
                            <m:t>𝑠</m:t>
                          </m:r>
                        </m:e>
                        <m:sub>
                          <m:r>
                            <a:rPr lang="en-US" b="0" i="1" smtClean="0">
                              <a:latin typeface="Cambria Math"/>
                            </a:rPr>
                            <m:t>2</m:t>
                          </m:r>
                        </m:sub>
                      </m:sSub>
                      <m:r>
                        <a:rPr lang="en-US" b="0" i="1" smtClean="0">
                          <a:latin typeface="Cambria Math"/>
                        </a:rPr>
                        <m:t>+</m:t>
                      </m:r>
                      <m:sSub>
                        <m:sSubPr>
                          <m:ctrlPr>
                            <a:rPr lang="en-US" b="0" i="1" smtClean="0">
                              <a:latin typeface="Cambria Math"/>
                            </a:rPr>
                          </m:ctrlPr>
                        </m:sSubPr>
                        <m:e>
                          <m:r>
                            <a:rPr lang="en-US" b="0" i="1" smtClean="0">
                              <a:latin typeface="Cambria Math"/>
                            </a:rPr>
                            <m:t>𝐺</m:t>
                          </m:r>
                        </m:e>
                        <m:sub>
                          <m:r>
                            <a:rPr lang="en-US" b="0" i="1" smtClean="0">
                              <a:latin typeface="Cambria Math"/>
                            </a:rPr>
                            <m:t>1</m:t>
                          </m:r>
                        </m:sub>
                      </m:sSub>
                      <m:r>
                        <a:rPr lang="en-US" b="0" i="1" smtClean="0">
                          <a:latin typeface="Cambria Math"/>
                        </a:rPr>
                        <m:t>=</m:t>
                      </m:r>
                      <m:f>
                        <m:fPr>
                          <m:ctrlPr>
                            <a:rPr lang="en-US" b="0" i="1" smtClean="0">
                              <a:latin typeface="Cambria Math"/>
                            </a:rPr>
                          </m:ctrlPr>
                        </m:fPr>
                        <m:num>
                          <m:r>
                            <a:rPr lang="en-US" b="0" i="1" smtClean="0">
                              <a:latin typeface="Cambria Math"/>
                            </a:rPr>
                            <m:t>−1</m:t>
                          </m:r>
                        </m:num>
                        <m:den>
                          <m:r>
                            <a:rPr lang="en-US" b="0" i="1" smtClean="0">
                              <a:latin typeface="Cambria Math"/>
                            </a:rPr>
                            <m:t>3</m:t>
                          </m:r>
                        </m:den>
                      </m:f>
                    </m:oMath>
                  </m:oMathPara>
                </a14:m>
                <a:endParaRPr lang="en-US" b="0" dirty="0" smtClean="0"/>
              </a:p>
              <a:p>
                <a:pPr marL="0" indent="0">
                  <a:buNone/>
                </a:pPr>
                <a:r>
                  <a:rPr lang="en-US" sz="1900" dirty="0" smtClean="0">
                    <a:effectLst/>
                    <a:latin typeface="Arial" pitchFamily="34" charset="0"/>
                    <a:cs typeface="Arial" pitchFamily="34" charset="0"/>
                  </a:rPr>
                  <a:t>Adding this </a:t>
                </a:r>
                <a:r>
                  <a:rPr lang="en-US" sz="1900" dirty="0" err="1" smtClean="0">
                    <a:effectLst/>
                    <a:latin typeface="Arial" pitchFamily="34" charset="0"/>
                    <a:cs typeface="Arial" pitchFamily="34" charset="0"/>
                  </a:rPr>
                  <a:t>Gomory’s</a:t>
                </a:r>
                <a:r>
                  <a:rPr lang="en-US" sz="1900" dirty="0" smtClean="0">
                    <a:effectLst/>
                    <a:latin typeface="Arial" pitchFamily="34" charset="0"/>
                    <a:cs typeface="Arial" pitchFamily="34" charset="0"/>
                  </a:rPr>
                  <a:t> constraint at the bottom of optimal Simplex table.</a:t>
                </a:r>
                <a:endParaRPr lang="en-US" sz="1900" b="0" dirty="0" smtClean="0">
                  <a:effectLst/>
                  <a:latin typeface="Arial" pitchFamily="34" charset="0"/>
                  <a:cs typeface="Arial"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43000" y="990600"/>
                <a:ext cx="7429499" cy="5638800"/>
              </a:xfrm>
              <a:blipFill rotWithShape="1">
                <a:blip r:embed="rId2"/>
                <a:stretch>
                  <a:fillRect l="-739" t="-649" r="-739" b="-1081"/>
                </a:stretch>
              </a:blipFill>
            </p:spPr>
            <p:txBody>
              <a:bodyPr/>
              <a:lstStyle/>
              <a:p>
                <a:r>
                  <a:rPr lang="en-GB">
                    <a:noFill/>
                  </a:rPr>
                  <a:t> </a:t>
                </a:r>
              </a:p>
            </p:txBody>
          </p:sp>
        </mc:Fallback>
      </mc:AlternateContent>
    </p:spTree>
    <p:extLst>
      <p:ext uri="{BB962C8B-B14F-4D97-AF65-F5344CB8AC3E}">
        <p14:creationId xmlns:p14="http://schemas.microsoft.com/office/powerpoint/2010/main" val="11291039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4288552925"/>
                  </p:ext>
                </p:extLst>
              </p:nvPr>
            </p:nvGraphicFramePr>
            <p:xfrm>
              <a:off x="1676400" y="838200"/>
              <a:ext cx="5225143" cy="1854200"/>
            </p:xfrm>
            <a:graphic>
              <a:graphicData uri="http://schemas.openxmlformats.org/drawingml/2006/table">
                <a:tbl>
                  <a:tblPr firstRow="1" bandRow="1">
                    <a:tableStyleId>{5940675A-B579-460E-94D1-54222C63F5DA}</a:tableStyleId>
                  </a:tblPr>
                  <a:tblGrid>
                    <a:gridCol w="746449"/>
                    <a:gridCol w="746449"/>
                    <a:gridCol w="746449"/>
                    <a:gridCol w="746449"/>
                    <a:gridCol w="746449"/>
                    <a:gridCol w="746449"/>
                    <a:gridCol w="746449"/>
                  </a:tblGrid>
                  <a:tr h="370840">
                    <a:tc>
                      <a:txBody>
                        <a:bodyPr/>
                        <a:lstStyle/>
                        <a:p>
                          <a:pPr algn="ctr"/>
                          <a:r>
                            <a:rPr lang="en-US" dirty="0" smtClean="0"/>
                            <a:t>B.V</a:t>
                          </a:r>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i="1" dirty="0" smtClean="0">
                                        <a:latin typeface="Cambria Math"/>
                                      </a:rPr>
                                      <m:t>𝑥</m:t>
                                    </m:r>
                                  </m:e>
                                  <m:sub>
                                    <m:r>
                                      <a:rPr lang="en-US" i="1" dirty="0" smtClean="0">
                                        <a:latin typeface="Cambria Math"/>
                                      </a:rPr>
                                      <m:t>1</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b="0" i="1" dirty="0" smtClean="0">
                                        <a:latin typeface="Cambria Math"/>
                                      </a:rPr>
                                      <m:t>𝑥</m:t>
                                    </m:r>
                                  </m:e>
                                  <m:sub>
                                    <m:r>
                                      <a:rPr lang="en-US" i="1" dirty="0" smtClean="0">
                                        <a:latin typeface="Cambria Math"/>
                                      </a:rPr>
                                      <m:t>2</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i="1" dirty="0" smtClean="0">
                                        <a:latin typeface="Cambria Math"/>
                                      </a:rPr>
                                      <m:t>𝑆</m:t>
                                    </m:r>
                                  </m:e>
                                  <m:sub>
                                    <m:r>
                                      <a:rPr lang="en-US" i="1" dirty="0" smtClean="0">
                                        <a:latin typeface="Cambria Math"/>
                                      </a:rPr>
                                      <m:t>1</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i="1" dirty="0" smtClean="0">
                                        <a:latin typeface="Cambria Math"/>
                                      </a:rPr>
                                      <m:t>𝑆</m:t>
                                    </m:r>
                                  </m:e>
                                  <m:sub>
                                    <m:r>
                                      <a:rPr lang="en-US" i="1" dirty="0" smtClean="0">
                                        <a:latin typeface="Cambria Math"/>
                                      </a:rPr>
                                      <m:t>2</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a:rPr>
                                    </m:ctrlPr>
                                  </m:sSubPr>
                                  <m:e>
                                    <m:r>
                                      <a:rPr lang="en-US" b="0" i="1" smtClean="0">
                                        <a:latin typeface="Cambria Math"/>
                                      </a:rPr>
                                      <m:t>𝐺</m:t>
                                    </m:r>
                                  </m:e>
                                  <m:sub>
                                    <m:r>
                                      <a:rPr lang="en-US" b="0" i="1" smtClean="0">
                                        <a:latin typeface="Cambria Math"/>
                                      </a:rPr>
                                      <m:t>1</m:t>
                                    </m:r>
                                  </m:sub>
                                </m:sSub>
                              </m:oMath>
                            </m:oMathPara>
                          </a14:m>
                          <a:endParaRPr lang="en-GB" dirty="0"/>
                        </a:p>
                      </a:txBody>
                      <a:tcPr/>
                    </a:tc>
                    <a:tc>
                      <a:txBody>
                        <a:bodyPr/>
                        <a:lstStyle/>
                        <a:p>
                          <a:r>
                            <a:rPr lang="en-US" dirty="0" smtClean="0"/>
                            <a:t>sol</a:t>
                          </a:r>
                          <a:endParaRPr lang="en-GB" dirty="0"/>
                        </a:p>
                      </a:txBody>
                      <a:tcPr/>
                    </a:tc>
                  </a:tr>
                  <a:tr h="370840">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a:rPr>
                                  <m:t>𝑧</m:t>
                                </m:r>
                              </m:oMath>
                            </m:oMathPara>
                          </a14:m>
                          <a:endParaRPr lang="en-GB" dirty="0"/>
                        </a:p>
                      </a:txBody>
                      <a:tcPr/>
                    </a:tc>
                    <a:tc>
                      <a:txBody>
                        <a:bodyPr/>
                        <a:lstStyle/>
                        <a:p>
                          <a:pPr algn="ctr"/>
                          <a:r>
                            <a:rPr lang="en-US" dirty="0" smtClean="0"/>
                            <a:t>0</a:t>
                          </a:r>
                          <a:endParaRPr lang="en-GB" dirty="0"/>
                        </a:p>
                      </a:txBody>
                      <a:tcPr/>
                    </a:tc>
                    <a:tc>
                      <a:txBody>
                        <a:bodyPr/>
                        <a:lstStyle/>
                        <a:p>
                          <a:pPr algn="ctr"/>
                          <a:r>
                            <a:rPr lang="en-US" dirty="0" smtClean="0"/>
                            <a:t>0</a:t>
                          </a:r>
                          <a:endParaRPr lang="en-GB" dirty="0"/>
                        </a:p>
                      </a:txBody>
                      <a:tcPr/>
                    </a:tc>
                    <a:tc>
                      <a:txBody>
                        <a:bodyPr/>
                        <a:lstStyle/>
                        <a:p>
                          <a:pPr algn="ctr"/>
                          <a:r>
                            <a:rPr lang="en-US" dirty="0" smtClean="0"/>
                            <a:t>1/3</a:t>
                          </a:r>
                          <a:endParaRPr lang="en-GB" dirty="0"/>
                        </a:p>
                      </a:txBody>
                      <a:tcPr/>
                    </a:tc>
                    <a:tc>
                      <a:txBody>
                        <a:bodyPr/>
                        <a:lstStyle/>
                        <a:p>
                          <a:pPr algn="ctr"/>
                          <a:r>
                            <a:rPr lang="en-US" dirty="0" smtClean="0"/>
                            <a:t>1/3</a:t>
                          </a:r>
                          <a:endParaRPr lang="en-GB" dirty="0"/>
                        </a:p>
                      </a:txBody>
                      <a:tcPr/>
                    </a:tc>
                    <a:tc>
                      <a:txBody>
                        <a:bodyPr/>
                        <a:lstStyle/>
                        <a:p>
                          <a:pPr algn="ctr"/>
                          <a:r>
                            <a:rPr lang="en-US" dirty="0" smtClean="0"/>
                            <a:t>0</a:t>
                          </a:r>
                          <a:endParaRPr lang="en-GB" dirty="0"/>
                        </a:p>
                      </a:txBody>
                      <a:tcPr/>
                    </a:tc>
                    <a:tc>
                      <a:txBody>
                        <a:bodyPr/>
                        <a:lstStyle/>
                        <a:p>
                          <a:pPr algn="ctr"/>
                          <a:r>
                            <a:rPr lang="en-US" dirty="0" smtClean="0"/>
                            <a:t>7/3</a:t>
                          </a:r>
                          <a:endParaRPr lang="en-GB" dirty="0"/>
                        </a:p>
                      </a:txBody>
                      <a:tcPr/>
                    </a:tc>
                  </a:tr>
                  <a:tr h="370840">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b="0" i="1" dirty="0" smtClean="0">
                                        <a:latin typeface="Cambria Math"/>
                                      </a:rPr>
                                      <m:t>𝑥</m:t>
                                    </m:r>
                                  </m:e>
                                  <m:sub>
                                    <m:r>
                                      <a:rPr lang="en-US" i="1" dirty="0" smtClean="0">
                                        <a:latin typeface="Cambria Math"/>
                                      </a:rPr>
                                      <m:t>1</m:t>
                                    </m:r>
                                  </m:sub>
                                </m:sSub>
                              </m:oMath>
                            </m:oMathPara>
                          </a14:m>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1/3</a:t>
                          </a:r>
                          <a:endParaRPr lang="en-GB" dirty="0"/>
                        </a:p>
                      </a:txBody>
                      <a:tcPr/>
                    </a:tc>
                    <a:tc>
                      <a:txBody>
                        <a:bodyPr/>
                        <a:lstStyle/>
                        <a:p>
                          <a:pPr algn="ctr"/>
                          <a:r>
                            <a:rPr lang="en-US" dirty="0" smtClean="0"/>
                            <a:t>-2/3</a:t>
                          </a:r>
                          <a:endParaRPr lang="en-GB" dirty="0"/>
                        </a:p>
                      </a:txBody>
                      <a:tcPr/>
                    </a:tc>
                    <a:tc>
                      <a:txBody>
                        <a:bodyPr/>
                        <a:lstStyle/>
                        <a:p>
                          <a:pPr algn="ctr"/>
                          <a:r>
                            <a:rPr lang="en-US" dirty="0" smtClean="0"/>
                            <a:t>0</a:t>
                          </a:r>
                          <a:endParaRPr lang="en-GB" dirty="0"/>
                        </a:p>
                      </a:txBody>
                      <a:tcPr/>
                    </a:tc>
                    <a:tc>
                      <a:txBody>
                        <a:bodyPr/>
                        <a:lstStyle/>
                        <a:p>
                          <a:pPr algn="ctr"/>
                          <a:r>
                            <a:rPr lang="en-US" dirty="0" smtClean="0"/>
                            <a:t>1/3</a:t>
                          </a:r>
                          <a:endParaRPr lang="en-GB" dirty="0"/>
                        </a:p>
                      </a:txBody>
                      <a:tcPr/>
                    </a:tc>
                  </a:tr>
                  <a:tr h="370840">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b="0" i="1" dirty="0" smtClean="0">
                                        <a:latin typeface="Cambria Math"/>
                                      </a:rPr>
                                      <m:t>𝑥</m:t>
                                    </m:r>
                                  </m:e>
                                  <m:sub>
                                    <m:r>
                                      <a:rPr lang="en-US" i="1" dirty="0" smtClean="0">
                                        <a:latin typeface="Cambria Math"/>
                                      </a:rPr>
                                      <m:t>2</m:t>
                                    </m:r>
                                  </m:sub>
                                </m:sSub>
                              </m:oMath>
                            </m:oMathPara>
                          </a14:m>
                          <a:endParaRPr lang="en-GB" dirty="0"/>
                        </a:p>
                      </a:txBody>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2</a:t>
                          </a:r>
                          <a:endParaRPr lang="en-GB" dirty="0"/>
                        </a:p>
                      </a:txBody>
                      <a:tcPr/>
                    </a:tc>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a:rPr>
                                    </m:ctrlPr>
                                  </m:sSubPr>
                                  <m:e>
                                    <m:r>
                                      <a:rPr lang="en-US" b="0" i="1" smtClean="0">
                                        <a:latin typeface="Cambria Math"/>
                                      </a:rPr>
                                      <m:t>𝐺</m:t>
                                    </m:r>
                                  </m:e>
                                  <m:sub>
                                    <m:r>
                                      <a:rPr lang="en-US" b="0" i="1" smtClean="0">
                                        <a:latin typeface="Cambria Math"/>
                                      </a:rPr>
                                      <m:t>1</m:t>
                                    </m:r>
                                  </m:sub>
                                </m:sSub>
                              </m:oMath>
                            </m:oMathPara>
                          </a14:m>
                          <a:endParaRPr lang="en-GB" dirty="0"/>
                        </a:p>
                      </a:txBody>
                      <a:tcPr/>
                    </a:tc>
                    <a:tc>
                      <a:txBody>
                        <a:bodyPr/>
                        <a:lstStyle/>
                        <a:p>
                          <a:pPr algn="ctr"/>
                          <a:r>
                            <a:rPr lang="en-US" dirty="0" smtClean="0"/>
                            <a:t>0</a:t>
                          </a:r>
                          <a:endParaRPr lang="en-GB" dirty="0"/>
                        </a:p>
                      </a:txBody>
                      <a:tcPr/>
                    </a:tc>
                    <a:tc>
                      <a:txBody>
                        <a:bodyPr/>
                        <a:lstStyle/>
                        <a:p>
                          <a:pPr algn="ctr"/>
                          <a:r>
                            <a:rPr lang="en-US" dirty="0" smtClean="0"/>
                            <a:t>0</a:t>
                          </a:r>
                          <a:endParaRPr lang="en-GB" dirty="0"/>
                        </a:p>
                      </a:txBody>
                      <a:tcPr/>
                    </a:tc>
                    <a:tc>
                      <a:txBody>
                        <a:bodyPr/>
                        <a:lstStyle/>
                        <a:p>
                          <a:pPr algn="ctr"/>
                          <a:r>
                            <a:rPr lang="en-US" dirty="0" smtClean="0"/>
                            <a:t>-1/3</a:t>
                          </a:r>
                          <a:endParaRPr lang="en-GB" dirty="0"/>
                        </a:p>
                      </a:txBody>
                      <a:tcPr/>
                    </a:tc>
                    <a:tc>
                      <a:txBody>
                        <a:bodyPr/>
                        <a:lstStyle/>
                        <a:p>
                          <a:pPr algn="ctr"/>
                          <a:r>
                            <a:rPr lang="en-US" dirty="0" smtClean="0"/>
                            <a:t>-1/3</a:t>
                          </a:r>
                          <a:endParaRPr lang="en-GB" dirty="0"/>
                        </a:p>
                      </a:txBody>
                      <a:tcPr/>
                    </a:tc>
                    <a:tc>
                      <a:txBody>
                        <a:bodyPr/>
                        <a:lstStyle/>
                        <a:p>
                          <a:pPr algn="ctr"/>
                          <a:r>
                            <a:rPr lang="en-US" dirty="0" smtClean="0"/>
                            <a:t>1</a:t>
                          </a:r>
                          <a:endParaRPr lang="en-GB" dirty="0"/>
                        </a:p>
                      </a:txBody>
                      <a:tcPr/>
                    </a:tc>
                    <a:tc>
                      <a:txBody>
                        <a:bodyPr/>
                        <a:lstStyle/>
                        <a:p>
                          <a:pPr algn="ctr"/>
                          <a:r>
                            <a:rPr lang="en-US" dirty="0" smtClean="0">
                              <a:solidFill>
                                <a:srgbClr val="C00000"/>
                              </a:solidFill>
                            </a:rPr>
                            <a:t>-1/3</a:t>
                          </a:r>
                          <a:endParaRPr lang="en-GB" dirty="0">
                            <a:solidFill>
                              <a:srgbClr val="C00000"/>
                            </a:solidFill>
                          </a:endParaRPr>
                        </a:p>
                      </a:txBody>
                      <a:tcPr/>
                    </a:tc>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4288552925"/>
                  </p:ext>
                </p:extLst>
              </p:nvPr>
            </p:nvGraphicFramePr>
            <p:xfrm>
              <a:off x="1676400" y="838200"/>
              <a:ext cx="5225143" cy="1854200"/>
            </p:xfrm>
            <a:graphic>
              <a:graphicData uri="http://schemas.openxmlformats.org/drawingml/2006/table">
                <a:tbl>
                  <a:tblPr firstRow="1" bandRow="1">
                    <a:tableStyleId>{5940675A-B579-460E-94D1-54222C63F5DA}</a:tableStyleId>
                  </a:tblPr>
                  <a:tblGrid>
                    <a:gridCol w="746449"/>
                    <a:gridCol w="746449"/>
                    <a:gridCol w="746449"/>
                    <a:gridCol w="746449"/>
                    <a:gridCol w="746449"/>
                    <a:gridCol w="746449"/>
                    <a:gridCol w="746449"/>
                  </a:tblGrid>
                  <a:tr h="370840">
                    <a:tc>
                      <a:txBody>
                        <a:bodyPr/>
                        <a:lstStyle/>
                        <a:p>
                          <a:pPr algn="ctr"/>
                          <a:r>
                            <a:rPr lang="en-US" dirty="0" smtClean="0"/>
                            <a:t>B.V</a:t>
                          </a:r>
                          <a:endParaRPr lang="en-GB" dirty="0"/>
                        </a:p>
                      </a:txBody>
                      <a:tcPr/>
                    </a:tc>
                    <a:tc>
                      <a:txBody>
                        <a:bodyPr/>
                        <a:lstStyle/>
                        <a:p>
                          <a:endParaRPr lang="en-US"/>
                        </a:p>
                      </a:txBody>
                      <a:tcPr>
                        <a:blipFill rotWithShape="1">
                          <a:blip r:embed="rId2"/>
                          <a:stretch>
                            <a:fillRect l="-99187" t="-8197" r="-498374" b="-422951"/>
                          </a:stretch>
                        </a:blipFill>
                      </a:tcPr>
                    </a:tc>
                    <a:tc>
                      <a:txBody>
                        <a:bodyPr/>
                        <a:lstStyle/>
                        <a:p>
                          <a:endParaRPr lang="en-US"/>
                        </a:p>
                      </a:txBody>
                      <a:tcPr>
                        <a:blipFill rotWithShape="1">
                          <a:blip r:embed="rId2"/>
                          <a:stretch>
                            <a:fillRect l="-200820" t="-8197" r="-402459" b="-422951"/>
                          </a:stretch>
                        </a:blipFill>
                      </a:tcPr>
                    </a:tc>
                    <a:tc>
                      <a:txBody>
                        <a:bodyPr/>
                        <a:lstStyle/>
                        <a:p>
                          <a:endParaRPr lang="en-US"/>
                        </a:p>
                      </a:txBody>
                      <a:tcPr>
                        <a:blipFill rotWithShape="1">
                          <a:blip r:embed="rId2"/>
                          <a:stretch>
                            <a:fillRect l="-298374" t="-8197" r="-299187" b="-422951"/>
                          </a:stretch>
                        </a:blipFill>
                      </a:tcPr>
                    </a:tc>
                    <a:tc>
                      <a:txBody>
                        <a:bodyPr/>
                        <a:lstStyle/>
                        <a:p>
                          <a:endParaRPr lang="en-US"/>
                        </a:p>
                      </a:txBody>
                      <a:tcPr>
                        <a:blipFill rotWithShape="1">
                          <a:blip r:embed="rId2"/>
                          <a:stretch>
                            <a:fillRect l="-401639" t="-8197" r="-201639" b="-422951"/>
                          </a:stretch>
                        </a:blipFill>
                      </a:tcPr>
                    </a:tc>
                    <a:tc>
                      <a:txBody>
                        <a:bodyPr/>
                        <a:lstStyle/>
                        <a:p>
                          <a:endParaRPr lang="en-US"/>
                        </a:p>
                      </a:txBody>
                      <a:tcPr>
                        <a:blipFill rotWithShape="1">
                          <a:blip r:embed="rId2"/>
                          <a:stretch>
                            <a:fillRect l="-497561" t="-8197" r="-100000" b="-422951"/>
                          </a:stretch>
                        </a:blipFill>
                      </a:tcPr>
                    </a:tc>
                    <a:tc>
                      <a:txBody>
                        <a:bodyPr/>
                        <a:lstStyle/>
                        <a:p>
                          <a:r>
                            <a:rPr lang="en-US" dirty="0" smtClean="0"/>
                            <a:t>sol</a:t>
                          </a:r>
                          <a:endParaRPr lang="en-GB" dirty="0"/>
                        </a:p>
                      </a:txBody>
                      <a:tcPr/>
                    </a:tc>
                  </a:tr>
                  <a:tr h="370840">
                    <a:tc>
                      <a:txBody>
                        <a:bodyPr/>
                        <a:lstStyle/>
                        <a:p>
                          <a:endParaRPr lang="en-US"/>
                        </a:p>
                      </a:txBody>
                      <a:tcPr>
                        <a:blipFill rotWithShape="1">
                          <a:blip r:embed="rId2"/>
                          <a:stretch>
                            <a:fillRect t="-108197" r="-603279" b="-322951"/>
                          </a:stretch>
                        </a:blipFill>
                      </a:tcPr>
                    </a:tc>
                    <a:tc>
                      <a:txBody>
                        <a:bodyPr/>
                        <a:lstStyle/>
                        <a:p>
                          <a:pPr algn="ctr"/>
                          <a:r>
                            <a:rPr lang="en-US" dirty="0" smtClean="0"/>
                            <a:t>0</a:t>
                          </a:r>
                          <a:endParaRPr lang="en-GB" dirty="0"/>
                        </a:p>
                      </a:txBody>
                      <a:tcPr/>
                    </a:tc>
                    <a:tc>
                      <a:txBody>
                        <a:bodyPr/>
                        <a:lstStyle/>
                        <a:p>
                          <a:pPr algn="ctr"/>
                          <a:r>
                            <a:rPr lang="en-US" dirty="0" smtClean="0"/>
                            <a:t>0</a:t>
                          </a:r>
                          <a:endParaRPr lang="en-GB" dirty="0"/>
                        </a:p>
                      </a:txBody>
                      <a:tcPr/>
                    </a:tc>
                    <a:tc>
                      <a:txBody>
                        <a:bodyPr/>
                        <a:lstStyle/>
                        <a:p>
                          <a:pPr algn="ctr"/>
                          <a:r>
                            <a:rPr lang="en-US" dirty="0" smtClean="0"/>
                            <a:t>1/3</a:t>
                          </a:r>
                          <a:endParaRPr lang="en-GB" dirty="0"/>
                        </a:p>
                      </a:txBody>
                      <a:tcPr/>
                    </a:tc>
                    <a:tc>
                      <a:txBody>
                        <a:bodyPr/>
                        <a:lstStyle/>
                        <a:p>
                          <a:pPr algn="ctr"/>
                          <a:r>
                            <a:rPr lang="en-US" dirty="0" smtClean="0"/>
                            <a:t>1/3</a:t>
                          </a:r>
                          <a:endParaRPr lang="en-GB" dirty="0"/>
                        </a:p>
                      </a:txBody>
                      <a:tcPr/>
                    </a:tc>
                    <a:tc>
                      <a:txBody>
                        <a:bodyPr/>
                        <a:lstStyle/>
                        <a:p>
                          <a:pPr algn="ctr"/>
                          <a:r>
                            <a:rPr lang="en-US" dirty="0" smtClean="0"/>
                            <a:t>0</a:t>
                          </a:r>
                          <a:endParaRPr lang="en-GB" dirty="0"/>
                        </a:p>
                      </a:txBody>
                      <a:tcPr/>
                    </a:tc>
                    <a:tc>
                      <a:txBody>
                        <a:bodyPr/>
                        <a:lstStyle/>
                        <a:p>
                          <a:pPr algn="ctr"/>
                          <a:r>
                            <a:rPr lang="en-US" dirty="0" smtClean="0"/>
                            <a:t>7/3</a:t>
                          </a:r>
                          <a:endParaRPr lang="en-GB" dirty="0"/>
                        </a:p>
                      </a:txBody>
                      <a:tcPr/>
                    </a:tc>
                  </a:tr>
                  <a:tr h="370840">
                    <a:tc>
                      <a:txBody>
                        <a:bodyPr/>
                        <a:lstStyle/>
                        <a:p>
                          <a:endParaRPr lang="en-US"/>
                        </a:p>
                      </a:txBody>
                      <a:tcPr>
                        <a:blipFill rotWithShape="1">
                          <a:blip r:embed="rId2"/>
                          <a:stretch>
                            <a:fillRect t="-211667" r="-603279" b="-228333"/>
                          </a:stretch>
                        </a:blipFill>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1/3</a:t>
                          </a:r>
                          <a:endParaRPr lang="en-GB" dirty="0"/>
                        </a:p>
                      </a:txBody>
                      <a:tcPr/>
                    </a:tc>
                    <a:tc>
                      <a:txBody>
                        <a:bodyPr/>
                        <a:lstStyle/>
                        <a:p>
                          <a:pPr algn="ctr"/>
                          <a:r>
                            <a:rPr lang="en-US" dirty="0" smtClean="0"/>
                            <a:t>-2/3</a:t>
                          </a:r>
                          <a:endParaRPr lang="en-GB" dirty="0"/>
                        </a:p>
                      </a:txBody>
                      <a:tcPr/>
                    </a:tc>
                    <a:tc>
                      <a:txBody>
                        <a:bodyPr/>
                        <a:lstStyle/>
                        <a:p>
                          <a:pPr algn="ctr"/>
                          <a:r>
                            <a:rPr lang="en-US" dirty="0" smtClean="0"/>
                            <a:t>0</a:t>
                          </a:r>
                          <a:endParaRPr lang="en-GB" dirty="0"/>
                        </a:p>
                      </a:txBody>
                      <a:tcPr/>
                    </a:tc>
                    <a:tc>
                      <a:txBody>
                        <a:bodyPr/>
                        <a:lstStyle/>
                        <a:p>
                          <a:pPr algn="ctr"/>
                          <a:r>
                            <a:rPr lang="en-US" dirty="0" smtClean="0"/>
                            <a:t>1/3</a:t>
                          </a:r>
                          <a:endParaRPr lang="en-GB" dirty="0"/>
                        </a:p>
                      </a:txBody>
                      <a:tcPr/>
                    </a:tc>
                  </a:tr>
                  <a:tr h="370840">
                    <a:tc>
                      <a:txBody>
                        <a:bodyPr/>
                        <a:lstStyle/>
                        <a:p>
                          <a:endParaRPr lang="en-US"/>
                        </a:p>
                      </a:txBody>
                      <a:tcPr>
                        <a:blipFill rotWithShape="1">
                          <a:blip r:embed="rId2"/>
                          <a:stretch>
                            <a:fillRect t="-306557" r="-603279" b="-124590"/>
                          </a:stretch>
                        </a:blipFill>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2</a:t>
                          </a:r>
                          <a:endParaRPr lang="en-GB" dirty="0"/>
                        </a:p>
                      </a:txBody>
                      <a:tcPr/>
                    </a:tc>
                  </a:tr>
                  <a:tr h="370840">
                    <a:tc>
                      <a:txBody>
                        <a:bodyPr/>
                        <a:lstStyle/>
                        <a:p>
                          <a:endParaRPr lang="en-US"/>
                        </a:p>
                      </a:txBody>
                      <a:tcPr>
                        <a:blipFill rotWithShape="1">
                          <a:blip r:embed="rId2"/>
                          <a:stretch>
                            <a:fillRect t="-406557" r="-603279" b="-24590"/>
                          </a:stretch>
                        </a:blipFill>
                      </a:tcPr>
                    </a:tc>
                    <a:tc>
                      <a:txBody>
                        <a:bodyPr/>
                        <a:lstStyle/>
                        <a:p>
                          <a:pPr algn="ctr"/>
                          <a:r>
                            <a:rPr lang="en-US" dirty="0" smtClean="0"/>
                            <a:t>0</a:t>
                          </a:r>
                          <a:endParaRPr lang="en-GB" dirty="0"/>
                        </a:p>
                      </a:txBody>
                      <a:tcPr/>
                    </a:tc>
                    <a:tc>
                      <a:txBody>
                        <a:bodyPr/>
                        <a:lstStyle/>
                        <a:p>
                          <a:pPr algn="ctr"/>
                          <a:r>
                            <a:rPr lang="en-US" dirty="0" smtClean="0"/>
                            <a:t>0</a:t>
                          </a:r>
                          <a:endParaRPr lang="en-GB" dirty="0"/>
                        </a:p>
                      </a:txBody>
                      <a:tcPr/>
                    </a:tc>
                    <a:tc>
                      <a:txBody>
                        <a:bodyPr/>
                        <a:lstStyle/>
                        <a:p>
                          <a:pPr algn="ctr"/>
                          <a:r>
                            <a:rPr lang="en-US" dirty="0" smtClean="0"/>
                            <a:t>-1/3</a:t>
                          </a:r>
                          <a:endParaRPr lang="en-GB" dirty="0"/>
                        </a:p>
                      </a:txBody>
                      <a:tcPr/>
                    </a:tc>
                    <a:tc>
                      <a:txBody>
                        <a:bodyPr/>
                        <a:lstStyle/>
                        <a:p>
                          <a:pPr algn="ctr"/>
                          <a:r>
                            <a:rPr lang="en-US" dirty="0" smtClean="0"/>
                            <a:t>-1/3</a:t>
                          </a:r>
                          <a:endParaRPr lang="en-GB" dirty="0"/>
                        </a:p>
                      </a:txBody>
                      <a:tcPr/>
                    </a:tc>
                    <a:tc>
                      <a:txBody>
                        <a:bodyPr/>
                        <a:lstStyle/>
                        <a:p>
                          <a:pPr algn="ctr"/>
                          <a:r>
                            <a:rPr lang="en-US" dirty="0" smtClean="0"/>
                            <a:t>1</a:t>
                          </a:r>
                          <a:endParaRPr lang="en-GB" dirty="0"/>
                        </a:p>
                      </a:txBody>
                      <a:tcPr/>
                    </a:tc>
                    <a:tc>
                      <a:txBody>
                        <a:bodyPr/>
                        <a:lstStyle/>
                        <a:p>
                          <a:pPr algn="ctr"/>
                          <a:r>
                            <a:rPr lang="en-US" dirty="0" smtClean="0">
                              <a:solidFill>
                                <a:srgbClr val="C00000"/>
                              </a:solidFill>
                            </a:rPr>
                            <a:t>-1/3</a:t>
                          </a:r>
                          <a:endParaRPr lang="en-GB" dirty="0">
                            <a:solidFill>
                              <a:srgbClr val="C00000"/>
                            </a:solidFill>
                          </a:endParaRPr>
                        </a:p>
                      </a:txBody>
                      <a:tcPr/>
                    </a:tc>
                  </a:tr>
                </a:tbl>
              </a:graphicData>
            </a:graphic>
          </p:graphicFrame>
        </mc:Fallback>
      </mc:AlternateContent>
      <mc:AlternateContent xmlns:mc="http://schemas.openxmlformats.org/markup-compatibility/2006" xmlns:a14="http://schemas.microsoft.com/office/drawing/2010/main">
        <mc:Choice Requires="a14">
          <p:sp>
            <p:nvSpPr>
              <p:cNvPr id="6" name="TextBox 5"/>
              <p:cNvSpPr txBox="1"/>
              <p:nvPr/>
            </p:nvSpPr>
            <p:spPr>
              <a:xfrm>
                <a:off x="1600200" y="3048000"/>
                <a:ext cx="6629400" cy="923330"/>
              </a:xfrm>
              <a:prstGeom prst="rect">
                <a:avLst/>
              </a:prstGeom>
              <a:noFill/>
            </p:spPr>
            <p:txBody>
              <a:bodyPr wrap="square" rtlCol="0">
                <a:spAutoFit/>
              </a:bodyPr>
              <a:lstStyle/>
              <a:p>
                <a:r>
                  <a:rPr lang="en-US" dirty="0" smtClean="0">
                    <a:latin typeface="Arial" pitchFamily="34" charset="0"/>
                    <a:cs typeface="Arial" pitchFamily="34" charset="0"/>
                  </a:rPr>
                  <a:t>Basic Variables Sol </a:t>
                </a:r>
                <a14:m>
                  <m:oMath xmlns:m="http://schemas.openxmlformats.org/officeDocument/2006/math">
                    <m:r>
                      <a:rPr lang="en-US" b="0" i="1" smtClean="0">
                        <a:latin typeface="Cambria Math"/>
                      </a:rPr>
                      <m:t>≥0</m:t>
                    </m:r>
                  </m:oMath>
                </a14:m>
                <a:r>
                  <a:rPr lang="en-GB" dirty="0" smtClean="0">
                    <a:latin typeface="Arial" pitchFamily="34" charset="0"/>
                    <a:cs typeface="Arial" pitchFamily="34" charset="0"/>
                  </a:rPr>
                  <a:t>, Feasible, otherwise infeasible sol.</a:t>
                </a:r>
              </a:p>
              <a:p>
                <a:r>
                  <a:rPr lang="en-US" dirty="0" smtClean="0">
                    <a:latin typeface="Arial" pitchFamily="34" charset="0"/>
                    <a:cs typeface="Arial" pitchFamily="34" charset="0"/>
                  </a:rPr>
                  <a:t>The solution is not feasible therefore apply </a:t>
                </a:r>
                <a:r>
                  <a:rPr lang="en-US" b="1" dirty="0" smtClean="0">
                    <a:solidFill>
                      <a:srgbClr val="FF0000"/>
                    </a:solidFill>
                    <a:latin typeface="Arial" pitchFamily="34" charset="0"/>
                    <a:cs typeface="Arial" pitchFamily="34" charset="0"/>
                  </a:rPr>
                  <a:t>dual Simplex method</a:t>
                </a:r>
                <a:r>
                  <a:rPr lang="en-US" dirty="0" smtClean="0">
                    <a:latin typeface="Arial" pitchFamily="34" charset="0"/>
                    <a:cs typeface="Arial" pitchFamily="34" charset="0"/>
                  </a:rPr>
                  <a:t> to obtain feasibility.</a:t>
                </a:r>
                <a:endParaRPr lang="en-GB" dirty="0">
                  <a:latin typeface="Arial" pitchFamily="34" charset="0"/>
                  <a:cs typeface="Arial" pitchFamily="34"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600200" y="3048000"/>
                <a:ext cx="6629400" cy="923330"/>
              </a:xfrm>
              <a:prstGeom prst="rect">
                <a:avLst/>
              </a:prstGeom>
              <a:blipFill rotWithShape="1">
                <a:blip r:embed="rId3"/>
                <a:stretch>
                  <a:fillRect l="-828" t="-3311" b="-9934"/>
                </a:stretch>
              </a:blipFill>
            </p:spPr>
            <p:txBody>
              <a:bodyPr/>
              <a:lstStyle/>
              <a:p>
                <a:r>
                  <a:rPr lang="en-GB">
                    <a:noFill/>
                  </a:rPr>
                  <a:t> </a:t>
                </a:r>
              </a:p>
            </p:txBody>
          </p:sp>
        </mc:Fallback>
      </mc:AlternateContent>
    </p:spTree>
    <p:extLst>
      <p:ext uri="{BB962C8B-B14F-4D97-AF65-F5344CB8AC3E}">
        <p14:creationId xmlns:p14="http://schemas.microsoft.com/office/powerpoint/2010/main" val="29146741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45430"/>
            <a:ext cx="7429499" cy="1478570"/>
          </a:xfrm>
        </p:spPr>
        <p:txBody>
          <a:bodyPr/>
          <a:lstStyle/>
          <a:p>
            <a:r>
              <a:rPr lang="en-US" dirty="0" smtClean="0">
                <a:solidFill>
                  <a:srgbClr val="C00000"/>
                </a:solidFill>
              </a:rPr>
              <a:t>Dual simplex method</a:t>
            </a:r>
            <a:endParaRPr lang="en-GB" dirty="0">
              <a:solidFill>
                <a:srgbClr val="C0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048000"/>
                <a:ext cx="7429499" cy="3541714"/>
              </a:xfrm>
            </p:spPr>
            <p:txBody>
              <a:bodyPr/>
              <a:lstStyle/>
              <a:p>
                <a:pPr marL="0" indent="0">
                  <a:buNone/>
                </a:pPr>
                <a:r>
                  <a:rPr lang="en-US" sz="1800" dirty="0" smtClean="0">
                    <a:effectLst/>
                    <a:latin typeface="Arial" pitchFamily="34" charset="0"/>
                    <a:cs typeface="Arial" pitchFamily="34" charset="0"/>
                  </a:rPr>
                  <a:t>Key Row= Largest negative sol value of basic variables.(leaving </a:t>
                </a:r>
                <a:r>
                  <a:rPr lang="en-US" sz="1800" dirty="0" err="1" smtClean="0">
                    <a:effectLst/>
                    <a:latin typeface="Arial" pitchFamily="34" charset="0"/>
                    <a:cs typeface="Arial" pitchFamily="34" charset="0"/>
                  </a:rPr>
                  <a:t>var</a:t>
                </a:r>
                <a:r>
                  <a:rPr lang="en-US" sz="1800" dirty="0" smtClean="0">
                    <a:effectLst/>
                    <a:latin typeface="Arial" pitchFamily="34" charset="0"/>
                    <a:cs typeface="Arial" pitchFamily="34" charset="0"/>
                  </a:rPr>
                  <a:t>)</a:t>
                </a:r>
              </a:p>
              <a:p>
                <a:pPr marL="0" indent="0">
                  <a:buNone/>
                </a:pPr>
                <a:r>
                  <a:rPr lang="en-US" sz="1800" dirty="0" smtClean="0">
                    <a:effectLst/>
                    <a:latin typeface="Arial" pitchFamily="34" charset="0"/>
                    <a:cs typeface="Arial" pitchFamily="34" charset="0"/>
                  </a:rPr>
                  <a:t>Key Column= Minimum ratio only for the columns that have negative element in key row. (Entering </a:t>
                </a:r>
                <a:r>
                  <a:rPr lang="en-US" sz="1800" dirty="0" err="1" smtClean="0">
                    <a:effectLst/>
                    <a:latin typeface="Arial" pitchFamily="34" charset="0"/>
                    <a:cs typeface="Arial" pitchFamily="34" charset="0"/>
                  </a:rPr>
                  <a:t>var</a:t>
                </a:r>
                <a:r>
                  <a:rPr lang="en-US" sz="1800" dirty="0" smtClean="0">
                    <a:effectLst/>
                    <a:latin typeface="Arial" pitchFamily="34" charset="0"/>
                    <a:cs typeface="Arial" pitchFamily="34" charset="0"/>
                  </a:rPr>
                  <a:t>)</a:t>
                </a:r>
              </a:p>
              <a:p>
                <a:pPr marL="0" indent="0">
                  <a:buNone/>
                </a:pPr>
                <a:r>
                  <a:rPr lang="en-US" dirty="0" smtClean="0"/>
                  <a:t>Min ratio= </a:t>
                </a:r>
                <a14:m>
                  <m:oMath xmlns:m="http://schemas.openxmlformats.org/officeDocument/2006/math">
                    <m:f>
                      <m:fPr>
                        <m:ctrlPr>
                          <a:rPr lang="en-US" i="1" dirty="0" smtClean="0">
                            <a:latin typeface="Cambria Math"/>
                          </a:rPr>
                        </m:ctrlPr>
                      </m:fPr>
                      <m:num>
                        <m:r>
                          <a:rPr lang="en-US" i="1" dirty="0">
                            <a:latin typeface="Cambria Math"/>
                          </a:rPr>
                          <m:t>−</m:t>
                        </m:r>
                        <m:r>
                          <a:rPr lang="en-US" i="1" dirty="0">
                            <a:latin typeface="Cambria Math"/>
                          </a:rPr>
                          <m:t>𝑧</m:t>
                        </m:r>
                      </m:num>
                      <m:den>
                        <m:r>
                          <a:rPr lang="en-US" i="1" dirty="0">
                            <a:latin typeface="Cambria Math"/>
                          </a:rPr>
                          <m:t>𝑛𝑒𝑔𝑎𝑡𝑖𝑣𝑒</m:t>
                        </m:r>
                        <m:r>
                          <a:rPr lang="en-US" i="1" dirty="0">
                            <a:latin typeface="Cambria Math"/>
                          </a:rPr>
                          <m:t> </m:t>
                        </m:r>
                        <m:r>
                          <a:rPr lang="en-US" i="1" dirty="0">
                            <a:latin typeface="Cambria Math"/>
                          </a:rPr>
                          <m:t>𝑘𝑒𝑦</m:t>
                        </m:r>
                        <m:r>
                          <a:rPr lang="en-US" i="1" dirty="0">
                            <a:latin typeface="Cambria Math"/>
                          </a:rPr>
                          <m:t> </m:t>
                        </m:r>
                        <m:r>
                          <a:rPr lang="en-US" i="1" dirty="0">
                            <a:latin typeface="Cambria Math"/>
                          </a:rPr>
                          <m:t>𝑟𝑜𝑤</m:t>
                        </m:r>
                        <m:r>
                          <a:rPr lang="en-US" i="1" dirty="0">
                            <a:latin typeface="Cambria Math"/>
                          </a:rPr>
                          <m:t> </m:t>
                        </m:r>
                        <m:r>
                          <a:rPr lang="en-US" i="1" dirty="0">
                            <a:latin typeface="Cambria Math"/>
                          </a:rPr>
                          <m:t>𝑣𝑎𝑙𝑢𝑒</m:t>
                        </m:r>
                      </m:den>
                    </m:f>
                  </m:oMath>
                </a14:m>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3048000"/>
                <a:ext cx="7429499" cy="3541714"/>
              </a:xfrm>
              <a:blipFill rotWithShape="1">
                <a:blip r:embed="rId2"/>
                <a:stretch>
                  <a:fillRect l="-1970"/>
                </a:stretch>
              </a:blipFill>
            </p:spPr>
            <p:txBody>
              <a:bodyPr/>
              <a:lstStyle/>
              <a:p>
                <a:r>
                  <a:rPr lang="en-GB">
                    <a:noFill/>
                  </a:rPr>
                  <a:t> </a:t>
                </a:r>
              </a:p>
            </p:txBody>
          </p:sp>
        </mc:Fallback>
      </mc:AlternateContent>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990600"/>
            <a:ext cx="8153400" cy="1981200"/>
          </a:xfrm>
          <a:prstGeom prst="rect">
            <a:avLst/>
          </a:prstGeom>
        </p:spPr>
      </p:pic>
    </p:spTree>
    <p:extLst>
      <p:ext uri="{BB962C8B-B14F-4D97-AF65-F5344CB8AC3E}">
        <p14:creationId xmlns:p14="http://schemas.microsoft.com/office/powerpoint/2010/main" val="1481283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609600"/>
                <a:ext cx="7429499" cy="3541714"/>
              </a:xfrm>
            </p:spPr>
            <p:txBody>
              <a:bodyPr/>
              <a:lstStyle/>
              <a:p>
                <a:pPr marL="0" indent="0">
                  <a:buNone/>
                </a:pPr>
                <a:r>
                  <a:rPr lang="en-US" dirty="0" smtClean="0"/>
                  <a:t>Here min</a:t>
                </a:r>
                <a14:m>
                  <m:oMath xmlns:m="http://schemas.openxmlformats.org/officeDocument/2006/math">
                    <m:r>
                      <a:rPr lang="en-US" i="1" dirty="0" smtClean="0">
                        <a:latin typeface="Cambria Math"/>
                      </a:rPr>
                      <m:t>(</m:t>
                    </m:r>
                    <m:sSub>
                      <m:sSubPr>
                        <m:ctrlPr>
                          <a:rPr lang="en-US" i="1" dirty="0" smtClean="0">
                            <a:latin typeface="Cambria Math"/>
                          </a:rPr>
                        </m:ctrlPr>
                      </m:sSubPr>
                      <m:e>
                        <m:r>
                          <a:rPr lang="en-US" i="1" dirty="0" smtClean="0">
                            <a:latin typeface="Cambria Math"/>
                          </a:rPr>
                          <m:t>𝑠</m:t>
                        </m:r>
                      </m:e>
                      <m:sub>
                        <m:r>
                          <a:rPr lang="en-US" i="1" dirty="0" smtClean="0">
                            <a:latin typeface="Cambria Math"/>
                          </a:rPr>
                          <m:t>1</m:t>
                        </m:r>
                      </m:sub>
                    </m:sSub>
                    <m:r>
                      <a:rPr lang="en-US" i="1" dirty="0" smtClean="0">
                        <a:latin typeface="Cambria Math"/>
                      </a:rPr>
                      <m:t>, </m:t>
                    </m:r>
                    <m:sSub>
                      <m:sSubPr>
                        <m:ctrlPr>
                          <a:rPr lang="en-US" i="1" dirty="0" smtClean="0">
                            <a:latin typeface="Cambria Math"/>
                          </a:rPr>
                        </m:ctrlPr>
                      </m:sSubPr>
                      <m:e>
                        <m:r>
                          <a:rPr lang="en-US" i="1" dirty="0" smtClean="0">
                            <a:latin typeface="Cambria Math"/>
                          </a:rPr>
                          <m:t>𝑠</m:t>
                        </m:r>
                      </m:e>
                      <m:sub>
                        <m:r>
                          <a:rPr lang="en-US" i="1" dirty="0" smtClean="0">
                            <a:latin typeface="Cambria Math"/>
                          </a:rPr>
                          <m:t>2</m:t>
                        </m:r>
                      </m:sub>
                    </m:sSub>
                    <m:r>
                      <a:rPr lang="en-US" i="1" dirty="0" smtClean="0">
                        <a:latin typeface="Cambria Math"/>
                      </a:rPr>
                      <m:t> )=(1, 1).</m:t>
                    </m:r>
                  </m:oMath>
                </a14:m>
                <a:endParaRPr lang="en-US" dirty="0" smtClean="0"/>
              </a:p>
              <a:p>
                <a:pPr marL="0" indent="0">
                  <a:buNone/>
                </a:pPr>
                <a:r>
                  <a:rPr lang="en-US" dirty="0" smtClean="0"/>
                  <a:t>Tie so can choose </a:t>
                </a:r>
                <a14:m>
                  <m:oMath xmlns:m="http://schemas.openxmlformats.org/officeDocument/2006/math">
                    <m:sSub>
                      <m:sSubPr>
                        <m:ctrlPr>
                          <a:rPr lang="en-US" i="1" dirty="0" smtClean="0">
                            <a:latin typeface="Cambria Math"/>
                          </a:rPr>
                        </m:ctrlPr>
                      </m:sSubPr>
                      <m:e>
                        <m:r>
                          <a:rPr lang="en-US" i="1" dirty="0" smtClean="0">
                            <a:latin typeface="Cambria Math"/>
                          </a:rPr>
                          <m:t>𝑠</m:t>
                        </m:r>
                      </m:e>
                      <m:sub>
                        <m:r>
                          <a:rPr lang="en-US" i="1" dirty="0" smtClean="0">
                            <a:latin typeface="Cambria Math"/>
                          </a:rPr>
                          <m:t>1</m:t>
                        </m:r>
                      </m:sub>
                    </m:sSub>
                  </m:oMath>
                </a14:m>
                <a:r>
                  <a:rPr lang="en-US" dirty="0" smtClean="0"/>
                  <a:t> or </a:t>
                </a:r>
                <a14:m>
                  <m:oMath xmlns:m="http://schemas.openxmlformats.org/officeDocument/2006/math">
                    <m:sSub>
                      <m:sSubPr>
                        <m:ctrlPr>
                          <a:rPr lang="en-US" i="1" dirty="0" smtClean="0">
                            <a:latin typeface="Cambria Math"/>
                          </a:rPr>
                        </m:ctrlPr>
                      </m:sSubPr>
                      <m:e>
                        <m:r>
                          <a:rPr lang="en-US" i="1" dirty="0" smtClean="0">
                            <a:latin typeface="Cambria Math"/>
                          </a:rPr>
                          <m:t>𝑠</m:t>
                        </m:r>
                      </m:e>
                      <m:sub>
                        <m:r>
                          <a:rPr lang="en-US" i="1" dirty="0" smtClean="0">
                            <a:latin typeface="Cambria Math"/>
                          </a:rPr>
                          <m:t>2</m:t>
                        </m:r>
                      </m:sub>
                    </m:sSub>
                  </m:oMath>
                </a14:m>
                <a:r>
                  <a:rPr lang="en-US" dirty="0" smtClean="0"/>
                  <a:t> as key column.</a:t>
                </a:r>
              </a:p>
              <a:p>
                <a:pPr marL="0" indent="0">
                  <a:buNone/>
                </a:pPr>
                <a:r>
                  <a:rPr lang="en-US" dirty="0" smtClean="0"/>
                  <a:t>Let we choose </a:t>
                </a:r>
                <a14:m>
                  <m:oMath xmlns:m="http://schemas.openxmlformats.org/officeDocument/2006/math">
                    <m:sSub>
                      <m:sSubPr>
                        <m:ctrlPr>
                          <a:rPr lang="en-US" i="1" dirty="0" smtClean="0">
                            <a:latin typeface="Cambria Math"/>
                          </a:rPr>
                        </m:ctrlPr>
                      </m:sSubPr>
                      <m:e>
                        <m:r>
                          <a:rPr lang="en-US" i="1" dirty="0" smtClean="0">
                            <a:latin typeface="Cambria Math"/>
                          </a:rPr>
                          <m:t>𝑠</m:t>
                        </m:r>
                      </m:e>
                      <m:sub>
                        <m:r>
                          <a:rPr lang="en-US" i="1" dirty="0" smtClean="0">
                            <a:latin typeface="Cambria Math"/>
                          </a:rPr>
                          <m:t>1</m:t>
                        </m:r>
                      </m:sub>
                    </m:sSub>
                    <m:r>
                      <a:rPr lang="en-US" b="0" i="1" dirty="0" smtClean="0">
                        <a:latin typeface="Cambria Math"/>
                      </a:rPr>
                      <m:t>.</m:t>
                    </m:r>
                  </m:oMath>
                </a14:m>
                <a:r>
                  <a:rPr lang="en-US" dirty="0" smtClean="0"/>
                  <a:t> </a:t>
                </a: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609600"/>
                <a:ext cx="7429499" cy="3541714"/>
              </a:xfrm>
              <a:blipFill rotWithShape="1">
                <a:blip r:embed="rId2"/>
                <a:stretch>
                  <a:fillRect l="-1887" t="-137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639526249"/>
                  </p:ext>
                </p:extLst>
              </p:nvPr>
            </p:nvGraphicFramePr>
            <p:xfrm>
              <a:off x="1447800" y="2362200"/>
              <a:ext cx="5225143" cy="1854200"/>
            </p:xfrm>
            <a:graphic>
              <a:graphicData uri="http://schemas.openxmlformats.org/drawingml/2006/table">
                <a:tbl>
                  <a:tblPr firstRow="1" bandRow="1">
                    <a:tableStyleId>{5940675A-B579-460E-94D1-54222C63F5DA}</a:tableStyleId>
                  </a:tblPr>
                  <a:tblGrid>
                    <a:gridCol w="746449"/>
                    <a:gridCol w="746449"/>
                    <a:gridCol w="746449"/>
                    <a:gridCol w="746449"/>
                    <a:gridCol w="746449"/>
                    <a:gridCol w="746449"/>
                    <a:gridCol w="746449"/>
                  </a:tblGrid>
                  <a:tr h="370840">
                    <a:tc>
                      <a:txBody>
                        <a:bodyPr/>
                        <a:lstStyle/>
                        <a:p>
                          <a:pPr algn="ctr"/>
                          <a:r>
                            <a:rPr lang="en-US" dirty="0" smtClean="0"/>
                            <a:t>B.V</a:t>
                          </a:r>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i="1" dirty="0" smtClean="0">
                                        <a:latin typeface="Cambria Math"/>
                                      </a:rPr>
                                      <m:t>𝑥</m:t>
                                    </m:r>
                                  </m:e>
                                  <m:sub>
                                    <m:r>
                                      <a:rPr lang="en-US" i="1" dirty="0" smtClean="0">
                                        <a:latin typeface="Cambria Math"/>
                                      </a:rPr>
                                      <m:t>1</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b="0" i="1" dirty="0" smtClean="0">
                                        <a:latin typeface="Cambria Math"/>
                                      </a:rPr>
                                      <m:t>𝑥</m:t>
                                    </m:r>
                                  </m:e>
                                  <m:sub>
                                    <m:r>
                                      <a:rPr lang="en-US" i="1" dirty="0" smtClean="0">
                                        <a:latin typeface="Cambria Math"/>
                                      </a:rPr>
                                      <m:t>2</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solidFill>
                                          <a:srgbClr val="C00000"/>
                                        </a:solidFill>
                                        <a:latin typeface="Cambria Math"/>
                                      </a:rPr>
                                    </m:ctrlPr>
                                  </m:sSubPr>
                                  <m:e>
                                    <m:r>
                                      <a:rPr lang="en-US" i="1" dirty="0" smtClean="0">
                                        <a:solidFill>
                                          <a:srgbClr val="C00000"/>
                                        </a:solidFill>
                                        <a:latin typeface="Cambria Math"/>
                                      </a:rPr>
                                      <m:t>𝑆</m:t>
                                    </m:r>
                                  </m:e>
                                  <m:sub>
                                    <m:r>
                                      <a:rPr lang="en-US" i="1" dirty="0" smtClean="0">
                                        <a:solidFill>
                                          <a:srgbClr val="C00000"/>
                                        </a:solidFill>
                                        <a:latin typeface="Cambria Math"/>
                                      </a:rPr>
                                      <m:t>1</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i="1" dirty="0" smtClean="0">
                                        <a:latin typeface="Cambria Math"/>
                                      </a:rPr>
                                      <m:t>𝑆</m:t>
                                    </m:r>
                                  </m:e>
                                  <m:sub>
                                    <m:r>
                                      <a:rPr lang="en-US" i="1" dirty="0" smtClean="0">
                                        <a:latin typeface="Cambria Math"/>
                                      </a:rPr>
                                      <m:t>2</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a:rPr>
                                    </m:ctrlPr>
                                  </m:sSubPr>
                                  <m:e>
                                    <m:r>
                                      <a:rPr lang="en-US" b="0" i="1" smtClean="0">
                                        <a:latin typeface="Cambria Math"/>
                                      </a:rPr>
                                      <m:t>𝐺</m:t>
                                    </m:r>
                                  </m:e>
                                  <m:sub>
                                    <m:r>
                                      <a:rPr lang="en-US" b="0" i="1" smtClean="0">
                                        <a:latin typeface="Cambria Math"/>
                                      </a:rPr>
                                      <m:t>1</m:t>
                                    </m:r>
                                  </m:sub>
                                </m:sSub>
                              </m:oMath>
                            </m:oMathPara>
                          </a14:m>
                          <a:endParaRPr lang="en-GB" dirty="0"/>
                        </a:p>
                      </a:txBody>
                      <a:tcPr/>
                    </a:tc>
                    <a:tc>
                      <a:txBody>
                        <a:bodyPr/>
                        <a:lstStyle/>
                        <a:p>
                          <a:r>
                            <a:rPr lang="en-US" dirty="0" smtClean="0"/>
                            <a:t>sol</a:t>
                          </a:r>
                          <a:endParaRPr lang="en-GB" dirty="0"/>
                        </a:p>
                      </a:txBody>
                      <a:tcPr/>
                    </a:tc>
                  </a:tr>
                  <a:tr h="370840">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a:rPr>
                                  <m:t>𝑧</m:t>
                                </m:r>
                              </m:oMath>
                            </m:oMathPara>
                          </a14:m>
                          <a:endParaRPr lang="en-GB" dirty="0"/>
                        </a:p>
                      </a:txBody>
                      <a:tcPr/>
                    </a:tc>
                    <a:tc>
                      <a:txBody>
                        <a:bodyPr/>
                        <a:lstStyle/>
                        <a:p>
                          <a:pPr algn="ctr"/>
                          <a:r>
                            <a:rPr lang="en-US" dirty="0" smtClean="0"/>
                            <a:t>0</a:t>
                          </a:r>
                          <a:endParaRPr lang="en-GB" dirty="0"/>
                        </a:p>
                      </a:txBody>
                      <a:tcPr/>
                    </a:tc>
                    <a:tc>
                      <a:txBody>
                        <a:bodyPr/>
                        <a:lstStyle/>
                        <a:p>
                          <a:pPr algn="ctr"/>
                          <a:r>
                            <a:rPr lang="en-US" dirty="0" smtClean="0"/>
                            <a:t>0</a:t>
                          </a:r>
                          <a:endParaRPr lang="en-GB" dirty="0"/>
                        </a:p>
                      </a:txBody>
                      <a:tcPr/>
                    </a:tc>
                    <a:tc>
                      <a:txBody>
                        <a:bodyPr/>
                        <a:lstStyle/>
                        <a:p>
                          <a:pPr algn="ctr"/>
                          <a:r>
                            <a:rPr lang="en-US" dirty="0" smtClean="0">
                              <a:solidFill>
                                <a:srgbClr val="C00000"/>
                              </a:solidFill>
                            </a:rPr>
                            <a:t>1/3</a:t>
                          </a:r>
                          <a:endParaRPr lang="en-GB" dirty="0">
                            <a:solidFill>
                              <a:srgbClr val="C00000"/>
                            </a:solidFill>
                          </a:endParaRPr>
                        </a:p>
                      </a:txBody>
                      <a:tcPr/>
                    </a:tc>
                    <a:tc>
                      <a:txBody>
                        <a:bodyPr/>
                        <a:lstStyle/>
                        <a:p>
                          <a:pPr algn="ctr"/>
                          <a:r>
                            <a:rPr lang="en-US" dirty="0" smtClean="0">
                              <a:solidFill>
                                <a:srgbClr val="C00000"/>
                              </a:solidFill>
                            </a:rPr>
                            <a:t>1/3</a:t>
                          </a:r>
                          <a:endParaRPr lang="en-GB" dirty="0">
                            <a:solidFill>
                              <a:srgbClr val="C00000"/>
                            </a:solidFill>
                          </a:endParaRPr>
                        </a:p>
                      </a:txBody>
                      <a:tcPr/>
                    </a:tc>
                    <a:tc>
                      <a:txBody>
                        <a:bodyPr/>
                        <a:lstStyle/>
                        <a:p>
                          <a:pPr algn="ctr"/>
                          <a:r>
                            <a:rPr lang="en-US" dirty="0" smtClean="0"/>
                            <a:t>0</a:t>
                          </a:r>
                          <a:endParaRPr lang="en-GB" dirty="0"/>
                        </a:p>
                      </a:txBody>
                      <a:tcPr/>
                    </a:tc>
                    <a:tc>
                      <a:txBody>
                        <a:bodyPr/>
                        <a:lstStyle/>
                        <a:p>
                          <a:pPr algn="ctr"/>
                          <a:r>
                            <a:rPr lang="en-US" dirty="0" smtClean="0"/>
                            <a:t>7/3</a:t>
                          </a:r>
                          <a:endParaRPr lang="en-GB" dirty="0"/>
                        </a:p>
                      </a:txBody>
                      <a:tcPr/>
                    </a:tc>
                  </a:tr>
                  <a:tr h="370840">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b="0" i="1" dirty="0" smtClean="0">
                                        <a:latin typeface="Cambria Math"/>
                                      </a:rPr>
                                      <m:t>𝑥</m:t>
                                    </m:r>
                                  </m:e>
                                  <m:sub>
                                    <m:r>
                                      <a:rPr lang="en-US" i="1" dirty="0" smtClean="0">
                                        <a:latin typeface="Cambria Math"/>
                                      </a:rPr>
                                      <m:t>1</m:t>
                                    </m:r>
                                  </m:sub>
                                </m:sSub>
                              </m:oMath>
                            </m:oMathPara>
                          </a14:m>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1/3</a:t>
                          </a:r>
                          <a:endParaRPr lang="en-GB" dirty="0"/>
                        </a:p>
                      </a:txBody>
                      <a:tcPr/>
                    </a:tc>
                    <a:tc>
                      <a:txBody>
                        <a:bodyPr/>
                        <a:lstStyle/>
                        <a:p>
                          <a:pPr algn="ctr"/>
                          <a:r>
                            <a:rPr lang="en-US" dirty="0" smtClean="0"/>
                            <a:t>-2/3</a:t>
                          </a:r>
                          <a:endParaRPr lang="en-GB" dirty="0"/>
                        </a:p>
                      </a:txBody>
                      <a:tcPr/>
                    </a:tc>
                    <a:tc>
                      <a:txBody>
                        <a:bodyPr/>
                        <a:lstStyle/>
                        <a:p>
                          <a:pPr algn="ctr"/>
                          <a:r>
                            <a:rPr lang="en-US" dirty="0" smtClean="0"/>
                            <a:t>0</a:t>
                          </a:r>
                          <a:endParaRPr lang="en-GB" dirty="0"/>
                        </a:p>
                      </a:txBody>
                      <a:tcPr/>
                    </a:tc>
                    <a:tc>
                      <a:txBody>
                        <a:bodyPr/>
                        <a:lstStyle/>
                        <a:p>
                          <a:pPr algn="ctr"/>
                          <a:r>
                            <a:rPr lang="en-US" dirty="0" smtClean="0"/>
                            <a:t>1/3</a:t>
                          </a:r>
                          <a:endParaRPr lang="en-GB" dirty="0"/>
                        </a:p>
                      </a:txBody>
                      <a:tcPr/>
                    </a:tc>
                  </a:tr>
                  <a:tr h="370840">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b="0" i="1" dirty="0" smtClean="0">
                                        <a:latin typeface="Cambria Math"/>
                                      </a:rPr>
                                      <m:t>𝑥</m:t>
                                    </m:r>
                                  </m:e>
                                  <m:sub>
                                    <m:r>
                                      <a:rPr lang="en-US" i="1" dirty="0" smtClean="0">
                                        <a:latin typeface="Cambria Math"/>
                                      </a:rPr>
                                      <m:t>2</m:t>
                                    </m:r>
                                  </m:sub>
                                </m:sSub>
                              </m:oMath>
                            </m:oMathPara>
                          </a14:m>
                          <a:endParaRPr lang="en-GB" dirty="0"/>
                        </a:p>
                      </a:txBody>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2</a:t>
                          </a:r>
                          <a:endParaRPr lang="en-GB" dirty="0"/>
                        </a:p>
                      </a:txBody>
                      <a:tcPr/>
                    </a:tc>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rgbClr val="C00000"/>
                                        </a:solidFill>
                                        <a:latin typeface="Cambria Math"/>
                                      </a:rPr>
                                    </m:ctrlPr>
                                  </m:sSubPr>
                                  <m:e>
                                    <m:r>
                                      <a:rPr lang="en-US" b="0" i="1" dirty="0" smtClean="0">
                                        <a:solidFill>
                                          <a:srgbClr val="C00000"/>
                                        </a:solidFill>
                                        <a:latin typeface="Cambria Math"/>
                                      </a:rPr>
                                      <m:t>𝑆</m:t>
                                    </m:r>
                                  </m:e>
                                  <m:sub>
                                    <m:r>
                                      <a:rPr lang="en-US" b="0" i="1" dirty="0" smtClean="0">
                                        <a:solidFill>
                                          <a:srgbClr val="C00000"/>
                                        </a:solidFill>
                                        <a:latin typeface="Cambria Math"/>
                                      </a:rPr>
                                      <m:t>1</m:t>
                                    </m:r>
                                  </m:sub>
                                </m:sSub>
                              </m:oMath>
                            </m:oMathPara>
                          </a14:m>
                          <a:endParaRPr lang="en-GB" dirty="0"/>
                        </a:p>
                      </a:txBody>
                      <a:tcPr/>
                    </a:tc>
                    <a:tc>
                      <a:txBody>
                        <a:bodyPr/>
                        <a:lstStyle/>
                        <a:p>
                          <a:pPr algn="ctr"/>
                          <a:r>
                            <a:rPr lang="en-US" dirty="0" smtClean="0"/>
                            <a:t>0</a:t>
                          </a:r>
                          <a:endParaRPr lang="en-GB" dirty="0"/>
                        </a:p>
                      </a:txBody>
                      <a:tcPr/>
                    </a:tc>
                    <a:tc>
                      <a:txBody>
                        <a:bodyPr/>
                        <a:lstStyle/>
                        <a:p>
                          <a:pPr algn="ctr"/>
                          <a:r>
                            <a:rPr lang="en-US" dirty="0" smtClean="0"/>
                            <a:t>0</a:t>
                          </a:r>
                          <a:endParaRPr lang="en-GB" dirty="0"/>
                        </a:p>
                      </a:txBody>
                      <a:tcPr/>
                    </a:tc>
                    <a:tc>
                      <a:txBody>
                        <a:bodyPr/>
                        <a:lstStyle/>
                        <a:p>
                          <a:pPr algn="ctr"/>
                          <a:r>
                            <a:rPr lang="en-US" b="1" dirty="0" smtClean="0">
                              <a:solidFill>
                                <a:srgbClr val="00B050"/>
                              </a:solidFill>
                            </a:rPr>
                            <a:t>-1/3</a:t>
                          </a:r>
                          <a:endParaRPr lang="en-GB" b="1" dirty="0">
                            <a:solidFill>
                              <a:srgbClr val="00B050"/>
                            </a:solidFill>
                          </a:endParaRPr>
                        </a:p>
                      </a:txBody>
                      <a:tcPr/>
                    </a:tc>
                    <a:tc>
                      <a:txBody>
                        <a:bodyPr/>
                        <a:lstStyle/>
                        <a:p>
                          <a:pPr algn="ctr"/>
                          <a:r>
                            <a:rPr lang="en-US" dirty="0" smtClean="0">
                              <a:solidFill>
                                <a:srgbClr val="C00000"/>
                              </a:solidFill>
                            </a:rPr>
                            <a:t>-1/3</a:t>
                          </a:r>
                          <a:endParaRPr lang="en-GB" dirty="0">
                            <a:solidFill>
                              <a:srgbClr val="C00000"/>
                            </a:solidFill>
                          </a:endParaRPr>
                        </a:p>
                      </a:txBody>
                      <a:tcPr/>
                    </a:tc>
                    <a:tc>
                      <a:txBody>
                        <a:bodyPr/>
                        <a:lstStyle/>
                        <a:p>
                          <a:pPr algn="ctr"/>
                          <a:r>
                            <a:rPr lang="en-US" dirty="0" smtClean="0"/>
                            <a:t>1</a:t>
                          </a:r>
                          <a:endParaRPr lang="en-GB" dirty="0"/>
                        </a:p>
                      </a:txBody>
                      <a:tcPr/>
                    </a:tc>
                    <a:tc>
                      <a:txBody>
                        <a:bodyPr/>
                        <a:lstStyle/>
                        <a:p>
                          <a:pPr algn="ctr"/>
                          <a:r>
                            <a:rPr lang="en-US" dirty="0" smtClean="0">
                              <a:solidFill>
                                <a:srgbClr val="C00000"/>
                              </a:solidFill>
                            </a:rPr>
                            <a:t>-1/3</a:t>
                          </a:r>
                          <a:endParaRPr lang="en-GB" dirty="0">
                            <a:solidFill>
                              <a:srgbClr val="C00000"/>
                            </a:solidFill>
                          </a:endParaRPr>
                        </a:p>
                      </a:txBody>
                      <a:tcPr/>
                    </a:tc>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639526249"/>
                  </p:ext>
                </p:extLst>
              </p:nvPr>
            </p:nvGraphicFramePr>
            <p:xfrm>
              <a:off x="1447800" y="2362200"/>
              <a:ext cx="5225143" cy="1854200"/>
            </p:xfrm>
            <a:graphic>
              <a:graphicData uri="http://schemas.openxmlformats.org/drawingml/2006/table">
                <a:tbl>
                  <a:tblPr firstRow="1" bandRow="1">
                    <a:tableStyleId>{5940675A-B579-460E-94D1-54222C63F5DA}</a:tableStyleId>
                  </a:tblPr>
                  <a:tblGrid>
                    <a:gridCol w="746449"/>
                    <a:gridCol w="746449"/>
                    <a:gridCol w="746449"/>
                    <a:gridCol w="746449"/>
                    <a:gridCol w="746449"/>
                    <a:gridCol w="746449"/>
                    <a:gridCol w="746449"/>
                  </a:tblGrid>
                  <a:tr h="370840">
                    <a:tc>
                      <a:txBody>
                        <a:bodyPr/>
                        <a:lstStyle/>
                        <a:p>
                          <a:pPr algn="ctr"/>
                          <a:r>
                            <a:rPr lang="en-US" dirty="0" smtClean="0"/>
                            <a:t>B.V</a:t>
                          </a:r>
                          <a:endParaRPr lang="en-GB" dirty="0"/>
                        </a:p>
                      </a:txBody>
                      <a:tcPr/>
                    </a:tc>
                    <a:tc>
                      <a:txBody>
                        <a:bodyPr/>
                        <a:lstStyle/>
                        <a:p>
                          <a:endParaRPr lang="en-US"/>
                        </a:p>
                      </a:txBody>
                      <a:tcPr>
                        <a:blipFill rotWithShape="1">
                          <a:blip r:embed="rId3"/>
                          <a:stretch>
                            <a:fillRect l="-100000" t="-8197" r="-497561" b="-422951"/>
                          </a:stretch>
                        </a:blipFill>
                      </a:tcPr>
                    </a:tc>
                    <a:tc>
                      <a:txBody>
                        <a:bodyPr/>
                        <a:lstStyle/>
                        <a:p>
                          <a:endParaRPr lang="en-US"/>
                        </a:p>
                      </a:txBody>
                      <a:tcPr>
                        <a:blipFill rotWithShape="1">
                          <a:blip r:embed="rId3"/>
                          <a:stretch>
                            <a:fillRect l="-201639" t="-8197" r="-401639" b="-422951"/>
                          </a:stretch>
                        </a:blipFill>
                      </a:tcPr>
                    </a:tc>
                    <a:tc>
                      <a:txBody>
                        <a:bodyPr/>
                        <a:lstStyle/>
                        <a:p>
                          <a:endParaRPr lang="en-US"/>
                        </a:p>
                      </a:txBody>
                      <a:tcPr>
                        <a:blipFill rotWithShape="1">
                          <a:blip r:embed="rId3"/>
                          <a:stretch>
                            <a:fillRect l="-299187" t="-8197" r="-298374" b="-422951"/>
                          </a:stretch>
                        </a:blipFill>
                      </a:tcPr>
                    </a:tc>
                    <a:tc>
                      <a:txBody>
                        <a:bodyPr/>
                        <a:lstStyle/>
                        <a:p>
                          <a:endParaRPr lang="en-US"/>
                        </a:p>
                      </a:txBody>
                      <a:tcPr>
                        <a:blipFill rotWithShape="1">
                          <a:blip r:embed="rId3"/>
                          <a:stretch>
                            <a:fillRect l="-402459" t="-8197" r="-200820" b="-422951"/>
                          </a:stretch>
                        </a:blipFill>
                      </a:tcPr>
                    </a:tc>
                    <a:tc>
                      <a:txBody>
                        <a:bodyPr/>
                        <a:lstStyle/>
                        <a:p>
                          <a:endParaRPr lang="en-US"/>
                        </a:p>
                      </a:txBody>
                      <a:tcPr>
                        <a:blipFill rotWithShape="1">
                          <a:blip r:embed="rId3"/>
                          <a:stretch>
                            <a:fillRect l="-498374" t="-8197" r="-99187" b="-422951"/>
                          </a:stretch>
                        </a:blipFill>
                      </a:tcPr>
                    </a:tc>
                    <a:tc>
                      <a:txBody>
                        <a:bodyPr/>
                        <a:lstStyle/>
                        <a:p>
                          <a:r>
                            <a:rPr lang="en-US" dirty="0" smtClean="0"/>
                            <a:t>sol</a:t>
                          </a:r>
                          <a:endParaRPr lang="en-GB" dirty="0"/>
                        </a:p>
                      </a:txBody>
                      <a:tcPr/>
                    </a:tc>
                  </a:tr>
                  <a:tr h="370840">
                    <a:tc>
                      <a:txBody>
                        <a:bodyPr/>
                        <a:lstStyle/>
                        <a:p>
                          <a:endParaRPr lang="en-US"/>
                        </a:p>
                      </a:txBody>
                      <a:tcPr>
                        <a:blipFill rotWithShape="1">
                          <a:blip r:embed="rId3"/>
                          <a:stretch>
                            <a:fillRect l="-820" t="-108197" r="-602459" b="-322951"/>
                          </a:stretch>
                        </a:blipFill>
                      </a:tcPr>
                    </a:tc>
                    <a:tc>
                      <a:txBody>
                        <a:bodyPr/>
                        <a:lstStyle/>
                        <a:p>
                          <a:pPr algn="ctr"/>
                          <a:r>
                            <a:rPr lang="en-US" dirty="0" smtClean="0"/>
                            <a:t>0</a:t>
                          </a:r>
                          <a:endParaRPr lang="en-GB" dirty="0"/>
                        </a:p>
                      </a:txBody>
                      <a:tcPr/>
                    </a:tc>
                    <a:tc>
                      <a:txBody>
                        <a:bodyPr/>
                        <a:lstStyle/>
                        <a:p>
                          <a:pPr algn="ctr"/>
                          <a:r>
                            <a:rPr lang="en-US" dirty="0" smtClean="0"/>
                            <a:t>0</a:t>
                          </a:r>
                          <a:endParaRPr lang="en-GB" dirty="0"/>
                        </a:p>
                      </a:txBody>
                      <a:tcPr/>
                    </a:tc>
                    <a:tc>
                      <a:txBody>
                        <a:bodyPr/>
                        <a:lstStyle/>
                        <a:p>
                          <a:pPr algn="ctr"/>
                          <a:r>
                            <a:rPr lang="en-US" dirty="0" smtClean="0">
                              <a:solidFill>
                                <a:srgbClr val="C00000"/>
                              </a:solidFill>
                            </a:rPr>
                            <a:t>1/3</a:t>
                          </a:r>
                          <a:endParaRPr lang="en-GB" dirty="0">
                            <a:solidFill>
                              <a:srgbClr val="C00000"/>
                            </a:solidFill>
                          </a:endParaRPr>
                        </a:p>
                      </a:txBody>
                      <a:tcPr/>
                    </a:tc>
                    <a:tc>
                      <a:txBody>
                        <a:bodyPr/>
                        <a:lstStyle/>
                        <a:p>
                          <a:pPr algn="ctr"/>
                          <a:r>
                            <a:rPr lang="en-US" dirty="0" smtClean="0">
                              <a:solidFill>
                                <a:srgbClr val="C00000"/>
                              </a:solidFill>
                            </a:rPr>
                            <a:t>1/3</a:t>
                          </a:r>
                          <a:endParaRPr lang="en-GB" dirty="0">
                            <a:solidFill>
                              <a:srgbClr val="C00000"/>
                            </a:solidFill>
                          </a:endParaRPr>
                        </a:p>
                      </a:txBody>
                      <a:tcPr/>
                    </a:tc>
                    <a:tc>
                      <a:txBody>
                        <a:bodyPr/>
                        <a:lstStyle/>
                        <a:p>
                          <a:pPr algn="ctr"/>
                          <a:r>
                            <a:rPr lang="en-US" dirty="0" smtClean="0"/>
                            <a:t>0</a:t>
                          </a:r>
                          <a:endParaRPr lang="en-GB" dirty="0"/>
                        </a:p>
                      </a:txBody>
                      <a:tcPr/>
                    </a:tc>
                    <a:tc>
                      <a:txBody>
                        <a:bodyPr/>
                        <a:lstStyle/>
                        <a:p>
                          <a:pPr algn="ctr"/>
                          <a:r>
                            <a:rPr lang="en-US" dirty="0" smtClean="0"/>
                            <a:t>7/3</a:t>
                          </a:r>
                          <a:endParaRPr lang="en-GB" dirty="0"/>
                        </a:p>
                      </a:txBody>
                      <a:tcPr/>
                    </a:tc>
                  </a:tr>
                  <a:tr h="370840">
                    <a:tc>
                      <a:txBody>
                        <a:bodyPr/>
                        <a:lstStyle/>
                        <a:p>
                          <a:endParaRPr lang="en-US"/>
                        </a:p>
                      </a:txBody>
                      <a:tcPr>
                        <a:blipFill rotWithShape="1">
                          <a:blip r:embed="rId3"/>
                          <a:stretch>
                            <a:fillRect l="-820" t="-211667" r="-602459" b="-228333"/>
                          </a:stretch>
                        </a:blipFill>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1/3</a:t>
                          </a:r>
                          <a:endParaRPr lang="en-GB" dirty="0"/>
                        </a:p>
                      </a:txBody>
                      <a:tcPr/>
                    </a:tc>
                    <a:tc>
                      <a:txBody>
                        <a:bodyPr/>
                        <a:lstStyle/>
                        <a:p>
                          <a:pPr algn="ctr"/>
                          <a:r>
                            <a:rPr lang="en-US" dirty="0" smtClean="0"/>
                            <a:t>-2/3</a:t>
                          </a:r>
                          <a:endParaRPr lang="en-GB" dirty="0"/>
                        </a:p>
                      </a:txBody>
                      <a:tcPr/>
                    </a:tc>
                    <a:tc>
                      <a:txBody>
                        <a:bodyPr/>
                        <a:lstStyle/>
                        <a:p>
                          <a:pPr algn="ctr"/>
                          <a:r>
                            <a:rPr lang="en-US" dirty="0" smtClean="0"/>
                            <a:t>0</a:t>
                          </a:r>
                          <a:endParaRPr lang="en-GB" dirty="0"/>
                        </a:p>
                      </a:txBody>
                      <a:tcPr/>
                    </a:tc>
                    <a:tc>
                      <a:txBody>
                        <a:bodyPr/>
                        <a:lstStyle/>
                        <a:p>
                          <a:pPr algn="ctr"/>
                          <a:r>
                            <a:rPr lang="en-US" dirty="0" smtClean="0"/>
                            <a:t>1/3</a:t>
                          </a:r>
                          <a:endParaRPr lang="en-GB" dirty="0"/>
                        </a:p>
                      </a:txBody>
                      <a:tcPr/>
                    </a:tc>
                  </a:tr>
                  <a:tr h="370840">
                    <a:tc>
                      <a:txBody>
                        <a:bodyPr/>
                        <a:lstStyle/>
                        <a:p>
                          <a:endParaRPr lang="en-US"/>
                        </a:p>
                      </a:txBody>
                      <a:tcPr>
                        <a:blipFill rotWithShape="1">
                          <a:blip r:embed="rId3"/>
                          <a:stretch>
                            <a:fillRect l="-820" t="-306557" r="-602459" b="-124590"/>
                          </a:stretch>
                        </a:blipFill>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2</a:t>
                          </a:r>
                          <a:endParaRPr lang="en-GB" dirty="0"/>
                        </a:p>
                      </a:txBody>
                      <a:tcPr/>
                    </a:tc>
                  </a:tr>
                  <a:tr h="370840">
                    <a:tc>
                      <a:txBody>
                        <a:bodyPr/>
                        <a:lstStyle/>
                        <a:p>
                          <a:endParaRPr lang="en-US"/>
                        </a:p>
                      </a:txBody>
                      <a:tcPr>
                        <a:blipFill rotWithShape="1">
                          <a:blip r:embed="rId3"/>
                          <a:stretch>
                            <a:fillRect l="-820" t="-406557" r="-602459" b="-24590"/>
                          </a:stretch>
                        </a:blipFill>
                      </a:tcPr>
                    </a:tc>
                    <a:tc>
                      <a:txBody>
                        <a:bodyPr/>
                        <a:lstStyle/>
                        <a:p>
                          <a:pPr algn="ctr"/>
                          <a:r>
                            <a:rPr lang="en-US" dirty="0" smtClean="0"/>
                            <a:t>0</a:t>
                          </a:r>
                          <a:endParaRPr lang="en-GB" dirty="0"/>
                        </a:p>
                      </a:txBody>
                      <a:tcPr/>
                    </a:tc>
                    <a:tc>
                      <a:txBody>
                        <a:bodyPr/>
                        <a:lstStyle/>
                        <a:p>
                          <a:pPr algn="ctr"/>
                          <a:r>
                            <a:rPr lang="en-US" dirty="0" smtClean="0"/>
                            <a:t>0</a:t>
                          </a:r>
                          <a:endParaRPr lang="en-GB" dirty="0"/>
                        </a:p>
                      </a:txBody>
                      <a:tcPr/>
                    </a:tc>
                    <a:tc>
                      <a:txBody>
                        <a:bodyPr/>
                        <a:lstStyle/>
                        <a:p>
                          <a:pPr algn="ctr"/>
                          <a:r>
                            <a:rPr lang="en-US" b="1" dirty="0" smtClean="0">
                              <a:solidFill>
                                <a:srgbClr val="00B050"/>
                              </a:solidFill>
                            </a:rPr>
                            <a:t>-1/3</a:t>
                          </a:r>
                          <a:endParaRPr lang="en-GB" b="1" dirty="0">
                            <a:solidFill>
                              <a:srgbClr val="00B050"/>
                            </a:solidFill>
                          </a:endParaRPr>
                        </a:p>
                      </a:txBody>
                      <a:tcPr/>
                    </a:tc>
                    <a:tc>
                      <a:txBody>
                        <a:bodyPr/>
                        <a:lstStyle/>
                        <a:p>
                          <a:pPr algn="ctr"/>
                          <a:r>
                            <a:rPr lang="en-US" dirty="0" smtClean="0">
                              <a:solidFill>
                                <a:srgbClr val="C00000"/>
                              </a:solidFill>
                            </a:rPr>
                            <a:t>-1/3</a:t>
                          </a:r>
                          <a:endParaRPr lang="en-GB" dirty="0">
                            <a:solidFill>
                              <a:srgbClr val="C00000"/>
                            </a:solidFill>
                          </a:endParaRPr>
                        </a:p>
                      </a:txBody>
                      <a:tcPr/>
                    </a:tc>
                    <a:tc>
                      <a:txBody>
                        <a:bodyPr/>
                        <a:lstStyle/>
                        <a:p>
                          <a:pPr algn="ctr"/>
                          <a:r>
                            <a:rPr lang="en-US" dirty="0" smtClean="0"/>
                            <a:t>1</a:t>
                          </a:r>
                          <a:endParaRPr lang="en-GB" dirty="0"/>
                        </a:p>
                      </a:txBody>
                      <a:tcPr/>
                    </a:tc>
                    <a:tc>
                      <a:txBody>
                        <a:bodyPr/>
                        <a:lstStyle/>
                        <a:p>
                          <a:pPr algn="ctr"/>
                          <a:r>
                            <a:rPr lang="en-US" dirty="0" smtClean="0">
                              <a:solidFill>
                                <a:srgbClr val="C00000"/>
                              </a:solidFill>
                            </a:rPr>
                            <a:t>-1/3</a:t>
                          </a:r>
                          <a:endParaRPr lang="en-GB" dirty="0">
                            <a:solidFill>
                              <a:srgbClr val="C00000"/>
                            </a:solidFill>
                          </a:endParaRPr>
                        </a:p>
                      </a:txBody>
                      <a:tcPr/>
                    </a:tc>
                  </a:tr>
                </a:tbl>
              </a:graphicData>
            </a:graphic>
          </p:graphicFrame>
        </mc:Fallback>
      </mc:AlternateContent>
      <mc:AlternateContent xmlns:mc="http://schemas.openxmlformats.org/markup-compatibility/2006" xmlns:a14="http://schemas.microsoft.com/office/drawing/2010/main">
        <mc:Choice Requires="a14">
          <p:sp>
            <p:nvSpPr>
              <p:cNvPr id="7" name="TextBox 6"/>
              <p:cNvSpPr txBox="1"/>
              <p:nvPr/>
            </p:nvSpPr>
            <p:spPr>
              <a:xfrm>
                <a:off x="1600200" y="4315724"/>
                <a:ext cx="3962400" cy="484876"/>
              </a:xfrm>
              <a:prstGeom prst="rect">
                <a:avLst/>
              </a:prstGeom>
              <a:noFill/>
            </p:spPr>
            <p:txBody>
              <a:bodyPr wrap="square" rtlCol="0">
                <a:spAutoFit/>
              </a:bodyPr>
              <a:lstStyle/>
              <a:p>
                <a:r>
                  <a:rPr lang="en-US" dirty="0" smtClean="0"/>
                  <a:t>By </a:t>
                </a:r>
                <a14:m>
                  <m:oMath xmlns:m="http://schemas.openxmlformats.org/officeDocument/2006/math">
                    <m:r>
                      <a:rPr lang="en-US" i="1" dirty="0" smtClean="0">
                        <a:latin typeface="Cambria Math"/>
                      </a:rPr>
                      <m:t>−3</m:t>
                    </m:r>
                    <m:sSub>
                      <m:sSubPr>
                        <m:ctrlPr>
                          <a:rPr lang="en-US" b="0" i="1" dirty="0" smtClean="0">
                            <a:latin typeface="Cambria Math"/>
                          </a:rPr>
                        </m:ctrlPr>
                      </m:sSubPr>
                      <m:e>
                        <m:r>
                          <a:rPr lang="en-US" i="1" dirty="0" smtClean="0">
                            <a:latin typeface="Cambria Math"/>
                          </a:rPr>
                          <m:t>𝑆</m:t>
                        </m:r>
                      </m:e>
                      <m:sub>
                        <m:r>
                          <a:rPr lang="en-US" i="1" dirty="0" smtClean="0">
                            <a:latin typeface="Cambria Math"/>
                          </a:rPr>
                          <m:t>1</m:t>
                        </m:r>
                      </m:sub>
                    </m:sSub>
                    <m:r>
                      <a:rPr lang="en-US" i="1" dirty="0" smtClean="0">
                        <a:latin typeface="Cambria Math"/>
                      </a:rPr>
                      <m:t>,  </m:t>
                    </m:r>
                    <m:r>
                      <a:rPr lang="en-US" i="1" dirty="0" smtClean="0">
                        <a:latin typeface="Cambria Math"/>
                      </a:rPr>
                      <m:t>𝑧</m:t>
                    </m:r>
                    <m:r>
                      <a:rPr lang="en-US" i="1" dirty="0" smtClean="0">
                        <a:latin typeface="Cambria Math"/>
                      </a:rPr>
                      <m:t>−</m:t>
                    </m:r>
                    <m:f>
                      <m:fPr>
                        <m:ctrlPr>
                          <a:rPr lang="en-US" i="1" dirty="0" smtClean="0">
                            <a:latin typeface="Cambria Math"/>
                          </a:rPr>
                        </m:ctrlPr>
                      </m:fPr>
                      <m:num>
                        <m:r>
                          <a:rPr lang="en-US" i="1" dirty="0" smtClean="0">
                            <a:latin typeface="Cambria Math"/>
                          </a:rPr>
                          <m:t>1</m:t>
                        </m:r>
                      </m:num>
                      <m:den>
                        <m:r>
                          <a:rPr lang="en-US" i="1" dirty="0" smtClean="0">
                            <a:latin typeface="Cambria Math"/>
                          </a:rPr>
                          <m:t>3</m:t>
                        </m:r>
                      </m:den>
                    </m:f>
                    <m:r>
                      <a:rPr lang="en-US" i="1" dirty="0" smtClean="0">
                        <a:latin typeface="Cambria Math"/>
                      </a:rPr>
                      <m:t> </m:t>
                    </m:r>
                    <m:sSub>
                      <m:sSubPr>
                        <m:ctrlPr>
                          <a:rPr lang="en-US" b="0" i="1" dirty="0" smtClean="0">
                            <a:latin typeface="Cambria Math"/>
                          </a:rPr>
                        </m:ctrlPr>
                      </m:sSubPr>
                      <m:e>
                        <m:r>
                          <a:rPr lang="en-US" i="1" dirty="0" smtClean="0">
                            <a:latin typeface="Cambria Math"/>
                          </a:rPr>
                          <m:t>𝑠</m:t>
                        </m:r>
                      </m:e>
                      <m:sub>
                        <m:r>
                          <a:rPr lang="en-US" i="1" dirty="0" smtClean="0">
                            <a:latin typeface="Cambria Math"/>
                          </a:rPr>
                          <m:t>1</m:t>
                        </m:r>
                      </m:sub>
                    </m:sSub>
                    <m:r>
                      <a:rPr lang="en-US" i="1" dirty="0" smtClean="0">
                        <a:latin typeface="Cambria Math"/>
                      </a:rPr>
                      <m:t>, </m:t>
                    </m:r>
                    <m:sSub>
                      <m:sSubPr>
                        <m:ctrlPr>
                          <a:rPr lang="en-US" b="0" i="1" dirty="0" smtClean="0">
                            <a:latin typeface="Cambria Math"/>
                          </a:rPr>
                        </m:ctrlPr>
                      </m:sSubPr>
                      <m:e>
                        <m:r>
                          <a:rPr lang="en-US" i="1" dirty="0" smtClean="0">
                            <a:latin typeface="Cambria Math"/>
                          </a:rPr>
                          <m:t>𝑥</m:t>
                        </m:r>
                      </m:e>
                      <m:sub>
                        <m:r>
                          <a:rPr lang="en-US" i="1" dirty="0" smtClean="0">
                            <a:latin typeface="Cambria Math"/>
                          </a:rPr>
                          <m:t>1</m:t>
                        </m:r>
                      </m:sub>
                    </m:sSub>
                    <m:r>
                      <a:rPr lang="en-US" i="1" dirty="0" smtClean="0">
                        <a:latin typeface="Cambria Math"/>
                      </a:rPr>
                      <m:t>−</m:t>
                    </m:r>
                    <m:f>
                      <m:fPr>
                        <m:ctrlPr>
                          <a:rPr lang="en-US" b="0" i="1" dirty="0" smtClean="0">
                            <a:latin typeface="Cambria Math"/>
                          </a:rPr>
                        </m:ctrlPr>
                      </m:fPr>
                      <m:num>
                        <m:r>
                          <a:rPr lang="en-US" i="1" dirty="0" smtClean="0">
                            <a:latin typeface="Cambria Math"/>
                          </a:rPr>
                          <m:t>1</m:t>
                        </m:r>
                      </m:num>
                      <m:den>
                        <m:r>
                          <a:rPr lang="en-US" i="1" dirty="0" smtClean="0">
                            <a:latin typeface="Cambria Math"/>
                          </a:rPr>
                          <m:t>3</m:t>
                        </m:r>
                      </m:den>
                    </m:f>
                    <m:r>
                      <a:rPr lang="en-US" i="1" dirty="0" smtClean="0">
                        <a:latin typeface="Cambria Math"/>
                      </a:rPr>
                      <m:t> </m:t>
                    </m:r>
                    <m:sSub>
                      <m:sSubPr>
                        <m:ctrlPr>
                          <a:rPr lang="en-US" b="0" i="1" dirty="0" smtClean="0">
                            <a:latin typeface="Cambria Math"/>
                          </a:rPr>
                        </m:ctrlPr>
                      </m:sSubPr>
                      <m:e>
                        <m:r>
                          <a:rPr lang="en-US" i="1" dirty="0" smtClean="0">
                            <a:latin typeface="Cambria Math"/>
                          </a:rPr>
                          <m:t>𝑠</m:t>
                        </m:r>
                      </m:e>
                      <m:sub>
                        <m:r>
                          <a:rPr lang="en-US" i="1" dirty="0" smtClean="0">
                            <a:latin typeface="Cambria Math"/>
                          </a:rPr>
                          <m:t>1</m:t>
                        </m:r>
                      </m:sub>
                    </m:sSub>
                    <m:r>
                      <a:rPr lang="en-US" i="1" dirty="0" smtClean="0">
                        <a:latin typeface="Cambria Math"/>
                      </a:rPr>
                      <m:t> </m:t>
                    </m:r>
                  </m:oMath>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1600200" y="4315724"/>
                <a:ext cx="3962400" cy="484876"/>
              </a:xfrm>
              <a:prstGeom prst="rect">
                <a:avLst/>
              </a:prstGeom>
              <a:blipFill rotWithShape="1">
                <a:blip r:embed="rId4"/>
                <a:stretch>
                  <a:fillRect l="-1385" b="-7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827358412"/>
                  </p:ext>
                </p:extLst>
              </p:nvPr>
            </p:nvGraphicFramePr>
            <p:xfrm>
              <a:off x="1447800" y="4820478"/>
              <a:ext cx="5225143" cy="1854200"/>
            </p:xfrm>
            <a:graphic>
              <a:graphicData uri="http://schemas.openxmlformats.org/drawingml/2006/table">
                <a:tbl>
                  <a:tblPr firstRow="1" bandRow="1">
                    <a:tableStyleId>{5940675A-B579-460E-94D1-54222C63F5DA}</a:tableStyleId>
                  </a:tblPr>
                  <a:tblGrid>
                    <a:gridCol w="746449"/>
                    <a:gridCol w="746449"/>
                    <a:gridCol w="746449"/>
                    <a:gridCol w="746449"/>
                    <a:gridCol w="746449"/>
                    <a:gridCol w="746449"/>
                    <a:gridCol w="746449"/>
                  </a:tblGrid>
                  <a:tr h="370840">
                    <a:tc>
                      <a:txBody>
                        <a:bodyPr/>
                        <a:lstStyle/>
                        <a:p>
                          <a:pPr algn="ctr"/>
                          <a:r>
                            <a:rPr lang="en-US" dirty="0" smtClean="0"/>
                            <a:t>B.V</a:t>
                          </a:r>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i="1" dirty="0" smtClean="0">
                                        <a:latin typeface="Cambria Math"/>
                                      </a:rPr>
                                      <m:t>𝑥</m:t>
                                    </m:r>
                                  </m:e>
                                  <m:sub>
                                    <m:r>
                                      <a:rPr lang="en-US" i="1" dirty="0" smtClean="0">
                                        <a:latin typeface="Cambria Math"/>
                                      </a:rPr>
                                      <m:t>1</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b="0" i="1" dirty="0" smtClean="0">
                                        <a:latin typeface="Cambria Math"/>
                                      </a:rPr>
                                      <m:t>𝑥</m:t>
                                    </m:r>
                                  </m:e>
                                  <m:sub>
                                    <m:r>
                                      <a:rPr lang="en-US" i="1" dirty="0" smtClean="0">
                                        <a:latin typeface="Cambria Math"/>
                                      </a:rPr>
                                      <m:t>2</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tx1"/>
                                        </a:solidFill>
                                        <a:latin typeface="Cambria Math"/>
                                      </a:rPr>
                                    </m:ctrlPr>
                                  </m:sSubPr>
                                  <m:e>
                                    <m:r>
                                      <a:rPr lang="en-US" i="1" dirty="0" smtClean="0">
                                        <a:solidFill>
                                          <a:schemeClr val="tx1"/>
                                        </a:solidFill>
                                        <a:latin typeface="Cambria Math"/>
                                      </a:rPr>
                                      <m:t>𝑆</m:t>
                                    </m:r>
                                  </m:e>
                                  <m:sub>
                                    <m:r>
                                      <a:rPr lang="en-US" i="1" dirty="0" smtClean="0">
                                        <a:solidFill>
                                          <a:schemeClr val="tx1"/>
                                        </a:solidFill>
                                        <a:latin typeface="Cambria Math"/>
                                      </a:rPr>
                                      <m:t>1</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i="1" dirty="0" smtClean="0">
                                        <a:latin typeface="Cambria Math"/>
                                      </a:rPr>
                                      <m:t>𝑆</m:t>
                                    </m:r>
                                  </m:e>
                                  <m:sub>
                                    <m:r>
                                      <a:rPr lang="en-US" i="1" dirty="0" smtClean="0">
                                        <a:latin typeface="Cambria Math"/>
                                      </a:rPr>
                                      <m:t>2</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a:rPr>
                                    </m:ctrlPr>
                                  </m:sSubPr>
                                  <m:e>
                                    <m:r>
                                      <a:rPr lang="en-US" b="0" i="1" smtClean="0">
                                        <a:latin typeface="Cambria Math"/>
                                      </a:rPr>
                                      <m:t>𝐺</m:t>
                                    </m:r>
                                  </m:e>
                                  <m:sub>
                                    <m:r>
                                      <a:rPr lang="en-US" b="0" i="1" smtClean="0">
                                        <a:latin typeface="Cambria Math"/>
                                      </a:rPr>
                                      <m:t>1</m:t>
                                    </m:r>
                                  </m:sub>
                                </m:sSub>
                              </m:oMath>
                            </m:oMathPara>
                          </a14:m>
                          <a:endParaRPr lang="en-GB" dirty="0"/>
                        </a:p>
                      </a:txBody>
                      <a:tcPr/>
                    </a:tc>
                    <a:tc>
                      <a:txBody>
                        <a:bodyPr/>
                        <a:lstStyle/>
                        <a:p>
                          <a:r>
                            <a:rPr lang="en-US" dirty="0" smtClean="0"/>
                            <a:t>sol</a:t>
                          </a:r>
                          <a:endParaRPr lang="en-GB" dirty="0"/>
                        </a:p>
                      </a:txBody>
                      <a:tcPr/>
                    </a:tc>
                  </a:tr>
                  <a:tr h="370840">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a:rPr>
                                  <m:t>𝑧</m:t>
                                </m:r>
                              </m:oMath>
                            </m:oMathPara>
                          </a14:m>
                          <a:endParaRPr lang="en-GB" dirty="0"/>
                        </a:p>
                      </a:txBody>
                      <a:tcPr/>
                    </a:tc>
                    <a:tc>
                      <a:txBody>
                        <a:bodyPr/>
                        <a:lstStyle/>
                        <a:p>
                          <a:pPr algn="ctr"/>
                          <a:r>
                            <a:rPr lang="en-US" dirty="0" smtClean="0"/>
                            <a:t>0</a:t>
                          </a:r>
                          <a:endParaRPr lang="en-GB" dirty="0"/>
                        </a:p>
                      </a:txBody>
                      <a:tcPr/>
                    </a:tc>
                    <a:tc>
                      <a:txBody>
                        <a:bodyPr/>
                        <a:lstStyle/>
                        <a:p>
                          <a:pPr algn="ctr"/>
                          <a:r>
                            <a:rPr lang="en-US" dirty="0" smtClean="0"/>
                            <a:t>0</a:t>
                          </a:r>
                          <a:endParaRPr lang="en-GB" dirty="0"/>
                        </a:p>
                      </a:txBody>
                      <a:tcPr/>
                    </a:tc>
                    <a:tc>
                      <a:txBody>
                        <a:bodyPr/>
                        <a:lstStyle/>
                        <a:p>
                          <a:pPr algn="ctr"/>
                          <a:r>
                            <a:rPr lang="en-US" dirty="0" smtClean="0">
                              <a:solidFill>
                                <a:schemeClr val="tx1"/>
                              </a:solidFill>
                            </a:rPr>
                            <a:t>0</a:t>
                          </a:r>
                          <a:endParaRPr lang="en-GB" dirty="0">
                            <a:solidFill>
                              <a:schemeClr val="tx1"/>
                            </a:solidFill>
                          </a:endParaRPr>
                        </a:p>
                      </a:txBody>
                      <a:tcPr/>
                    </a:tc>
                    <a:tc>
                      <a:txBody>
                        <a:bodyPr/>
                        <a:lstStyle/>
                        <a:p>
                          <a:pPr algn="ctr"/>
                          <a:r>
                            <a:rPr lang="en-US" dirty="0" smtClean="0">
                              <a:solidFill>
                                <a:schemeClr val="tx1"/>
                              </a:solidFill>
                            </a:rPr>
                            <a:t>0</a:t>
                          </a:r>
                          <a:endParaRPr lang="en-GB" dirty="0">
                            <a:solidFill>
                              <a:schemeClr val="tx1"/>
                            </a:solidFill>
                          </a:endParaRPr>
                        </a:p>
                      </a:txBody>
                      <a:tcPr/>
                    </a:tc>
                    <a:tc>
                      <a:txBody>
                        <a:bodyPr/>
                        <a:lstStyle/>
                        <a:p>
                          <a:pPr algn="ctr"/>
                          <a:r>
                            <a:rPr lang="en-US" dirty="0" smtClean="0"/>
                            <a:t>1</a:t>
                          </a:r>
                          <a:endParaRPr lang="en-GB" dirty="0"/>
                        </a:p>
                      </a:txBody>
                      <a:tcPr/>
                    </a:tc>
                    <a:tc>
                      <a:txBody>
                        <a:bodyPr/>
                        <a:lstStyle/>
                        <a:p>
                          <a:pPr algn="ctr"/>
                          <a:r>
                            <a:rPr lang="en-US" dirty="0" smtClean="0"/>
                            <a:t>2</a:t>
                          </a:r>
                          <a:endParaRPr lang="en-GB" dirty="0"/>
                        </a:p>
                      </a:txBody>
                      <a:tcPr/>
                    </a:tc>
                  </a:tr>
                  <a:tr h="370840">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b="0" i="1" dirty="0" smtClean="0">
                                        <a:latin typeface="Cambria Math"/>
                                      </a:rPr>
                                      <m:t>𝑥</m:t>
                                    </m:r>
                                  </m:e>
                                  <m:sub>
                                    <m:r>
                                      <a:rPr lang="en-US" i="1" dirty="0" smtClean="0">
                                        <a:latin typeface="Cambria Math"/>
                                      </a:rPr>
                                      <m:t>1</m:t>
                                    </m:r>
                                  </m:sub>
                                </m:sSub>
                              </m:oMath>
                            </m:oMathPara>
                          </a14:m>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r>
                  <a:tr h="370840">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a:rPr>
                                    </m:ctrlPr>
                                  </m:sSubPr>
                                  <m:e>
                                    <m:r>
                                      <a:rPr lang="en-US" b="0" i="1" dirty="0" smtClean="0">
                                        <a:latin typeface="Cambria Math"/>
                                      </a:rPr>
                                      <m:t>𝑥</m:t>
                                    </m:r>
                                  </m:e>
                                  <m:sub>
                                    <m:r>
                                      <a:rPr lang="en-US" i="1" dirty="0" smtClean="0">
                                        <a:latin typeface="Cambria Math"/>
                                      </a:rPr>
                                      <m:t>2</m:t>
                                    </m:r>
                                  </m:sub>
                                </m:sSub>
                              </m:oMath>
                            </m:oMathPara>
                          </a14:m>
                          <a:endParaRPr lang="en-GB" dirty="0"/>
                        </a:p>
                      </a:txBody>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2</a:t>
                          </a:r>
                          <a:endParaRPr lang="en-GB" dirty="0"/>
                        </a:p>
                      </a:txBody>
                      <a:tcPr/>
                    </a:tc>
                  </a:tr>
                  <a:tr h="370840">
                    <a:tc>
                      <a:txBody>
                        <a:bodyPr/>
                        <a:lstStyle/>
                        <a:p>
                          <a:pPr/>
                          <a14:m>
                            <m:oMathPara xmlns:m="http://schemas.openxmlformats.org/officeDocument/2006/math">
                              <m:oMathParaPr>
                                <m:jc m:val="centerGroup"/>
                              </m:oMathParaPr>
                              <m:oMath xmlns:m="http://schemas.openxmlformats.org/officeDocument/2006/math">
                                <m:sSub>
                                  <m:sSubPr>
                                    <m:ctrlPr>
                                      <a:rPr lang="en-US" b="0" i="1" dirty="0" smtClean="0">
                                        <a:solidFill>
                                          <a:schemeClr val="tx1"/>
                                        </a:solidFill>
                                        <a:latin typeface="Cambria Math"/>
                                      </a:rPr>
                                    </m:ctrlPr>
                                  </m:sSubPr>
                                  <m:e>
                                    <m:r>
                                      <a:rPr lang="en-US" b="0" i="1" dirty="0" smtClean="0">
                                        <a:solidFill>
                                          <a:schemeClr val="tx1"/>
                                        </a:solidFill>
                                        <a:latin typeface="Cambria Math"/>
                                      </a:rPr>
                                      <m:t>𝑆</m:t>
                                    </m:r>
                                  </m:e>
                                  <m:sub>
                                    <m:r>
                                      <a:rPr lang="en-US" b="0" i="1" dirty="0" smtClean="0">
                                        <a:solidFill>
                                          <a:schemeClr val="tx1"/>
                                        </a:solidFill>
                                        <a:latin typeface="Cambria Math"/>
                                      </a:rPr>
                                      <m:t>1</m:t>
                                    </m:r>
                                  </m:sub>
                                </m:sSub>
                              </m:oMath>
                            </m:oMathPara>
                          </a14:m>
                          <a:endParaRPr lang="en-GB" dirty="0">
                            <a:solidFill>
                              <a:schemeClr val="tx1"/>
                            </a:solidFill>
                          </a:endParaRPr>
                        </a:p>
                      </a:txBody>
                      <a:tcPr/>
                    </a:tc>
                    <a:tc>
                      <a:txBody>
                        <a:bodyPr/>
                        <a:lstStyle/>
                        <a:p>
                          <a:pPr algn="ctr"/>
                          <a:r>
                            <a:rPr lang="en-US" dirty="0" smtClean="0">
                              <a:solidFill>
                                <a:schemeClr val="tx1"/>
                              </a:solidFill>
                            </a:rPr>
                            <a:t>0</a:t>
                          </a:r>
                          <a:endParaRPr lang="en-GB" dirty="0">
                            <a:solidFill>
                              <a:schemeClr val="tx1"/>
                            </a:solidFill>
                          </a:endParaRPr>
                        </a:p>
                      </a:txBody>
                      <a:tcPr/>
                    </a:tc>
                    <a:tc>
                      <a:txBody>
                        <a:bodyPr/>
                        <a:lstStyle/>
                        <a:p>
                          <a:pPr algn="ctr"/>
                          <a:r>
                            <a:rPr lang="en-US" dirty="0" smtClean="0">
                              <a:solidFill>
                                <a:schemeClr val="tx1"/>
                              </a:solidFill>
                            </a:rPr>
                            <a:t>0</a:t>
                          </a:r>
                          <a:endParaRPr lang="en-GB" dirty="0">
                            <a:solidFill>
                              <a:schemeClr val="tx1"/>
                            </a:solidFill>
                          </a:endParaRPr>
                        </a:p>
                      </a:txBody>
                      <a:tcPr/>
                    </a:tc>
                    <a:tc>
                      <a:txBody>
                        <a:bodyPr/>
                        <a:lstStyle/>
                        <a:p>
                          <a:pPr algn="ctr"/>
                          <a:r>
                            <a:rPr lang="en-US" b="1" dirty="0" smtClean="0">
                              <a:solidFill>
                                <a:schemeClr val="tx1"/>
                              </a:solidFill>
                            </a:rPr>
                            <a:t>1</a:t>
                          </a:r>
                          <a:endParaRPr lang="en-GB" b="1" dirty="0">
                            <a:solidFill>
                              <a:schemeClr val="tx1"/>
                            </a:solidFill>
                          </a:endParaRPr>
                        </a:p>
                      </a:txBody>
                      <a:tcPr/>
                    </a:tc>
                    <a:tc>
                      <a:txBody>
                        <a:bodyPr/>
                        <a:lstStyle/>
                        <a:p>
                          <a:pPr algn="ctr"/>
                          <a:r>
                            <a:rPr lang="en-US" dirty="0" smtClean="0">
                              <a:solidFill>
                                <a:schemeClr val="tx1"/>
                              </a:solidFill>
                            </a:rPr>
                            <a:t>1</a:t>
                          </a:r>
                          <a:endParaRPr lang="en-GB" dirty="0">
                            <a:solidFill>
                              <a:schemeClr val="tx1"/>
                            </a:solidFill>
                          </a:endParaRPr>
                        </a:p>
                      </a:txBody>
                      <a:tcPr/>
                    </a:tc>
                    <a:tc>
                      <a:txBody>
                        <a:bodyPr/>
                        <a:lstStyle/>
                        <a:p>
                          <a:pPr algn="ctr"/>
                          <a:r>
                            <a:rPr lang="en-US" dirty="0" smtClean="0">
                              <a:solidFill>
                                <a:schemeClr val="tx1"/>
                              </a:solidFill>
                            </a:rPr>
                            <a:t>-3</a:t>
                          </a:r>
                          <a:endParaRPr lang="en-GB" dirty="0">
                            <a:solidFill>
                              <a:schemeClr val="tx1"/>
                            </a:solidFill>
                          </a:endParaRPr>
                        </a:p>
                      </a:txBody>
                      <a:tcPr/>
                    </a:tc>
                    <a:tc>
                      <a:txBody>
                        <a:bodyPr/>
                        <a:lstStyle/>
                        <a:p>
                          <a:pPr algn="ctr"/>
                          <a:r>
                            <a:rPr lang="en-US" dirty="0" smtClean="0">
                              <a:solidFill>
                                <a:schemeClr val="tx1"/>
                              </a:solidFill>
                            </a:rPr>
                            <a:t>1</a:t>
                          </a:r>
                          <a:endParaRPr lang="en-GB" dirty="0">
                            <a:solidFill>
                              <a:schemeClr val="tx1"/>
                            </a:solidFill>
                          </a:endParaRPr>
                        </a:p>
                      </a:txBody>
                      <a:tcPr/>
                    </a:tc>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827358412"/>
                  </p:ext>
                </p:extLst>
              </p:nvPr>
            </p:nvGraphicFramePr>
            <p:xfrm>
              <a:off x="1447800" y="4820478"/>
              <a:ext cx="5225143" cy="1854200"/>
            </p:xfrm>
            <a:graphic>
              <a:graphicData uri="http://schemas.openxmlformats.org/drawingml/2006/table">
                <a:tbl>
                  <a:tblPr firstRow="1" bandRow="1">
                    <a:tableStyleId>{5940675A-B579-460E-94D1-54222C63F5DA}</a:tableStyleId>
                  </a:tblPr>
                  <a:tblGrid>
                    <a:gridCol w="746449"/>
                    <a:gridCol w="746449"/>
                    <a:gridCol w="746449"/>
                    <a:gridCol w="746449"/>
                    <a:gridCol w="746449"/>
                    <a:gridCol w="746449"/>
                    <a:gridCol w="746449"/>
                  </a:tblGrid>
                  <a:tr h="370840">
                    <a:tc>
                      <a:txBody>
                        <a:bodyPr/>
                        <a:lstStyle/>
                        <a:p>
                          <a:pPr algn="ctr"/>
                          <a:r>
                            <a:rPr lang="en-US" dirty="0" smtClean="0"/>
                            <a:t>B.V</a:t>
                          </a:r>
                          <a:endParaRPr lang="en-GB" dirty="0"/>
                        </a:p>
                      </a:txBody>
                      <a:tcPr/>
                    </a:tc>
                    <a:tc>
                      <a:txBody>
                        <a:bodyPr/>
                        <a:lstStyle/>
                        <a:p>
                          <a:endParaRPr lang="en-US"/>
                        </a:p>
                      </a:txBody>
                      <a:tcPr>
                        <a:blipFill rotWithShape="1">
                          <a:blip r:embed="rId5"/>
                          <a:stretch>
                            <a:fillRect l="-100000" t="-8197" r="-497561" b="-422951"/>
                          </a:stretch>
                        </a:blipFill>
                      </a:tcPr>
                    </a:tc>
                    <a:tc>
                      <a:txBody>
                        <a:bodyPr/>
                        <a:lstStyle/>
                        <a:p>
                          <a:endParaRPr lang="en-US"/>
                        </a:p>
                      </a:txBody>
                      <a:tcPr>
                        <a:blipFill rotWithShape="1">
                          <a:blip r:embed="rId5"/>
                          <a:stretch>
                            <a:fillRect l="-201639" t="-8197" r="-401639" b="-422951"/>
                          </a:stretch>
                        </a:blipFill>
                      </a:tcPr>
                    </a:tc>
                    <a:tc>
                      <a:txBody>
                        <a:bodyPr/>
                        <a:lstStyle/>
                        <a:p>
                          <a:endParaRPr lang="en-US"/>
                        </a:p>
                      </a:txBody>
                      <a:tcPr>
                        <a:blipFill rotWithShape="1">
                          <a:blip r:embed="rId5"/>
                          <a:stretch>
                            <a:fillRect l="-299187" t="-8197" r="-298374" b="-422951"/>
                          </a:stretch>
                        </a:blipFill>
                      </a:tcPr>
                    </a:tc>
                    <a:tc>
                      <a:txBody>
                        <a:bodyPr/>
                        <a:lstStyle/>
                        <a:p>
                          <a:endParaRPr lang="en-US"/>
                        </a:p>
                      </a:txBody>
                      <a:tcPr>
                        <a:blipFill rotWithShape="1">
                          <a:blip r:embed="rId5"/>
                          <a:stretch>
                            <a:fillRect l="-402459" t="-8197" r="-200820" b="-422951"/>
                          </a:stretch>
                        </a:blipFill>
                      </a:tcPr>
                    </a:tc>
                    <a:tc>
                      <a:txBody>
                        <a:bodyPr/>
                        <a:lstStyle/>
                        <a:p>
                          <a:endParaRPr lang="en-US"/>
                        </a:p>
                      </a:txBody>
                      <a:tcPr>
                        <a:blipFill rotWithShape="1">
                          <a:blip r:embed="rId5"/>
                          <a:stretch>
                            <a:fillRect l="-498374" t="-8197" r="-99187" b="-422951"/>
                          </a:stretch>
                        </a:blipFill>
                      </a:tcPr>
                    </a:tc>
                    <a:tc>
                      <a:txBody>
                        <a:bodyPr/>
                        <a:lstStyle/>
                        <a:p>
                          <a:r>
                            <a:rPr lang="en-US" dirty="0" smtClean="0"/>
                            <a:t>sol</a:t>
                          </a:r>
                          <a:endParaRPr lang="en-GB" dirty="0"/>
                        </a:p>
                      </a:txBody>
                      <a:tcPr/>
                    </a:tc>
                  </a:tr>
                  <a:tr h="370840">
                    <a:tc>
                      <a:txBody>
                        <a:bodyPr/>
                        <a:lstStyle/>
                        <a:p>
                          <a:endParaRPr lang="en-US"/>
                        </a:p>
                      </a:txBody>
                      <a:tcPr>
                        <a:blipFill rotWithShape="1">
                          <a:blip r:embed="rId5"/>
                          <a:stretch>
                            <a:fillRect l="-820" t="-108197" r="-602459" b="-322951"/>
                          </a:stretch>
                        </a:blipFill>
                      </a:tcPr>
                    </a:tc>
                    <a:tc>
                      <a:txBody>
                        <a:bodyPr/>
                        <a:lstStyle/>
                        <a:p>
                          <a:pPr algn="ctr"/>
                          <a:r>
                            <a:rPr lang="en-US" dirty="0" smtClean="0"/>
                            <a:t>0</a:t>
                          </a:r>
                          <a:endParaRPr lang="en-GB" dirty="0"/>
                        </a:p>
                      </a:txBody>
                      <a:tcPr/>
                    </a:tc>
                    <a:tc>
                      <a:txBody>
                        <a:bodyPr/>
                        <a:lstStyle/>
                        <a:p>
                          <a:pPr algn="ctr"/>
                          <a:r>
                            <a:rPr lang="en-US" dirty="0" smtClean="0"/>
                            <a:t>0</a:t>
                          </a:r>
                          <a:endParaRPr lang="en-GB" dirty="0"/>
                        </a:p>
                      </a:txBody>
                      <a:tcPr/>
                    </a:tc>
                    <a:tc>
                      <a:txBody>
                        <a:bodyPr/>
                        <a:lstStyle/>
                        <a:p>
                          <a:pPr algn="ctr"/>
                          <a:r>
                            <a:rPr lang="en-US" dirty="0" smtClean="0">
                              <a:solidFill>
                                <a:schemeClr val="tx1"/>
                              </a:solidFill>
                            </a:rPr>
                            <a:t>0</a:t>
                          </a:r>
                          <a:endParaRPr lang="en-GB" dirty="0">
                            <a:solidFill>
                              <a:schemeClr val="tx1"/>
                            </a:solidFill>
                          </a:endParaRPr>
                        </a:p>
                      </a:txBody>
                      <a:tcPr/>
                    </a:tc>
                    <a:tc>
                      <a:txBody>
                        <a:bodyPr/>
                        <a:lstStyle/>
                        <a:p>
                          <a:pPr algn="ctr"/>
                          <a:r>
                            <a:rPr lang="en-US" dirty="0" smtClean="0">
                              <a:solidFill>
                                <a:schemeClr val="tx1"/>
                              </a:solidFill>
                            </a:rPr>
                            <a:t>0</a:t>
                          </a:r>
                          <a:endParaRPr lang="en-GB" dirty="0">
                            <a:solidFill>
                              <a:schemeClr val="tx1"/>
                            </a:solidFill>
                          </a:endParaRPr>
                        </a:p>
                      </a:txBody>
                      <a:tcPr/>
                    </a:tc>
                    <a:tc>
                      <a:txBody>
                        <a:bodyPr/>
                        <a:lstStyle/>
                        <a:p>
                          <a:pPr algn="ctr"/>
                          <a:r>
                            <a:rPr lang="en-US" dirty="0" smtClean="0"/>
                            <a:t>1</a:t>
                          </a:r>
                          <a:endParaRPr lang="en-GB" dirty="0"/>
                        </a:p>
                      </a:txBody>
                      <a:tcPr/>
                    </a:tc>
                    <a:tc>
                      <a:txBody>
                        <a:bodyPr/>
                        <a:lstStyle/>
                        <a:p>
                          <a:pPr algn="ctr"/>
                          <a:r>
                            <a:rPr lang="en-US" dirty="0" smtClean="0"/>
                            <a:t>2</a:t>
                          </a:r>
                          <a:endParaRPr lang="en-GB" dirty="0"/>
                        </a:p>
                      </a:txBody>
                      <a:tcPr/>
                    </a:tc>
                  </a:tr>
                  <a:tr h="370840">
                    <a:tc>
                      <a:txBody>
                        <a:bodyPr/>
                        <a:lstStyle/>
                        <a:p>
                          <a:endParaRPr lang="en-US"/>
                        </a:p>
                      </a:txBody>
                      <a:tcPr>
                        <a:blipFill rotWithShape="1">
                          <a:blip r:embed="rId5"/>
                          <a:stretch>
                            <a:fillRect l="-820" t="-211667" r="-602459" b="-228333"/>
                          </a:stretch>
                        </a:blipFill>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r>
                  <a:tr h="370840">
                    <a:tc>
                      <a:txBody>
                        <a:bodyPr/>
                        <a:lstStyle/>
                        <a:p>
                          <a:endParaRPr lang="en-US"/>
                        </a:p>
                      </a:txBody>
                      <a:tcPr>
                        <a:blipFill rotWithShape="1">
                          <a:blip r:embed="rId5"/>
                          <a:stretch>
                            <a:fillRect l="-820" t="-306557" r="-602459" b="-124590"/>
                          </a:stretch>
                        </a:blipFill>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1</a:t>
                          </a:r>
                          <a:endParaRPr lang="en-GB" dirty="0"/>
                        </a:p>
                      </a:txBody>
                      <a:tcPr/>
                    </a:tc>
                    <a:tc>
                      <a:txBody>
                        <a:bodyPr/>
                        <a:lstStyle/>
                        <a:p>
                          <a:pPr algn="ctr"/>
                          <a:r>
                            <a:rPr lang="en-US" dirty="0" smtClean="0"/>
                            <a:t>0</a:t>
                          </a:r>
                          <a:endParaRPr lang="en-GB" dirty="0"/>
                        </a:p>
                      </a:txBody>
                      <a:tcPr/>
                    </a:tc>
                    <a:tc>
                      <a:txBody>
                        <a:bodyPr/>
                        <a:lstStyle/>
                        <a:p>
                          <a:pPr algn="ctr"/>
                          <a:r>
                            <a:rPr lang="en-US" dirty="0" smtClean="0"/>
                            <a:t>2</a:t>
                          </a:r>
                          <a:endParaRPr lang="en-GB" dirty="0"/>
                        </a:p>
                      </a:txBody>
                      <a:tcPr/>
                    </a:tc>
                  </a:tr>
                  <a:tr h="370840">
                    <a:tc>
                      <a:txBody>
                        <a:bodyPr/>
                        <a:lstStyle/>
                        <a:p>
                          <a:endParaRPr lang="en-US"/>
                        </a:p>
                      </a:txBody>
                      <a:tcPr>
                        <a:blipFill rotWithShape="1">
                          <a:blip r:embed="rId5"/>
                          <a:stretch>
                            <a:fillRect l="-820" t="-406557" r="-602459" b="-24590"/>
                          </a:stretch>
                        </a:blipFill>
                      </a:tcPr>
                    </a:tc>
                    <a:tc>
                      <a:txBody>
                        <a:bodyPr/>
                        <a:lstStyle/>
                        <a:p>
                          <a:pPr algn="ctr"/>
                          <a:r>
                            <a:rPr lang="en-US" dirty="0" smtClean="0">
                              <a:solidFill>
                                <a:schemeClr val="tx1"/>
                              </a:solidFill>
                            </a:rPr>
                            <a:t>0</a:t>
                          </a:r>
                          <a:endParaRPr lang="en-GB" dirty="0">
                            <a:solidFill>
                              <a:schemeClr val="tx1"/>
                            </a:solidFill>
                          </a:endParaRPr>
                        </a:p>
                      </a:txBody>
                      <a:tcPr/>
                    </a:tc>
                    <a:tc>
                      <a:txBody>
                        <a:bodyPr/>
                        <a:lstStyle/>
                        <a:p>
                          <a:pPr algn="ctr"/>
                          <a:r>
                            <a:rPr lang="en-US" dirty="0" smtClean="0">
                              <a:solidFill>
                                <a:schemeClr val="tx1"/>
                              </a:solidFill>
                            </a:rPr>
                            <a:t>0</a:t>
                          </a:r>
                          <a:endParaRPr lang="en-GB" dirty="0">
                            <a:solidFill>
                              <a:schemeClr val="tx1"/>
                            </a:solidFill>
                          </a:endParaRPr>
                        </a:p>
                      </a:txBody>
                      <a:tcPr/>
                    </a:tc>
                    <a:tc>
                      <a:txBody>
                        <a:bodyPr/>
                        <a:lstStyle/>
                        <a:p>
                          <a:pPr algn="ctr"/>
                          <a:r>
                            <a:rPr lang="en-US" b="1" dirty="0" smtClean="0">
                              <a:solidFill>
                                <a:schemeClr val="tx1"/>
                              </a:solidFill>
                            </a:rPr>
                            <a:t>1</a:t>
                          </a:r>
                          <a:endParaRPr lang="en-GB" b="1" dirty="0">
                            <a:solidFill>
                              <a:schemeClr val="tx1"/>
                            </a:solidFill>
                          </a:endParaRPr>
                        </a:p>
                      </a:txBody>
                      <a:tcPr/>
                    </a:tc>
                    <a:tc>
                      <a:txBody>
                        <a:bodyPr/>
                        <a:lstStyle/>
                        <a:p>
                          <a:pPr algn="ctr"/>
                          <a:r>
                            <a:rPr lang="en-US" dirty="0" smtClean="0">
                              <a:solidFill>
                                <a:schemeClr val="tx1"/>
                              </a:solidFill>
                            </a:rPr>
                            <a:t>1</a:t>
                          </a:r>
                          <a:endParaRPr lang="en-GB" dirty="0">
                            <a:solidFill>
                              <a:schemeClr val="tx1"/>
                            </a:solidFill>
                          </a:endParaRPr>
                        </a:p>
                      </a:txBody>
                      <a:tcPr/>
                    </a:tc>
                    <a:tc>
                      <a:txBody>
                        <a:bodyPr/>
                        <a:lstStyle/>
                        <a:p>
                          <a:pPr algn="ctr"/>
                          <a:r>
                            <a:rPr lang="en-US" dirty="0" smtClean="0">
                              <a:solidFill>
                                <a:schemeClr val="tx1"/>
                              </a:solidFill>
                            </a:rPr>
                            <a:t>-3</a:t>
                          </a:r>
                          <a:endParaRPr lang="en-GB" dirty="0">
                            <a:solidFill>
                              <a:schemeClr val="tx1"/>
                            </a:solidFill>
                          </a:endParaRPr>
                        </a:p>
                      </a:txBody>
                      <a:tcPr/>
                    </a:tc>
                    <a:tc>
                      <a:txBody>
                        <a:bodyPr/>
                        <a:lstStyle/>
                        <a:p>
                          <a:pPr algn="ctr"/>
                          <a:r>
                            <a:rPr lang="en-US" dirty="0" smtClean="0">
                              <a:solidFill>
                                <a:schemeClr val="tx1"/>
                              </a:solidFill>
                            </a:rPr>
                            <a:t>1</a:t>
                          </a:r>
                          <a:endParaRPr lang="en-GB" dirty="0">
                            <a:solidFill>
                              <a:schemeClr val="tx1"/>
                            </a:solidFill>
                          </a:endParaRPr>
                        </a:p>
                      </a:txBody>
                      <a:tcPr/>
                    </a:tc>
                  </a:tr>
                </a:tbl>
              </a:graphicData>
            </a:graphic>
          </p:graphicFrame>
        </mc:Fallback>
      </mc:AlternateContent>
    </p:spTree>
    <p:extLst>
      <p:ext uri="{BB962C8B-B14F-4D97-AF65-F5344CB8AC3E}">
        <p14:creationId xmlns:p14="http://schemas.microsoft.com/office/powerpoint/2010/main" val="35976507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0" y="152400"/>
                <a:ext cx="8382000" cy="3541714"/>
              </a:xfrm>
            </p:spPr>
            <p:txBody>
              <a:bodyPr/>
              <a:lstStyle/>
              <a:p>
                <a:pPr marL="0" indent="0">
                  <a:buNone/>
                </a:pPr>
                <a:r>
                  <a:rPr lang="en-US" sz="1800" dirty="0" smtClean="0">
                    <a:effectLst/>
                    <a:latin typeface="Arial" pitchFamily="34" charset="0"/>
                    <a:cs typeface="Arial" pitchFamily="34" charset="0"/>
                  </a:rPr>
                  <a:t>Non-negative integer values of </a:t>
                </a:r>
                <a:r>
                  <a:rPr lang="en-US" sz="1800" dirty="0">
                    <a:effectLst/>
                    <a:latin typeface="Arial" pitchFamily="34" charset="0"/>
                    <a:cs typeface="Arial" pitchFamily="34" charset="0"/>
                  </a:rPr>
                  <a:t>basic variables, so stop the procedure</a:t>
                </a:r>
                <a:r>
                  <a:rPr lang="en-US" sz="1800" dirty="0" smtClean="0">
                    <a:effectLst/>
                    <a:latin typeface="Arial" pitchFamily="34" charset="0"/>
                    <a:cs typeface="Arial" pitchFamily="34" charset="0"/>
                  </a:rPr>
                  <a:t>.</a:t>
                </a:r>
              </a:p>
              <a:p>
                <a:pPr marL="0" indent="0">
                  <a:buNone/>
                </a:pPr>
                <a:r>
                  <a:rPr lang="en-US" sz="1800" dirty="0" smtClean="0">
                    <a:effectLst/>
                    <a:latin typeface="Arial" pitchFamily="34" charset="0"/>
                    <a:cs typeface="Arial" pitchFamily="34" charset="0"/>
                  </a:rPr>
                  <a:t>Optimal integer solution is obtained.</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a:rPr>
                          </m:ctrlPr>
                        </m:sSubPr>
                        <m:e>
                          <m:r>
                            <a:rPr lang="en-US" b="0" i="1" smtClean="0">
                              <a:latin typeface="Cambria Math"/>
                            </a:rPr>
                            <m:t>𝑥</m:t>
                          </m:r>
                        </m:e>
                        <m:sub>
                          <m:r>
                            <a:rPr lang="en-US" b="0" i="1" smtClean="0">
                              <a:latin typeface="Cambria Math"/>
                            </a:rPr>
                            <m:t>1</m:t>
                          </m:r>
                        </m:sub>
                      </m:sSub>
                      <m:r>
                        <a:rPr lang="en-US" b="0" i="1" smtClean="0">
                          <a:latin typeface="Cambria Math"/>
                        </a:rPr>
                        <m:t>=0, </m:t>
                      </m:r>
                      <m:sSub>
                        <m:sSubPr>
                          <m:ctrlPr>
                            <a:rPr lang="en-US" b="0" i="1" smtClean="0">
                              <a:latin typeface="Cambria Math"/>
                            </a:rPr>
                          </m:ctrlPr>
                        </m:sSubPr>
                        <m:e>
                          <m:r>
                            <a:rPr lang="en-US" b="0" i="1" smtClean="0">
                              <a:latin typeface="Cambria Math"/>
                            </a:rPr>
                            <m:t>𝑥</m:t>
                          </m:r>
                        </m:e>
                        <m:sub>
                          <m:r>
                            <a:rPr lang="en-US" b="0" i="1" smtClean="0">
                              <a:latin typeface="Cambria Math"/>
                            </a:rPr>
                            <m:t>2</m:t>
                          </m:r>
                        </m:sub>
                      </m:sSub>
                      <m:r>
                        <a:rPr lang="en-US" b="0" i="1" smtClean="0">
                          <a:latin typeface="Cambria Math"/>
                        </a:rPr>
                        <m:t>=2, </m:t>
                      </m:r>
                      <m:func>
                        <m:funcPr>
                          <m:ctrlPr>
                            <a:rPr lang="en-US" b="0" i="1" smtClean="0">
                              <a:latin typeface="Cambria Math"/>
                            </a:rPr>
                          </m:ctrlPr>
                        </m:funcPr>
                        <m:fName>
                          <m:r>
                            <m:rPr>
                              <m:sty m:val="p"/>
                            </m:rPr>
                            <a:rPr lang="en-US" b="0" i="0" smtClean="0">
                              <a:latin typeface="Cambria Math"/>
                            </a:rPr>
                            <m:t>max</m:t>
                          </m:r>
                        </m:fName>
                        <m:e>
                          <m:r>
                            <a:rPr lang="en-US" b="0" i="1" smtClean="0">
                              <a:latin typeface="Cambria Math"/>
                            </a:rPr>
                            <m:t>𝑧</m:t>
                          </m:r>
                          <m:r>
                            <a:rPr lang="en-US" b="0" i="1" smtClean="0">
                              <a:latin typeface="Cambria Math"/>
                            </a:rPr>
                            <m:t>=2</m:t>
                          </m:r>
                        </m:e>
                      </m:func>
                    </m:oMath>
                  </m:oMathPara>
                </a14:m>
                <a:endParaRPr lang="en-GB" dirty="0"/>
              </a:p>
              <a:p>
                <a:pPr marL="0"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0" y="152400"/>
                <a:ext cx="8382000" cy="3541714"/>
              </a:xfrm>
              <a:blipFill rotWithShape="1">
                <a:blip r:embed="rId2"/>
                <a:stretch>
                  <a:fillRect l="-1673"/>
                </a:stretch>
              </a:blipFill>
            </p:spPr>
            <p:txBody>
              <a:bodyPr/>
              <a:lstStyle/>
              <a:p>
                <a:r>
                  <a:rPr lang="en-GB">
                    <a:noFill/>
                  </a:rPr>
                  <a:t> </a:t>
                </a:r>
              </a:p>
            </p:txBody>
          </p:sp>
        </mc:Fallback>
      </mc:AlternateContent>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7800" y="1497496"/>
            <a:ext cx="6324600" cy="5334000"/>
          </a:xfrm>
          <a:prstGeom prst="rect">
            <a:avLst/>
          </a:prstGeom>
        </p:spPr>
      </p:pic>
    </p:spTree>
    <p:extLst>
      <p:ext uri="{BB962C8B-B14F-4D97-AF65-F5344CB8AC3E}">
        <p14:creationId xmlns:p14="http://schemas.microsoft.com/office/powerpoint/2010/main" val="26007431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 Exercises</a:t>
            </a:r>
            <a:endParaRPr lang="en-GB" dirty="0"/>
          </a:p>
        </p:txBody>
      </p:sp>
      <p:sp>
        <p:nvSpPr>
          <p:cNvPr id="3" name="Content Placeholder 2"/>
          <p:cNvSpPr>
            <a:spLocks noGrp="1"/>
          </p:cNvSpPr>
          <p:nvPr>
            <p:ph idx="1"/>
          </p:nvPr>
        </p:nvSpPr>
        <p:spPr/>
        <p:txBody>
          <a:bodyPr/>
          <a:lstStyle/>
          <a:p>
            <a:pPr marL="0" indent="0">
              <a:buNone/>
            </a:pPr>
            <a:r>
              <a:rPr lang="en-US" dirty="0" smtClean="0"/>
              <a:t>Example 7.2</a:t>
            </a:r>
            <a:r>
              <a:rPr lang="en-US" smtClean="0"/>
              <a:t>, Example 7.3</a:t>
            </a:r>
            <a:endParaRPr lang="en-GB" dirty="0"/>
          </a:p>
        </p:txBody>
      </p:sp>
    </p:spTree>
    <p:extLst>
      <p:ext uri="{BB962C8B-B14F-4D97-AF65-F5344CB8AC3E}">
        <p14:creationId xmlns:p14="http://schemas.microsoft.com/office/powerpoint/2010/main" val="21899540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49" y="152400"/>
            <a:ext cx="7429499" cy="1376066"/>
          </a:xfrm>
        </p:spPr>
        <p:txBody>
          <a:bodyPr>
            <a:normAutofit/>
          </a:bodyPr>
          <a:lstStyle/>
          <a:p>
            <a:r>
              <a:rPr lang="en-US" dirty="0" smtClean="0">
                <a:solidFill>
                  <a:srgbClr val="C00000"/>
                </a:solidFill>
              </a:rPr>
              <a:t>Dual simplex method</a:t>
            </a:r>
            <a:br>
              <a:rPr lang="en-US" dirty="0" smtClean="0">
                <a:solidFill>
                  <a:srgbClr val="C00000"/>
                </a:solidFill>
              </a:rPr>
            </a:br>
            <a:endParaRPr lang="en-GB" dirty="0">
              <a:solidFill>
                <a:srgbClr val="C00000"/>
              </a:solidFill>
            </a:endParaRPr>
          </a:p>
        </p:txBody>
      </p:sp>
      <mc:AlternateContent xmlns:mc="http://schemas.openxmlformats.org/markup-compatibility/2006">
        <mc:Choice xmlns:a14="http://schemas.microsoft.com/office/drawing/2010/main" Requires="a14">
          <p:sp>
            <p:nvSpPr>
              <p:cNvPr id="3" name="Rectangle 2"/>
              <p:cNvSpPr/>
              <p:nvPr/>
            </p:nvSpPr>
            <p:spPr>
              <a:xfrm>
                <a:off x="762000" y="2590800"/>
                <a:ext cx="7848600" cy="3816429"/>
              </a:xfrm>
              <a:prstGeom prst="rect">
                <a:avLst/>
              </a:prstGeom>
            </p:spPr>
            <p:txBody>
              <a:bodyPr wrap="square">
                <a:spAutoFit/>
              </a:bodyPr>
              <a:lstStyle/>
              <a:p>
                <a:r>
                  <a:rPr lang="fr-FR" sz="2800" dirty="0" smtClean="0">
                    <a:latin typeface="Times New Roman" pitchFamily="18" charset="0"/>
                    <a:cs typeface="Times New Roman" pitchFamily="18" charset="0"/>
                  </a:rPr>
                  <a:t>min z </a:t>
                </a:r>
                <a:r>
                  <a:rPr lang="fr-FR" sz="2800" dirty="0" smtClean="0"/>
                  <a:t>= </a:t>
                </a:r>
                <a14:m>
                  <m:oMath xmlns:m="http://schemas.openxmlformats.org/officeDocument/2006/math">
                    <m:r>
                      <a:rPr lang="fr-FR" sz="2800" i="1" dirty="0">
                        <a:latin typeface="Cambria Math"/>
                      </a:rPr>
                      <m:t>3</m:t>
                    </m:r>
                    <m:sSub>
                      <m:sSubPr>
                        <m:ctrlPr>
                          <a:rPr lang="en-US" sz="2800" i="1" dirty="0">
                            <a:latin typeface="Cambria Math"/>
                          </a:rPr>
                        </m:ctrlPr>
                      </m:sSubPr>
                      <m:e>
                        <m:r>
                          <a:rPr lang="fr-FR" sz="2800" i="1" dirty="0">
                            <a:latin typeface="Cambria Math"/>
                          </a:rPr>
                          <m:t>𝑥</m:t>
                        </m:r>
                      </m:e>
                      <m:sub>
                        <m:r>
                          <a:rPr lang="fr-FR" sz="2800" i="1" dirty="0">
                            <a:latin typeface="Cambria Math"/>
                          </a:rPr>
                          <m:t>1</m:t>
                        </m:r>
                      </m:sub>
                    </m:sSub>
                    <m:r>
                      <a:rPr lang="fr-FR" sz="2800" i="1" dirty="0">
                        <a:latin typeface="Cambria Math"/>
                      </a:rPr>
                      <m:t>+2</m:t>
                    </m:r>
                    <m:sSub>
                      <m:sSubPr>
                        <m:ctrlPr>
                          <a:rPr lang="en-US" sz="2800" i="1" dirty="0">
                            <a:latin typeface="Cambria Math"/>
                          </a:rPr>
                        </m:ctrlPr>
                      </m:sSubPr>
                      <m:e>
                        <m:r>
                          <a:rPr lang="fr-FR" sz="2800" i="1" dirty="0">
                            <a:latin typeface="Cambria Math"/>
                          </a:rPr>
                          <m:t>𝑥</m:t>
                        </m:r>
                      </m:e>
                      <m:sub>
                        <m:r>
                          <a:rPr lang="fr-FR" sz="2800" i="1" dirty="0">
                            <a:latin typeface="Cambria Math"/>
                          </a:rPr>
                          <m:t>2</m:t>
                        </m:r>
                      </m:sub>
                    </m:sSub>
                  </m:oMath>
                </a14:m>
                <a:endParaRPr lang="en-US" sz="2800" i="1" dirty="0">
                  <a:latin typeface="Cambria Math"/>
                </a:endParaRPr>
              </a:p>
              <a:p>
                <a:pPr/>
                <a14:m>
                  <m:oMathPara xmlns:m="http://schemas.openxmlformats.org/officeDocument/2006/math">
                    <m:oMathParaPr>
                      <m:jc m:val="centerGroup"/>
                    </m:oMathParaPr>
                    <m:oMath xmlns:m="http://schemas.openxmlformats.org/officeDocument/2006/math">
                      <m:r>
                        <a:rPr lang="fr-FR" sz="2800" i="1" dirty="0">
                          <a:latin typeface="Cambria Math"/>
                        </a:rPr>
                        <m:t>3</m:t>
                      </m:r>
                      <m:sSub>
                        <m:sSubPr>
                          <m:ctrlPr>
                            <a:rPr lang="en-US" sz="2800" i="1" dirty="0">
                              <a:latin typeface="Cambria Math"/>
                            </a:rPr>
                          </m:ctrlPr>
                        </m:sSubPr>
                        <m:e>
                          <m:r>
                            <a:rPr lang="fr-FR" sz="2800" i="1" dirty="0">
                              <a:latin typeface="Cambria Math"/>
                            </a:rPr>
                            <m:t>𝑥</m:t>
                          </m:r>
                        </m:e>
                        <m:sub>
                          <m:r>
                            <a:rPr lang="fr-FR" sz="2800" i="1" dirty="0">
                              <a:latin typeface="Cambria Math"/>
                            </a:rPr>
                            <m:t>1</m:t>
                          </m:r>
                        </m:sub>
                      </m:sSub>
                      <m:r>
                        <a:rPr lang="fr-FR" sz="2800" i="1" dirty="0">
                          <a:latin typeface="Cambria Math"/>
                        </a:rPr>
                        <m:t>+2</m:t>
                      </m:r>
                      <m:sSub>
                        <m:sSubPr>
                          <m:ctrlPr>
                            <a:rPr lang="en-US" sz="2800" i="1" dirty="0">
                              <a:latin typeface="Cambria Math"/>
                            </a:rPr>
                          </m:ctrlPr>
                        </m:sSubPr>
                        <m:e>
                          <m:r>
                            <a:rPr lang="fr-FR" sz="2800" i="1" dirty="0">
                              <a:latin typeface="Cambria Math"/>
                            </a:rPr>
                            <m:t>𝑥</m:t>
                          </m:r>
                        </m:e>
                        <m:sub>
                          <m:r>
                            <a:rPr lang="fr-FR" sz="2800" i="1" dirty="0">
                              <a:latin typeface="Cambria Math"/>
                            </a:rPr>
                            <m:t>2</m:t>
                          </m:r>
                        </m:sub>
                      </m:sSub>
                      <m:r>
                        <a:rPr lang="en-US" sz="2800" i="1" dirty="0">
                          <a:latin typeface="Cambria Math"/>
                        </a:rPr>
                        <m:t>≤60, </m:t>
                      </m:r>
                    </m:oMath>
                  </m:oMathPara>
                </a14:m>
                <a:endParaRPr lang="en-US" sz="2800" i="1" dirty="0" smtClean="0">
                  <a:latin typeface="Cambria Math"/>
                </a:endParaRPr>
              </a:p>
              <a:p>
                <a:pPr/>
                <a14:m>
                  <m:oMathPara xmlns:m="http://schemas.openxmlformats.org/officeDocument/2006/math">
                    <m:oMathParaPr>
                      <m:jc m:val="centerGroup"/>
                    </m:oMathParaPr>
                    <m:oMath xmlns:m="http://schemas.openxmlformats.org/officeDocument/2006/math">
                      <m:sSub>
                        <m:sSubPr>
                          <m:ctrlPr>
                            <a:rPr lang="en-US" sz="2800" i="1" dirty="0">
                              <a:latin typeface="Cambria Math"/>
                            </a:rPr>
                          </m:ctrlPr>
                        </m:sSubPr>
                        <m:e>
                          <m:r>
                            <a:rPr lang="en-US" sz="2800" i="1" dirty="0">
                              <a:latin typeface="Cambria Math"/>
                            </a:rPr>
                            <m:t>𝑥</m:t>
                          </m:r>
                        </m:e>
                        <m:sub>
                          <m:r>
                            <a:rPr lang="en-US" sz="2800" i="1" dirty="0">
                              <a:latin typeface="Cambria Math"/>
                            </a:rPr>
                            <m:t>1</m:t>
                          </m:r>
                        </m:sub>
                      </m:sSub>
                      <m:r>
                        <a:rPr lang="en-US" sz="2800" i="1" dirty="0">
                          <a:latin typeface="Cambria Math"/>
                        </a:rPr>
                        <m:t>+4</m:t>
                      </m:r>
                      <m:sSub>
                        <m:sSubPr>
                          <m:ctrlPr>
                            <a:rPr lang="en-US" sz="2800" i="1" dirty="0">
                              <a:latin typeface="Cambria Math"/>
                            </a:rPr>
                          </m:ctrlPr>
                        </m:sSubPr>
                        <m:e>
                          <m:r>
                            <a:rPr lang="en-US" sz="2800" i="1" dirty="0">
                              <a:latin typeface="Cambria Math"/>
                            </a:rPr>
                            <m:t>𝑥</m:t>
                          </m:r>
                        </m:e>
                        <m:sub>
                          <m:r>
                            <a:rPr lang="en-US" sz="2800" i="1" dirty="0">
                              <a:latin typeface="Cambria Math"/>
                            </a:rPr>
                            <m:t>2</m:t>
                          </m:r>
                        </m:sub>
                      </m:sSub>
                      <m:r>
                        <a:rPr lang="en-US" sz="2800" i="1" dirty="0">
                          <a:latin typeface="Cambria Math"/>
                        </a:rPr>
                        <m:t>≤20, </m:t>
                      </m:r>
                    </m:oMath>
                  </m:oMathPara>
                </a14:m>
                <a:endParaRPr lang="en-US" sz="2800" i="1" dirty="0" smtClean="0">
                  <a:latin typeface="Cambria Math"/>
                </a:endParaRPr>
              </a:p>
              <a:p>
                <a:pPr/>
                <a14:m>
                  <m:oMathPara xmlns:m="http://schemas.openxmlformats.org/officeDocument/2006/math">
                    <m:oMathParaPr>
                      <m:jc m:val="centerGroup"/>
                    </m:oMathParaPr>
                    <m:oMath xmlns:m="http://schemas.openxmlformats.org/officeDocument/2006/math">
                      <m:r>
                        <a:rPr lang="en-US" sz="2800" i="1" dirty="0">
                          <a:latin typeface="Cambria Math"/>
                        </a:rPr>
                        <m:t>3</m:t>
                      </m:r>
                      <m:sSub>
                        <m:sSubPr>
                          <m:ctrlPr>
                            <a:rPr lang="en-US" sz="2800" i="1" dirty="0">
                              <a:latin typeface="Cambria Math"/>
                            </a:rPr>
                          </m:ctrlPr>
                        </m:sSubPr>
                        <m:e>
                          <m:r>
                            <a:rPr lang="en-US" sz="2800" i="1" dirty="0">
                              <a:latin typeface="Cambria Math"/>
                            </a:rPr>
                            <m:t>𝑥</m:t>
                          </m:r>
                        </m:e>
                        <m:sub>
                          <m:r>
                            <a:rPr lang="en-US" sz="2800" i="1" dirty="0">
                              <a:latin typeface="Cambria Math"/>
                            </a:rPr>
                            <m:t>1</m:t>
                          </m:r>
                        </m:sub>
                      </m:sSub>
                      <m:r>
                        <a:rPr lang="en-US" sz="2800" i="1" dirty="0">
                          <a:latin typeface="Cambria Math"/>
                        </a:rPr>
                        <m:t>+4</m:t>
                      </m:r>
                      <m:sSub>
                        <m:sSubPr>
                          <m:ctrlPr>
                            <a:rPr lang="en-US" sz="2800" i="1" dirty="0">
                              <a:latin typeface="Cambria Math"/>
                            </a:rPr>
                          </m:ctrlPr>
                        </m:sSubPr>
                        <m:e>
                          <m:r>
                            <a:rPr lang="en-US" sz="2800" i="1" dirty="0">
                              <a:latin typeface="Cambria Math"/>
                            </a:rPr>
                            <m:t>𝑥</m:t>
                          </m:r>
                        </m:e>
                        <m:sub>
                          <m:r>
                            <a:rPr lang="en-US" sz="2800" i="1" dirty="0">
                              <a:latin typeface="Cambria Math"/>
                            </a:rPr>
                            <m:t>2</m:t>
                          </m:r>
                        </m:sub>
                      </m:sSub>
                      <m:r>
                        <a:rPr lang="en-US" sz="2800" i="1" dirty="0">
                          <a:latin typeface="Cambria Math"/>
                        </a:rPr>
                        <m:t>≤50, </m:t>
                      </m:r>
                    </m:oMath>
                  </m:oMathPara>
                </a14:m>
                <a:endParaRPr lang="en-US" sz="2800" i="1" dirty="0" smtClean="0">
                  <a:latin typeface="Cambria Math"/>
                </a:endParaRPr>
              </a:p>
              <a:p>
                <a:pPr/>
                <a14:m>
                  <m:oMathPara xmlns:m="http://schemas.openxmlformats.org/officeDocument/2006/math">
                    <m:oMathParaPr>
                      <m:jc m:val="centerGroup"/>
                    </m:oMathParaPr>
                    <m:oMath xmlns:m="http://schemas.openxmlformats.org/officeDocument/2006/math">
                      <m:sSub>
                        <m:sSubPr>
                          <m:ctrlPr>
                            <a:rPr lang="en-US" sz="2800" i="1" dirty="0">
                              <a:latin typeface="Cambria Math"/>
                            </a:rPr>
                          </m:ctrlPr>
                        </m:sSubPr>
                        <m:e>
                          <m:r>
                            <a:rPr lang="en-US" sz="2800" i="1" dirty="0">
                              <a:latin typeface="Cambria Math"/>
                            </a:rPr>
                            <m:t>𝑥</m:t>
                          </m:r>
                        </m:e>
                        <m:sub>
                          <m:r>
                            <a:rPr lang="en-US" sz="2800" i="1" dirty="0">
                              <a:latin typeface="Cambria Math"/>
                            </a:rPr>
                            <m:t>1</m:t>
                          </m:r>
                        </m:sub>
                      </m:sSub>
                      <m:r>
                        <a:rPr lang="en-US" sz="2800" i="1" dirty="0">
                          <a:latin typeface="Cambria Math"/>
                        </a:rPr>
                        <m:t>+2</m:t>
                      </m:r>
                      <m:sSub>
                        <m:sSubPr>
                          <m:ctrlPr>
                            <a:rPr lang="en-US" sz="2800" i="1" dirty="0">
                              <a:latin typeface="Cambria Math"/>
                            </a:rPr>
                          </m:ctrlPr>
                        </m:sSubPr>
                        <m:e>
                          <m:r>
                            <a:rPr lang="en-US" sz="2800" i="1" dirty="0">
                              <a:latin typeface="Cambria Math"/>
                            </a:rPr>
                            <m:t>𝑥</m:t>
                          </m:r>
                        </m:e>
                        <m:sub>
                          <m:r>
                            <a:rPr lang="en-US" sz="2800" i="1" dirty="0">
                              <a:latin typeface="Cambria Math"/>
                            </a:rPr>
                            <m:t>2</m:t>
                          </m:r>
                        </m:sub>
                      </m:sSub>
                      <m:r>
                        <a:rPr lang="en-US" sz="2800" i="1" dirty="0">
                          <a:latin typeface="Cambria Math"/>
                        </a:rPr>
                        <m:t>≥10, </m:t>
                      </m:r>
                    </m:oMath>
                  </m:oMathPara>
                </a14:m>
                <a:endParaRPr lang="en-US" sz="2800" i="1" dirty="0" smtClean="0">
                  <a:latin typeface="Cambria Math"/>
                </a:endParaRPr>
              </a:p>
              <a:p>
                <a:pPr/>
                <a14:m>
                  <m:oMathPara xmlns:m="http://schemas.openxmlformats.org/officeDocument/2006/math">
                    <m:oMathParaPr>
                      <m:jc m:val="centerGroup"/>
                    </m:oMathParaPr>
                    <m:oMath xmlns:m="http://schemas.openxmlformats.org/officeDocument/2006/math">
                      <m:sSub>
                        <m:sSubPr>
                          <m:ctrlPr>
                            <a:rPr lang="en-US" sz="2800" i="1" dirty="0">
                              <a:latin typeface="Cambria Math"/>
                            </a:rPr>
                          </m:ctrlPr>
                        </m:sSubPr>
                        <m:e>
                          <m:r>
                            <a:rPr lang="en-US" sz="2800" i="1" dirty="0">
                              <a:latin typeface="Cambria Math"/>
                            </a:rPr>
                            <m:t>𝑥</m:t>
                          </m:r>
                        </m:e>
                        <m:sub>
                          <m:r>
                            <a:rPr lang="en-US" sz="2800" i="1" dirty="0">
                              <a:latin typeface="Cambria Math"/>
                            </a:rPr>
                            <m:t>1</m:t>
                          </m:r>
                        </m:sub>
                      </m:sSub>
                      <m:r>
                        <a:rPr lang="en-US" sz="2800" dirty="0">
                          <a:latin typeface="Cambria Math"/>
                        </a:rPr>
                        <m:t> , </m:t>
                      </m:r>
                      <m:sSub>
                        <m:sSubPr>
                          <m:ctrlPr>
                            <a:rPr lang="en-US" sz="2800" i="1" dirty="0">
                              <a:latin typeface="Cambria Math"/>
                            </a:rPr>
                          </m:ctrlPr>
                        </m:sSubPr>
                        <m:e>
                          <m:r>
                            <m:rPr>
                              <m:sty m:val="p"/>
                            </m:rPr>
                            <a:rPr lang="en-US" sz="2800" dirty="0">
                              <a:latin typeface="Cambria Math"/>
                            </a:rPr>
                            <m:t>x</m:t>
                          </m:r>
                        </m:e>
                        <m:sub>
                          <m:r>
                            <a:rPr lang="en-US" sz="2800" dirty="0">
                              <a:latin typeface="Cambria Math"/>
                            </a:rPr>
                            <m:t>2</m:t>
                          </m:r>
                        </m:sub>
                      </m:sSub>
                      <m:r>
                        <a:rPr lang="en-US" sz="2800" dirty="0">
                          <a:latin typeface="Cambria Math"/>
                        </a:rPr>
                        <m:t>≥0.</m:t>
                      </m:r>
                    </m:oMath>
                  </m:oMathPara>
                </a14:m>
                <a:endParaRPr lang="en-US" sz="2800" dirty="0" smtClean="0"/>
              </a:p>
              <a:p>
                <a:endParaRPr lang="en-US" sz="2800" dirty="0"/>
              </a:p>
              <a:p>
                <a:endParaRPr lang="en-US" sz="2800" dirty="0" smtClean="0"/>
              </a:p>
              <a:p>
                <a:r>
                  <a:rPr lang="en-GB" dirty="0" smtClean="0">
                    <a:solidFill>
                      <a:srgbClr val="FF0000"/>
                    </a:solidFill>
                  </a:rPr>
                  <a:t>Practice examples of chapter 27.</a:t>
                </a:r>
                <a:endParaRPr lang="en-US" dirty="0">
                  <a:solidFill>
                    <a:srgbClr val="FF0000"/>
                  </a:solidFill>
                </a:endParaRPr>
              </a:p>
            </p:txBody>
          </p:sp>
        </mc:Choice>
        <mc:Fallback>
          <p:sp>
            <p:nvSpPr>
              <p:cNvPr id="3" name="Rectangle 2"/>
              <p:cNvSpPr>
                <a:spLocks noRot="1" noChangeAspect="1" noMove="1" noResize="1" noEditPoints="1" noAdjustHandles="1" noChangeArrowheads="1" noChangeShapeType="1" noTextEdit="1"/>
              </p:cNvSpPr>
              <p:nvPr/>
            </p:nvSpPr>
            <p:spPr>
              <a:xfrm>
                <a:off x="762000" y="2590800"/>
                <a:ext cx="7848600" cy="3816429"/>
              </a:xfrm>
              <a:prstGeom prst="rect">
                <a:avLst/>
              </a:prstGeom>
              <a:blipFill rotWithShape="1">
                <a:blip r:embed="rId2"/>
                <a:stretch>
                  <a:fillRect l="-1553" t="-1917" b="-1597"/>
                </a:stretch>
              </a:blipFill>
            </p:spPr>
            <p:txBody>
              <a:bodyPr/>
              <a:lstStyle/>
              <a:p>
                <a:r>
                  <a:rPr lang="en-GB">
                    <a:noFill/>
                  </a:rPr>
                  <a:t> </a:t>
                </a:r>
              </a:p>
            </p:txBody>
          </p:sp>
        </mc:Fallback>
      </mc:AlternateContent>
      <p:sp>
        <p:nvSpPr>
          <p:cNvPr id="4" name="TextBox 3"/>
          <p:cNvSpPr txBox="1"/>
          <p:nvPr/>
        </p:nvSpPr>
        <p:spPr>
          <a:xfrm>
            <a:off x="623071" y="1528466"/>
            <a:ext cx="8126457" cy="923330"/>
          </a:xfrm>
          <a:prstGeom prst="rect">
            <a:avLst/>
          </a:prstGeom>
          <a:noFill/>
        </p:spPr>
        <p:txBody>
          <a:bodyPr wrap="square" rtlCol="0">
            <a:spAutoFit/>
          </a:bodyPr>
          <a:lstStyle/>
          <a:p>
            <a:r>
              <a:rPr lang="fr-FR" dirty="0" smtClean="0">
                <a:latin typeface="Times New Roman" pitchFamily="18" charset="0"/>
                <a:cs typeface="Times New Roman" pitchFamily="18" charset="0"/>
              </a:rPr>
              <a:t>First write equivalent </a:t>
            </a:r>
            <a:r>
              <a:rPr lang="fr-FR" dirty="0" smtClean="0">
                <a:solidFill>
                  <a:srgbClr val="FF0000"/>
                </a:solidFill>
                <a:latin typeface="Times New Roman" pitchFamily="18" charset="0"/>
                <a:cs typeface="Times New Roman" pitchFamily="18" charset="0"/>
              </a:rPr>
              <a:t>maximization </a:t>
            </a:r>
            <a:r>
              <a:rPr lang="fr-FR" dirty="0">
                <a:solidFill>
                  <a:srgbClr val="FF0000"/>
                </a:solidFill>
                <a:latin typeface="Times New Roman" pitchFamily="18" charset="0"/>
                <a:cs typeface="Times New Roman" pitchFamily="18" charset="0"/>
              </a:rPr>
              <a:t>problem </a:t>
            </a:r>
            <a:r>
              <a:rPr lang="fr-FR" dirty="0" smtClean="0">
                <a:solidFill>
                  <a:srgbClr val="FF0000"/>
                </a:solidFill>
                <a:latin typeface="Times New Roman" pitchFamily="18" charset="0"/>
                <a:cs typeface="Times New Roman" pitchFamily="18" charset="0"/>
              </a:rPr>
              <a:t>with </a:t>
            </a:r>
            <a:r>
              <a:rPr lang="fr-FR" dirty="0">
                <a:solidFill>
                  <a:srgbClr val="FF0000"/>
                </a:solidFill>
                <a:latin typeface="Times New Roman" pitchFamily="18" charset="0"/>
                <a:cs typeface="Times New Roman" pitchFamily="18" charset="0"/>
              </a:rPr>
              <a:t>all constraint of less than equal to form.</a:t>
            </a:r>
          </a:p>
          <a:p>
            <a:endParaRPr lang="en-GB" dirty="0"/>
          </a:p>
        </p:txBody>
      </p:sp>
    </p:spTree>
    <p:extLst>
      <p:ext uri="{BB962C8B-B14F-4D97-AF65-F5344CB8AC3E}">
        <p14:creationId xmlns:p14="http://schemas.microsoft.com/office/powerpoint/2010/main" val="32894756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0" y="2689715"/>
            <a:ext cx="7429499" cy="1478570"/>
          </a:xfrm>
        </p:spPr>
        <p:txBody>
          <a:bodyPr>
            <a:normAutofit fontScale="90000"/>
          </a:bodyPr>
          <a:lstStyle/>
          <a:p>
            <a:pPr lvl="0" algn="ctr">
              <a:lnSpc>
                <a:spcPct val="100000"/>
              </a:lnSpc>
              <a:spcBef>
                <a:spcPts val="0"/>
              </a:spcBef>
            </a:pPr>
            <a:r>
              <a:rPr lang="en-GB" sz="5400" b="1" cap="none" dirty="0">
                <a:solidFill>
                  <a:prstClr val="black"/>
                </a:solidFill>
                <a:latin typeface="Arial" panose="020B0604020202020204" pitchFamily="34" charset="0"/>
                <a:ea typeface="+mn-ea"/>
                <a:cs typeface="Arial" panose="020B0604020202020204" pitchFamily="34" charset="0"/>
              </a:rPr>
              <a:t>Thank you!</a:t>
            </a:r>
            <a:r>
              <a:rPr lang="en-GB" sz="4800" b="1" cap="none" dirty="0">
                <a:solidFill>
                  <a:prstClr val="black"/>
                </a:solidFill>
                <a:latin typeface="Arial" panose="020B0604020202020204" pitchFamily="34" charset="0"/>
                <a:ea typeface="+mn-ea"/>
                <a:cs typeface="Arial" panose="020B0604020202020204" pitchFamily="34" charset="0"/>
              </a:rPr>
              <a:t/>
            </a:r>
            <a:br>
              <a:rPr lang="en-GB" sz="4800" b="1" cap="none" dirty="0">
                <a:solidFill>
                  <a:prstClr val="black"/>
                </a:solidFill>
                <a:latin typeface="Arial" panose="020B0604020202020204" pitchFamily="34" charset="0"/>
                <a:ea typeface="+mn-ea"/>
                <a:cs typeface="Arial" panose="020B0604020202020204" pitchFamily="34" charset="0"/>
              </a:rPr>
            </a:br>
            <a:endParaRPr lang="en-US" sz="400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79776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B5F27"/>
      </a:dk2>
      <a:lt2>
        <a:srgbClr val="D8FC68"/>
      </a:lt2>
      <a:accent1>
        <a:srgbClr val="DDC855"/>
      </a:accent1>
      <a:accent2>
        <a:srgbClr val="FCA03D"/>
      </a:accent2>
      <a:accent3>
        <a:srgbClr val="E36439"/>
      </a:accent3>
      <a:accent4>
        <a:srgbClr val="C2935B"/>
      </a:accent4>
      <a:accent5>
        <a:srgbClr val="88C25C"/>
      </a:accent5>
      <a:accent6>
        <a:srgbClr val="BFCC86"/>
      </a:accent6>
      <a:hlink>
        <a:srgbClr val="FFCE23"/>
      </a:hlink>
      <a:folHlink>
        <a:srgbClr val="FDEB86"/>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82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xmlns="" name="Circuit" id="{0AC2F7E7-15F5-431C-B2A2-456FE929F56C}" vid="{97ECCC31-8429-4523-BE8D-8F09B7A4D46D}"/>
    </a:ext>
  </a:extLst>
</a:theme>
</file>

<file path=ppt/theme/theme2.xml><?xml version="1.0" encoding="utf-8"?>
<a:theme xmlns:a="http://schemas.openxmlformats.org/drawingml/2006/main" name="Clarity">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TotalTime>
  <Words>1273</Words>
  <Application>Microsoft Office PowerPoint</Application>
  <PresentationFormat>On-screen Show (4:3)</PresentationFormat>
  <Paragraphs>251</Paragraphs>
  <Slides>15</Slides>
  <Notes>0</Notes>
  <HiddenSlides>0</HiddenSlides>
  <MMClips>0</MMClips>
  <ScaleCrop>false</ScaleCrop>
  <HeadingPairs>
    <vt:vector size="4" baseType="variant">
      <vt:variant>
        <vt:lpstr>Theme</vt:lpstr>
      </vt:variant>
      <vt:variant>
        <vt:i4>2</vt:i4>
      </vt:variant>
      <vt:variant>
        <vt:lpstr>Slide Titles</vt:lpstr>
      </vt:variant>
      <vt:variant>
        <vt:i4>15</vt:i4>
      </vt:variant>
    </vt:vector>
  </HeadingPairs>
  <TitlesOfParts>
    <vt:vector size="17" baseType="lpstr">
      <vt:lpstr>Circuit</vt:lpstr>
      <vt:lpstr>Clarity</vt:lpstr>
      <vt:lpstr>PowerPoint Presentation</vt:lpstr>
      <vt:lpstr>Linear Integer programming</vt:lpstr>
      <vt:lpstr>Integer Programming</vt:lpstr>
      <vt:lpstr>Gomory’s cutting plane method</vt:lpstr>
      <vt:lpstr>Gomory’s cutting plane method</vt:lpstr>
      <vt:lpstr>PowerPoint Presentation</vt:lpstr>
      <vt:lpstr>Generate cutting plane (Gomory’s constraint)</vt:lpstr>
      <vt:lpstr>PowerPoint Presentation</vt:lpstr>
      <vt:lpstr>PowerPoint Presentation</vt:lpstr>
      <vt:lpstr>Dual simplex method</vt:lpstr>
      <vt:lpstr>PowerPoint Presentation</vt:lpstr>
      <vt:lpstr>PowerPoint Presentation</vt:lpstr>
      <vt:lpstr>Practice Exercises</vt:lpstr>
      <vt:lpstr>Dual simplex method </vt:lpstr>
      <vt:lpstr>Thank you! </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4G Traders</dc:creator>
  <cp:lastModifiedBy>4G Traders</cp:lastModifiedBy>
  <cp:revision>78</cp:revision>
  <dcterms:created xsi:type="dcterms:W3CDTF">2025-05-08T06:01:56Z</dcterms:created>
  <dcterms:modified xsi:type="dcterms:W3CDTF">2025-12-09T05:00:28Z</dcterms:modified>
</cp:coreProperties>
</file>