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media/image10.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95" r:id="rId1"/>
  </p:sldMasterIdLst>
  <p:sldIdLst>
    <p:sldId id="256" r:id="rId2"/>
    <p:sldId id="295" r:id="rId3"/>
    <p:sldId id="259" r:id="rId4"/>
    <p:sldId id="260" r:id="rId5"/>
    <p:sldId id="261" r:id="rId6"/>
    <p:sldId id="258" r:id="rId7"/>
    <p:sldId id="262" r:id="rId8"/>
    <p:sldId id="263" r:id="rId9"/>
    <p:sldId id="264" r:id="rId10"/>
    <p:sldId id="266" r:id="rId11"/>
    <p:sldId id="267" r:id="rId12"/>
    <p:sldId id="268" r:id="rId13"/>
    <p:sldId id="269" r:id="rId14"/>
    <p:sldId id="271" r:id="rId15"/>
    <p:sldId id="270" r:id="rId16"/>
    <p:sldId id="272" r:id="rId17"/>
    <p:sldId id="273" r:id="rId18"/>
    <p:sldId id="274" r:id="rId19"/>
    <p:sldId id="275" r:id="rId20"/>
    <p:sldId id="276" r:id="rId21"/>
    <p:sldId id="277" r:id="rId22"/>
    <p:sldId id="278" r:id="rId23"/>
    <p:sldId id="279" r:id="rId24"/>
    <p:sldId id="280" r:id="rId25"/>
    <p:sldId id="281" r:id="rId26"/>
    <p:sldId id="293" r:id="rId27"/>
    <p:sldId id="282" r:id="rId28"/>
    <p:sldId id="283" r:id="rId29"/>
    <p:sldId id="284" r:id="rId30"/>
    <p:sldId id="286" r:id="rId31"/>
    <p:sldId id="287" r:id="rId32"/>
    <p:sldId id="291" r:id="rId33"/>
    <p:sldId id="289" r:id="rId34"/>
    <p:sldId id="290" r:id="rId35"/>
    <p:sldId id="288" r:id="rId36"/>
    <p:sldId id="292" r:id="rId37"/>
    <p:sldId id="294"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9" d="100"/>
          <a:sy n="69" d="100"/>
        </p:scale>
        <p:origin x="56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635168434"/>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8078410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194042714"/>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90317405"/>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061080170"/>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24497513"/>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78521734"/>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934310584"/>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53048562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00987978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7872321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340576710"/>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639595492"/>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911560099"/>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24161527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49597380"/>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71127323"/>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5586B75A-687E-405C-8A0B-8D00578BA2C3}" type="datetimeFigureOut">
              <a:rPr lang="en-US" smtClean="0"/>
              <a:pPr/>
              <a:t>5/12/2025</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22524346"/>
      </p:ext>
    </p:extLst>
  </p:cSld>
  <p:clrMap bg1="lt1" tx1="dk1" bg2="lt2" tx2="dk2" accent1="accent1" accent2="accent2" accent3="accent3" accent4="accent4" accent5="accent5" accent6="accent6" hlink="hlink" folHlink="folHlink"/>
  <p:sldLayoutIdLst>
    <p:sldLayoutId id="2147483996" r:id="rId1"/>
    <p:sldLayoutId id="2147483997" r:id="rId2"/>
    <p:sldLayoutId id="2147483998" r:id="rId3"/>
    <p:sldLayoutId id="2147483999" r:id="rId4"/>
    <p:sldLayoutId id="2147484000" r:id="rId5"/>
    <p:sldLayoutId id="2147484001" r:id="rId6"/>
    <p:sldLayoutId id="2147484002" r:id="rId7"/>
    <p:sldLayoutId id="2147484003" r:id="rId8"/>
    <p:sldLayoutId id="2147484004" r:id="rId9"/>
    <p:sldLayoutId id="2147484005" r:id="rId10"/>
    <p:sldLayoutId id="2147484006" r:id="rId11"/>
    <p:sldLayoutId id="2147484007" r:id="rId12"/>
    <p:sldLayoutId id="2147484008" r:id="rId13"/>
    <p:sldLayoutId id="2147484009" r:id="rId14"/>
    <p:sldLayoutId id="2147484010" r:id="rId15"/>
    <p:sldLayoutId id="2147484011" r:id="rId16"/>
    <p:sldLayoutId id="2147484012" r:id="rId17"/>
  </p:sldLayoutIdLst>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hf sldNum="0" hdr="0" ftr="0" dt="0"/>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6600" b="1" dirty="0" smtClean="0">
                <a:latin typeface="Times New Roman" panose="02020603050405020304" pitchFamily="18" charset="0"/>
                <a:cs typeface="Times New Roman" panose="02020603050405020304" pitchFamily="18" charset="0"/>
              </a:rPr>
              <a:t>White</a:t>
            </a:r>
            <a:r>
              <a:rPr lang="en-US" sz="6600" b="1" dirty="0" smtClean="0"/>
              <a:t> Box Testing</a:t>
            </a:r>
            <a:endParaRPr lang="en-US" sz="6600" b="1" dirty="0"/>
          </a:p>
        </p:txBody>
      </p:sp>
      <p:sp>
        <p:nvSpPr>
          <p:cNvPr id="3" name="Subtitle 2"/>
          <p:cNvSpPr>
            <a:spLocks noGrp="1"/>
          </p:cNvSpPr>
          <p:nvPr>
            <p:ph type="subTitle" idx="1"/>
          </p:nvPr>
        </p:nvSpPr>
        <p:spPr/>
        <p:txBody>
          <a:bodyPr>
            <a:normAutofit/>
          </a:bodyPr>
          <a:lstStyle/>
          <a:p>
            <a:pPr algn="ctr"/>
            <a:r>
              <a:rPr lang="en-US" sz="2400" dirty="0" smtClean="0">
                <a:latin typeface="Times New Roman" panose="02020603050405020304" pitchFamily="18" charset="0"/>
                <a:cs typeface="Times New Roman" panose="02020603050405020304" pitchFamily="18" charset="0"/>
              </a:rPr>
              <a:t>SQE Presentation</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1645143"/>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Group Members</a:t>
            </a:r>
            <a:endParaRPr lang="en-US"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800" dirty="0" err="1">
                <a:latin typeface="Times New Roman" panose="02020603050405020304" pitchFamily="18" charset="0"/>
                <a:cs typeface="Times New Roman" panose="02020603050405020304" pitchFamily="18" charset="0"/>
              </a:rPr>
              <a:t>Najam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Mushtaq</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Sana Iqbal </a:t>
            </a:r>
            <a:r>
              <a:rPr lang="en-US" sz="2800" dirty="0" err="1">
                <a:latin typeface="Times New Roman" panose="02020603050405020304" pitchFamily="18" charset="0"/>
                <a:cs typeface="Times New Roman" panose="02020603050405020304" pitchFamily="18" charset="0"/>
              </a:rPr>
              <a:t>Saney</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M Abdullah</a:t>
            </a:r>
          </a:p>
          <a:p>
            <a:r>
              <a:rPr lang="en-US" sz="2800" dirty="0">
                <a:latin typeface="Times New Roman" panose="02020603050405020304" pitchFamily="18" charset="0"/>
                <a:cs typeface="Times New Roman" panose="02020603050405020304" pitchFamily="18" charset="0"/>
              </a:rPr>
              <a:t>Moiz khan</a:t>
            </a:r>
          </a:p>
          <a:p>
            <a:r>
              <a:rPr lang="en-US" sz="2800" dirty="0" err="1">
                <a:latin typeface="Times New Roman" panose="02020603050405020304" pitchFamily="18" charset="0"/>
                <a:cs typeface="Times New Roman" panose="02020603050405020304" pitchFamily="18" charset="0"/>
              </a:rPr>
              <a:t>Sundas</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Waris</a:t>
            </a:r>
            <a:endParaRPr lang="en-US" sz="2800" dirty="0">
              <a:latin typeface="Times New Roman" panose="02020603050405020304" pitchFamily="18" charset="0"/>
              <a:cs typeface="Times New Roman" panose="02020603050405020304" pitchFamily="18" charset="0"/>
            </a:endParaRPr>
          </a:p>
          <a:p>
            <a:endParaRPr lang="en-US" dirty="0" smtClean="0"/>
          </a:p>
          <a:p>
            <a:endParaRPr lang="en-US" dirty="0"/>
          </a:p>
        </p:txBody>
      </p:sp>
    </p:spTree>
    <p:extLst>
      <p:ext uri="{BB962C8B-B14F-4D97-AF65-F5344CB8AC3E}">
        <p14:creationId xmlns:p14="http://schemas.microsoft.com/office/powerpoint/2010/main" val="1754239322"/>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29665"/>
            <a:ext cx="10018713" cy="1306629"/>
          </a:xfrm>
        </p:spPr>
        <p:txBody>
          <a:bodyPr>
            <a:normAutofit/>
          </a:bodyPr>
          <a:lstStyle/>
          <a:p>
            <a:r>
              <a:rPr lang="en-US" sz="4400" b="1" dirty="0">
                <a:latin typeface="Times New Roman" panose="02020603050405020304" pitchFamily="18" charset="0"/>
                <a:cs typeface="Times New Roman" panose="02020603050405020304" pitchFamily="18" charset="0"/>
              </a:rPr>
              <a:t>What is White Box </a:t>
            </a:r>
            <a:r>
              <a:rPr lang="en-US" sz="4400" b="1" dirty="0" smtClean="0">
                <a:latin typeface="Times New Roman" panose="02020603050405020304" pitchFamily="18" charset="0"/>
                <a:cs typeface="Times New Roman" panose="02020603050405020304" pitchFamily="18" charset="0"/>
              </a:rPr>
              <a:t>Testing?</a:t>
            </a:r>
            <a:endParaRPr lang="en-US" sz="4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1484310" y="1858476"/>
            <a:ext cx="4895055" cy="4657827"/>
          </a:xfrm>
        </p:spPr>
        <p:txBody>
          <a:bodyPr>
            <a:normAutofit/>
          </a:bodyPr>
          <a:lstStyle/>
          <a:p>
            <a:pPr algn="just"/>
            <a:r>
              <a:rPr lang="en-US" sz="2300" dirty="0">
                <a:latin typeface="Times New Roman" panose="02020603050405020304" pitchFamily="18" charset="0"/>
                <a:cs typeface="Times New Roman" panose="02020603050405020304" pitchFamily="18" charset="0"/>
              </a:rPr>
              <a:t>White box testing is a software testing technique that involves testing the internal structure and workings of a software application</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The tester has access to the source code and uses this knowledge to design test cases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a:p>
            <a:pPr algn="just"/>
            <a:r>
              <a:rPr lang="en-US" sz="2300" dirty="0">
                <a:latin typeface="Times New Roman" panose="02020603050405020304" pitchFamily="18" charset="0"/>
                <a:cs typeface="Times New Roman" panose="02020603050405020304" pitchFamily="18" charset="0"/>
              </a:rPr>
              <a:t>These test cases verify the correctness of the software at the code level.</a:t>
            </a:r>
          </a:p>
          <a:p>
            <a:pPr algn="just"/>
            <a:endParaRPr lang="en-US" dirty="0">
              <a:latin typeface="Times New Roman" panose="02020603050405020304" pitchFamily="18" charset="0"/>
              <a:cs typeface="Times New Roman" panose="02020603050405020304" pitchFamily="18" charset="0"/>
            </a:endParaRPr>
          </a:p>
          <a:p>
            <a:pPr algn="just"/>
            <a:endParaRPr lang="en-US" dirty="0"/>
          </a:p>
        </p:txBody>
      </p:sp>
      <p:pic>
        <p:nvPicPr>
          <p:cNvPr id="5" name="Content Placeholder 4"/>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51732" r="-737" b="4827"/>
          <a:stretch/>
        </p:blipFill>
        <p:spPr>
          <a:xfrm>
            <a:off x="6841183" y="2876521"/>
            <a:ext cx="5124026" cy="17904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573124265"/>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329665"/>
            <a:ext cx="10018713" cy="1306629"/>
          </a:xfrm>
        </p:spPr>
        <p:txBody>
          <a:bodyPr>
            <a:normAutofit/>
          </a:bodyPr>
          <a:lstStyle/>
          <a:p>
            <a:r>
              <a:rPr lang="en-US" sz="4400" b="1" dirty="0"/>
              <a:t>What is </a:t>
            </a:r>
            <a:r>
              <a:rPr lang="en-US" sz="4400" b="1" dirty="0">
                <a:latin typeface="Times New Roman" panose="02020603050405020304" pitchFamily="18" charset="0"/>
                <a:cs typeface="Times New Roman" panose="02020603050405020304" pitchFamily="18" charset="0"/>
              </a:rPr>
              <a:t>White Box </a:t>
            </a:r>
            <a:r>
              <a:rPr lang="en-US" sz="4400" b="1" dirty="0" smtClean="0">
                <a:latin typeface="Times New Roman" panose="02020603050405020304" pitchFamily="18" charset="0"/>
                <a:cs typeface="Times New Roman" panose="02020603050405020304" pitchFamily="18" charset="0"/>
              </a:rPr>
              <a:t>Testing</a:t>
            </a:r>
            <a:r>
              <a:rPr lang="en-US" sz="4400" b="1" dirty="0" smtClean="0"/>
              <a:t>? Cont..</a:t>
            </a:r>
            <a:endParaRPr lang="en-US" sz="4400" dirty="0"/>
          </a:p>
        </p:txBody>
      </p:sp>
      <p:sp>
        <p:nvSpPr>
          <p:cNvPr id="3" name="Content Placeholder 2"/>
          <p:cNvSpPr>
            <a:spLocks noGrp="1"/>
          </p:cNvSpPr>
          <p:nvPr>
            <p:ph sz="half" idx="1"/>
          </p:nvPr>
        </p:nvSpPr>
        <p:spPr>
          <a:xfrm>
            <a:off x="1484310" y="1858476"/>
            <a:ext cx="4895055" cy="4657827"/>
          </a:xfrm>
        </p:spPr>
        <p:txBody>
          <a:bodyPr>
            <a:normAutofit/>
          </a:bodyPr>
          <a:lstStyle/>
          <a:p>
            <a:pPr algn="just"/>
            <a:r>
              <a:rPr lang="en-US" sz="2400" dirty="0">
                <a:latin typeface="Times New Roman" panose="02020603050405020304" pitchFamily="18" charset="0"/>
                <a:cs typeface="Times New Roman" panose="02020603050405020304" pitchFamily="18" charset="0"/>
              </a:rPr>
              <a:t>White box testing is also known as Structural Testing and Code-based Testing</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It is used to test the software’s internal logic, flow and structure.</a:t>
            </a:r>
          </a:p>
          <a:p>
            <a:pPr algn="just"/>
            <a:endParaRPr lang="en-US" sz="2400" dirty="0"/>
          </a:p>
        </p:txBody>
      </p:sp>
      <p:pic>
        <p:nvPicPr>
          <p:cNvPr id="5" name="Content Placeholder 4"/>
          <p:cNvPicPr>
            <a:picLocks noGrp="1" noChangeAspect="1"/>
          </p:cNvPicPr>
          <p:nvPr>
            <p:ph sz="half" idx="2"/>
          </p:nvPr>
        </p:nvPicPr>
        <p:blipFill rotWithShape="1">
          <a:blip r:embed="rId2">
            <a:extLst>
              <a:ext uri="{28A0092B-C50C-407E-A947-70E740481C1C}">
                <a14:useLocalDpi xmlns:a14="http://schemas.microsoft.com/office/drawing/2010/main" val="0"/>
              </a:ext>
            </a:extLst>
          </a:blip>
          <a:srcRect t="51732" r="-737" b="4827"/>
          <a:stretch/>
        </p:blipFill>
        <p:spPr>
          <a:xfrm>
            <a:off x="6752285" y="3010175"/>
            <a:ext cx="5124026" cy="179046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4442477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11564" y="-378691"/>
            <a:ext cx="9952995" cy="6530109"/>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039400053"/>
      </p:ext>
    </p:extLst>
  </p:cSld>
  <p:clrMapOvr>
    <a:masterClrMapping/>
  </p:clrMapOvr>
  <mc:AlternateContent xmlns:mc="http://schemas.openxmlformats.org/markup-compatibility/2006">
    <mc:Choice xmlns:p14="http://schemas.microsoft.com/office/powerpoint/2010/main" Requires="p14">
      <p:transition spd="slow">
        <p14:gallery dir="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Does White Box Testing Focus On?</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just"/>
            <a:r>
              <a:rPr lang="en-US" sz="2800" dirty="0">
                <a:latin typeface="Times New Roman" panose="02020603050405020304" pitchFamily="18" charset="0"/>
                <a:cs typeface="Times New Roman" panose="02020603050405020304" pitchFamily="18" charset="0"/>
              </a:rPr>
              <a:t>White Box testing allows testers to create detailed test cases based on the application’s design and functionality.</a:t>
            </a:r>
          </a:p>
          <a:p>
            <a:pPr algn="just"/>
            <a:r>
              <a:rPr lang="en-US" sz="2800" dirty="0">
                <a:latin typeface="Times New Roman" panose="02020603050405020304" pitchFamily="18" charset="0"/>
                <a:cs typeface="Times New Roman" panose="02020603050405020304" pitchFamily="18" charset="0"/>
              </a:rPr>
              <a:t>Here are some key types of tests commonly used in white box testing</a:t>
            </a:r>
            <a:r>
              <a:rPr lang="en-US" sz="2800" dirty="0" smtClean="0">
                <a:latin typeface="Times New Roman" panose="02020603050405020304" pitchFamily="18" charset="0"/>
                <a:cs typeface="Times New Roman" panose="02020603050405020304" pitchFamily="18" charset="0"/>
              </a:rPr>
              <a:t>:</a:t>
            </a:r>
          </a:p>
          <a:p>
            <a:pPr algn="just"/>
            <a:r>
              <a:rPr lang="en-US" b="1" dirty="0">
                <a:latin typeface="Times New Roman" panose="02020603050405020304" pitchFamily="18" charset="0"/>
                <a:cs typeface="Times New Roman" panose="02020603050405020304" pitchFamily="18" charset="0"/>
              </a:rPr>
              <a:t>Path Testing: </a:t>
            </a:r>
            <a:r>
              <a:rPr lang="en-US" dirty="0">
                <a:latin typeface="Times New Roman" panose="02020603050405020304" pitchFamily="18" charset="0"/>
                <a:cs typeface="Times New Roman" panose="02020603050405020304" pitchFamily="18" charset="0"/>
              </a:rPr>
              <a:t>Verifies all possible execution paths to ensure correct and efficient program behavior.</a:t>
            </a:r>
          </a:p>
          <a:p>
            <a:pPr algn="just"/>
            <a:endParaRPr lang="en-US" sz="2800" dirty="0">
              <a:latin typeface="Times New Roman" panose="02020603050405020304" pitchFamily="18" charset="0"/>
              <a:cs typeface="Times New Roman" panose="02020603050405020304" pitchFamily="18" charset="0"/>
            </a:endParaRPr>
          </a:p>
          <a:p>
            <a:pPr algn="just"/>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5534021"/>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What Does White Box Testing Focus On?</a:t>
            </a:r>
            <a:r>
              <a:rPr lang="en-US" dirty="0"/>
              <a:t/>
            </a:r>
            <a:br>
              <a:rPr lang="en-US" dirty="0"/>
            </a:br>
            <a:r>
              <a:rPr lang="en-US" b="1" dirty="0">
                <a:latin typeface="Times New Roman" panose="02020603050405020304" pitchFamily="18" charset="0"/>
                <a:cs typeface="Times New Roman" panose="02020603050405020304" pitchFamily="18" charset="0"/>
              </a:rPr>
              <a:t>Cont..</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484310" y="2666999"/>
            <a:ext cx="10018713" cy="3401292"/>
          </a:xfrm>
        </p:spPr>
        <p:txBody>
          <a:bodyPr>
            <a:normAutofit fontScale="47500" lnSpcReduction="20000"/>
          </a:bodyPr>
          <a:lstStyle/>
          <a:p>
            <a:pPr algn="just"/>
            <a:endParaRPr lang="en-US" b="1" dirty="0"/>
          </a:p>
          <a:p>
            <a:pPr algn="just"/>
            <a:r>
              <a:rPr lang="en-US" sz="5100" b="1" dirty="0">
                <a:latin typeface="Times New Roman" panose="02020603050405020304" pitchFamily="18" charset="0"/>
                <a:cs typeface="Times New Roman" panose="02020603050405020304" pitchFamily="18" charset="0"/>
              </a:rPr>
              <a:t>Security Testing: </a:t>
            </a:r>
            <a:r>
              <a:rPr lang="en-US" sz="5100" dirty="0">
                <a:latin typeface="Times New Roman" panose="02020603050405020304" pitchFamily="18" charset="0"/>
                <a:cs typeface="Times New Roman" panose="02020603050405020304" pitchFamily="18" charset="0"/>
              </a:rPr>
              <a:t>Identifies security vulnerabilities in code using tools like static analysis to ensure safe development practices.</a:t>
            </a:r>
          </a:p>
          <a:p>
            <a:pPr algn="just"/>
            <a:endParaRPr lang="en-US" sz="5100" dirty="0">
              <a:latin typeface="Times New Roman" panose="02020603050405020304" pitchFamily="18" charset="0"/>
              <a:cs typeface="Times New Roman" panose="02020603050405020304" pitchFamily="18" charset="0"/>
            </a:endParaRPr>
          </a:p>
          <a:p>
            <a:pPr algn="just"/>
            <a:r>
              <a:rPr lang="en-US" sz="5100" b="1" dirty="0">
                <a:latin typeface="Times New Roman" panose="02020603050405020304" pitchFamily="18" charset="0"/>
                <a:cs typeface="Times New Roman" panose="02020603050405020304" pitchFamily="18" charset="0"/>
              </a:rPr>
              <a:t>Loop Testing: </a:t>
            </a:r>
            <a:r>
              <a:rPr lang="en-US" sz="5100" dirty="0">
                <a:latin typeface="Times New Roman" panose="02020603050405020304" pitchFamily="18" charset="0"/>
                <a:cs typeface="Times New Roman" panose="02020603050405020304" pitchFamily="18" charset="0"/>
              </a:rPr>
              <a:t>Checks that loops function correctly, efficiently, and without logical or infinite errors.</a:t>
            </a:r>
          </a:p>
          <a:p>
            <a:pPr algn="just"/>
            <a:endParaRPr lang="en-US" sz="5100" dirty="0">
              <a:latin typeface="Times New Roman" panose="02020603050405020304" pitchFamily="18" charset="0"/>
              <a:cs typeface="Times New Roman" panose="02020603050405020304" pitchFamily="18" charset="0"/>
            </a:endParaRPr>
          </a:p>
          <a:p>
            <a:pPr algn="just"/>
            <a:r>
              <a:rPr lang="en-US" sz="5100" b="1" dirty="0">
                <a:latin typeface="Times New Roman" panose="02020603050405020304" pitchFamily="18" charset="0"/>
                <a:cs typeface="Times New Roman" panose="02020603050405020304" pitchFamily="18" charset="0"/>
              </a:rPr>
              <a:t>Data Flow Testing: </a:t>
            </a:r>
            <a:r>
              <a:rPr lang="en-US" sz="5100" dirty="0">
                <a:latin typeface="Times New Roman" panose="02020603050405020304" pitchFamily="18" charset="0"/>
                <a:cs typeface="Times New Roman" panose="02020603050405020304" pitchFamily="18" charset="0"/>
              </a:rPr>
              <a:t>Ensures variables are correctly declared, initialized, and used to avoid data handling issues.</a:t>
            </a:r>
          </a:p>
        </p:txBody>
      </p:sp>
    </p:spTree>
    <p:extLst>
      <p:ext uri="{BB962C8B-B14F-4D97-AF65-F5344CB8AC3E}">
        <p14:creationId xmlns:p14="http://schemas.microsoft.com/office/powerpoint/2010/main" val="497904639"/>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pic>
        <p:nvPicPr>
          <p:cNvPr id="6" name="Content Placeholder 5"/>
          <p:cNvPicPr>
            <a:picLocks noGrp="1"/>
          </p:cNvPicPr>
          <p:nvPr>
            <p:ph idx="1"/>
          </p:nvPr>
        </p:nvPicPr>
        <p:blipFill>
          <a:blip r:embed="rId3"/>
          <a:stretch>
            <a:fillRect/>
          </a:stretch>
        </p:blipFill>
        <p:spPr>
          <a:xfrm>
            <a:off x="1964834" y="615944"/>
            <a:ext cx="9793056" cy="5738673"/>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20698193"/>
      </p:ext>
    </p:extLst>
  </p:cSld>
  <p:clrMapOvr>
    <a:masterClrMapping/>
  </p:clrMapOvr>
  <mc:AlternateContent xmlns:mc="http://schemas.openxmlformats.org/markup-compatibility/2006">
    <mc:Choice xmlns:p14="http://schemas.microsoft.com/office/powerpoint/2010/main" Requires="p14">
      <p:transition spd="slow">
        <p14:gallery dir="l"/>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Types Of White Box Testing</a:t>
            </a:r>
            <a:r>
              <a:rPr lang="en-US" dirty="0"/>
              <a:t/>
            </a:r>
            <a:br>
              <a:rPr lang="en-US" dirty="0"/>
            </a:br>
            <a:endParaRPr lang="en-US" dirty="0"/>
          </a:p>
        </p:txBody>
      </p:sp>
      <p:sp>
        <p:nvSpPr>
          <p:cNvPr id="3" name="Content Placeholder 2"/>
          <p:cNvSpPr>
            <a:spLocks noGrp="1"/>
          </p:cNvSpPr>
          <p:nvPr>
            <p:ph idx="1"/>
          </p:nvPr>
        </p:nvSpPr>
        <p:spPr/>
        <p:txBody>
          <a:bodyPr>
            <a:normAutofit fontScale="92500"/>
          </a:bodyPr>
          <a:lstStyle/>
          <a:p>
            <a:pPr algn="just"/>
            <a:r>
              <a:rPr lang="en-US" sz="2800" dirty="0">
                <a:latin typeface="Times New Roman" panose="02020603050405020304" pitchFamily="18" charset="0"/>
                <a:cs typeface="Times New Roman" panose="02020603050405020304" pitchFamily="18" charset="0"/>
              </a:rPr>
              <a:t>White box testing can be done for different purposes at different places. There are three main types of White Box testing which is follows:-</a:t>
            </a:r>
          </a:p>
          <a:p>
            <a:pPr algn="just"/>
            <a:r>
              <a:rPr lang="en-US" sz="3000" b="1" dirty="0" smtClean="0">
                <a:latin typeface="Times New Roman" panose="02020603050405020304" pitchFamily="18" charset="0"/>
                <a:cs typeface="Times New Roman" panose="02020603050405020304" pitchFamily="18" charset="0"/>
              </a:rPr>
              <a:t>Unit Testing: </a:t>
            </a:r>
            <a:r>
              <a:rPr lang="en-US" sz="2800" dirty="0" smtClean="0">
                <a:latin typeface="Times New Roman" panose="02020603050405020304" pitchFamily="18" charset="0"/>
                <a:cs typeface="Times New Roman" panose="02020603050405020304" pitchFamily="18" charset="0"/>
              </a:rPr>
              <a:t>Unit </a:t>
            </a:r>
            <a:r>
              <a:rPr lang="en-US" sz="2800" dirty="0">
                <a:latin typeface="Times New Roman" panose="02020603050405020304" pitchFamily="18" charset="0"/>
                <a:cs typeface="Times New Roman" panose="02020603050405020304" pitchFamily="18" charset="0"/>
              </a:rPr>
              <a:t>Testing checks if each part or function of the application works correctly. </a:t>
            </a:r>
            <a:endParaRPr lang="en-US" sz="2800" dirty="0" smtClean="0">
              <a:latin typeface="Times New Roman" panose="02020603050405020304" pitchFamily="18" charset="0"/>
              <a:cs typeface="Times New Roman" panose="02020603050405020304" pitchFamily="18" charset="0"/>
            </a:endParaRPr>
          </a:p>
          <a:p>
            <a:pPr algn="just"/>
            <a:r>
              <a:rPr lang="en-US" sz="2800" b="1" dirty="0" smtClean="0">
                <a:latin typeface="Times New Roman" panose="02020603050405020304" pitchFamily="18" charset="0"/>
                <a:cs typeface="Times New Roman" panose="02020603050405020304" pitchFamily="18" charset="0"/>
              </a:rPr>
              <a:t>Example</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Checking if a login function returns correct output when given valid or invalid credentials.</a:t>
            </a:r>
          </a:p>
          <a:p>
            <a:pPr algn="just"/>
            <a:endParaRPr lang="en-US" dirty="0"/>
          </a:p>
        </p:txBody>
      </p:sp>
    </p:spTree>
    <p:extLst>
      <p:ext uri="{BB962C8B-B14F-4D97-AF65-F5344CB8AC3E}">
        <p14:creationId xmlns:p14="http://schemas.microsoft.com/office/powerpoint/2010/main" val="2624138581"/>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White Box </a:t>
            </a:r>
            <a:r>
              <a:rPr lang="en-US" b="1" dirty="0" smtClean="0">
                <a:latin typeface="Times New Roman" panose="02020603050405020304" pitchFamily="18" charset="0"/>
                <a:cs typeface="Times New Roman" panose="02020603050405020304" pitchFamily="18" charset="0"/>
              </a:rPr>
              <a:t>Testing Cont..</a:t>
            </a:r>
            <a:r>
              <a:rPr lang="en-US" dirty="0"/>
              <a:t/>
            </a:r>
            <a:br>
              <a:rPr lang="en-US" dirty="0"/>
            </a:br>
            <a:endParaRPr lang="en-US" dirty="0"/>
          </a:p>
        </p:txBody>
      </p:sp>
      <p:sp>
        <p:nvSpPr>
          <p:cNvPr id="3" name="Content Placeholder 2"/>
          <p:cNvSpPr>
            <a:spLocks noGrp="1"/>
          </p:cNvSpPr>
          <p:nvPr>
            <p:ph sz="half" idx="1"/>
          </p:nvPr>
        </p:nvSpPr>
        <p:spPr/>
        <p:txBody>
          <a:bodyPr>
            <a:normAutofit fontScale="77500" lnSpcReduction="20000"/>
          </a:bodyPr>
          <a:lstStyle/>
          <a:p>
            <a:pPr algn="just"/>
            <a:r>
              <a:rPr lang="en-US" sz="2800" b="1" dirty="0">
                <a:latin typeface="Times New Roman" panose="02020603050405020304" pitchFamily="18" charset="0"/>
                <a:cs typeface="Times New Roman" panose="02020603050405020304" pitchFamily="18" charset="0"/>
              </a:rPr>
              <a:t>Integration Testing: </a:t>
            </a:r>
            <a:r>
              <a:rPr lang="en-US" sz="2800" dirty="0">
                <a:latin typeface="Times New Roman" panose="02020603050405020304" pitchFamily="18" charset="0"/>
                <a:cs typeface="Times New Roman" panose="02020603050405020304" pitchFamily="18" charset="0"/>
              </a:rPr>
              <a:t>Integration Testing Examines how different parts of the application work together. </a:t>
            </a:r>
            <a:endParaRPr lang="en-US" sz="2800" dirty="0" smtClean="0">
              <a:latin typeface="Times New Roman" panose="02020603050405020304" pitchFamily="18" charset="0"/>
              <a:cs typeface="Times New Roman" panose="02020603050405020304" pitchFamily="18" charset="0"/>
            </a:endParaRPr>
          </a:p>
          <a:p>
            <a:pPr algn="just"/>
            <a:r>
              <a:rPr lang="en-US" sz="2800" dirty="0" smtClean="0">
                <a:latin typeface="Times New Roman" panose="02020603050405020304" pitchFamily="18" charset="0"/>
                <a:cs typeface="Times New Roman" panose="02020603050405020304" pitchFamily="18" charset="0"/>
              </a:rPr>
              <a:t>After </a:t>
            </a:r>
            <a:r>
              <a:rPr lang="en-US" sz="2800" dirty="0">
                <a:latin typeface="Times New Roman" panose="02020603050405020304" pitchFamily="18" charset="0"/>
                <a:cs typeface="Times New Roman" panose="02020603050405020304" pitchFamily="18" charset="0"/>
              </a:rPr>
              <a:t>unit testing to make sure components work well both alone and together.</a:t>
            </a:r>
          </a:p>
          <a:p>
            <a:pPr algn="just"/>
            <a:r>
              <a:rPr lang="en-US" sz="2800" b="1" dirty="0">
                <a:latin typeface="Times New Roman" panose="02020603050405020304" pitchFamily="18" charset="0"/>
                <a:cs typeface="Times New Roman" panose="02020603050405020304" pitchFamily="18" charset="0"/>
              </a:rPr>
              <a:t>Example: </a:t>
            </a:r>
            <a:r>
              <a:rPr lang="en-US" sz="2800" dirty="0">
                <a:latin typeface="Times New Roman" panose="02020603050405020304" pitchFamily="18" charset="0"/>
                <a:cs typeface="Times New Roman" panose="02020603050405020304" pitchFamily="18" charset="0"/>
              </a:rPr>
              <a:t>Ensuring the login function works with the database and redirects correctly.</a:t>
            </a:r>
          </a:p>
          <a:p>
            <a:pPr algn="just"/>
            <a:endParaRPr lang="en-US" dirty="0"/>
          </a:p>
        </p:txBody>
      </p:sp>
      <p:pic>
        <p:nvPicPr>
          <p:cNvPr id="5" name="Content Placeholder 4"/>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6715340" y="2666999"/>
            <a:ext cx="5236515" cy="263964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extLst>
      <p:ext uri="{BB962C8B-B14F-4D97-AF65-F5344CB8AC3E}">
        <p14:creationId xmlns:p14="http://schemas.microsoft.com/office/powerpoint/2010/main" val="3530149424"/>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fill="hold"/>
                                        <p:tgtEl>
                                          <p:spTgt spid="5"/>
                                        </p:tgtEl>
                                        <p:attrNameLst>
                                          <p:attrName>ppt_x</p:attrName>
                                        </p:attrNameLst>
                                      </p:cBhvr>
                                      <p:tavLst>
                                        <p:tav tm="0">
                                          <p:val>
                                            <p:strVal val="#ppt_x"/>
                                          </p:val>
                                        </p:tav>
                                        <p:tav tm="100000">
                                          <p:val>
                                            <p:strVal val="#ppt_x"/>
                                          </p:val>
                                        </p:tav>
                                      </p:tavLst>
                                    </p:anim>
                                    <p:anim calcmode="lin" valueType="num">
                                      <p:cBhvr>
                                        <p:cTn id="9" dur="450" decel="100000" fill="hold"/>
                                        <p:tgtEl>
                                          <p:spTgt spid="5"/>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Types Of White Box </a:t>
            </a:r>
            <a:r>
              <a:rPr lang="en-US" b="1" dirty="0" smtClean="0">
                <a:latin typeface="Times New Roman" panose="02020603050405020304" pitchFamily="18" charset="0"/>
                <a:cs typeface="Times New Roman" panose="02020603050405020304" pitchFamily="18" charset="0"/>
              </a:rPr>
              <a:t>Testing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sz="half" idx="1"/>
          </p:nvPr>
        </p:nvSpPr>
        <p:spPr>
          <a:xfrm>
            <a:off x="1484311" y="2364509"/>
            <a:ext cx="6052560" cy="3685309"/>
          </a:xfrm>
        </p:spPr>
        <p:txBody>
          <a:bodyPr>
            <a:normAutofit fontScale="77500" lnSpcReduction="20000"/>
          </a:bodyPr>
          <a:lstStyle/>
          <a:p>
            <a:pPr algn="just"/>
            <a:r>
              <a:rPr lang="en-US" sz="3100" b="1" dirty="0" smtClean="0">
                <a:latin typeface="Times New Roman" panose="02020603050405020304" pitchFamily="18" charset="0"/>
                <a:cs typeface="Times New Roman" panose="02020603050405020304" pitchFamily="18" charset="0"/>
              </a:rPr>
              <a:t>Regression Testing: </a:t>
            </a:r>
            <a:r>
              <a:rPr lang="en-US" sz="3100" dirty="0">
                <a:latin typeface="Times New Roman" panose="02020603050405020304" pitchFamily="18" charset="0"/>
                <a:cs typeface="Times New Roman" panose="02020603050405020304" pitchFamily="18" charset="0"/>
              </a:rPr>
              <a:t>Regression Testing Verifies that changes or updates don’t break existing functionality of the code. </a:t>
            </a:r>
            <a:endParaRPr lang="en-US" sz="3100" dirty="0" smtClean="0">
              <a:latin typeface="Times New Roman" panose="02020603050405020304" pitchFamily="18" charset="0"/>
              <a:cs typeface="Times New Roman" panose="02020603050405020304" pitchFamily="18" charset="0"/>
            </a:endParaRPr>
          </a:p>
          <a:p>
            <a:pPr algn="just"/>
            <a:r>
              <a:rPr lang="en-US" sz="3100" dirty="0" smtClean="0">
                <a:latin typeface="Times New Roman" panose="02020603050405020304" pitchFamily="18" charset="0"/>
                <a:cs typeface="Times New Roman" panose="02020603050405020304" pitchFamily="18" charset="0"/>
              </a:rPr>
              <a:t>It </a:t>
            </a:r>
            <a:r>
              <a:rPr lang="en-US" sz="3100" dirty="0">
                <a:latin typeface="Times New Roman" panose="02020603050405020304" pitchFamily="18" charset="0"/>
                <a:cs typeface="Times New Roman" panose="02020603050405020304" pitchFamily="18" charset="0"/>
              </a:rPr>
              <a:t>will check the application still passes all existing tests after updates</a:t>
            </a:r>
            <a:r>
              <a:rPr lang="en-US" sz="3100" dirty="0" smtClean="0">
                <a:latin typeface="Times New Roman" panose="02020603050405020304" pitchFamily="18" charset="0"/>
                <a:cs typeface="Times New Roman" panose="02020603050405020304" pitchFamily="18" charset="0"/>
              </a:rPr>
              <a:t>.</a:t>
            </a:r>
            <a:endParaRPr lang="en-US" sz="3100" dirty="0">
              <a:latin typeface="Times New Roman" panose="02020603050405020304" pitchFamily="18" charset="0"/>
              <a:cs typeface="Times New Roman" panose="02020603050405020304" pitchFamily="18" charset="0"/>
            </a:endParaRPr>
          </a:p>
          <a:p>
            <a:pPr algn="just"/>
            <a:r>
              <a:rPr lang="en-US" sz="3100" b="1" dirty="0">
                <a:latin typeface="Times New Roman" panose="02020603050405020304" pitchFamily="18" charset="0"/>
                <a:cs typeface="Times New Roman" panose="02020603050405020304" pitchFamily="18" charset="0"/>
              </a:rPr>
              <a:t>Example: </a:t>
            </a:r>
            <a:r>
              <a:rPr lang="en-US" sz="3100" dirty="0">
                <a:latin typeface="Times New Roman" panose="02020603050405020304" pitchFamily="18" charset="0"/>
                <a:cs typeface="Times New Roman" panose="02020603050405020304" pitchFamily="18" charset="0"/>
              </a:rPr>
              <a:t>After adding a new feature like "Forgot Password" to the login page, regression testing checks that the original login function (with valid/invalid credentials) still works correctly and hasn’t been broken by the new update.</a:t>
            </a:r>
          </a:p>
          <a:p>
            <a:pPr algn="just"/>
            <a:endParaRPr lang="en-US" dirty="0"/>
          </a:p>
        </p:txBody>
      </p:sp>
      <p:pic>
        <p:nvPicPr>
          <p:cNvPr id="6" name="Content Placeholder 5"/>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8134648" y="2364509"/>
            <a:ext cx="3290734" cy="3299901"/>
          </a:xfrm>
        </p:spPr>
      </p:pic>
    </p:spTree>
    <p:extLst>
      <p:ext uri="{BB962C8B-B14F-4D97-AF65-F5344CB8AC3E}">
        <p14:creationId xmlns:p14="http://schemas.microsoft.com/office/powerpoint/2010/main" val="3171134532"/>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7"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450" decel="100000" fill="hold"/>
                                        <p:tgtEl>
                                          <p:spTgt spid="6"/>
                                        </p:tgtEl>
                                        <p:attrNameLst>
                                          <p:attrName>ppt_y</p:attrName>
                                        </p:attrNameLst>
                                      </p:cBhvr>
                                      <p:tavLst>
                                        <p:tav tm="0">
                                          <p:val>
                                            <p:strVal val="#ppt_y+1"/>
                                          </p:val>
                                        </p:tav>
                                        <p:tav tm="100000">
                                          <p:val>
                                            <p:strVal val="#ppt_y-.03"/>
                                          </p:val>
                                        </p:tav>
                                      </p:tavLst>
                                    </p:anim>
                                    <p:anim calcmode="lin" valueType="num">
                                      <p:cBhvr>
                                        <p:cTn id="10" dur="50" accel="100000" fill="hold">
                                          <p:stCondLst>
                                            <p:cond delay="450"/>
                                          </p:stCondLst>
                                        </p:cTn>
                                        <p:tgtEl>
                                          <p:spTgt spid="6"/>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stretch>
            <a:fillRect/>
          </a:stretch>
        </p:blipFill>
        <p:spPr>
          <a:xfrm>
            <a:off x="1780453" y="-221672"/>
            <a:ext cx="9441729" cy="6304976"/>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288225949"/>
      </p:ext>
    </p:extLst>
  </p:cSld>
  <p:clrMapOvr>
    <a:masterClrMapping/>
  </p:clrMapOvr>
  <mc:AlternateContent xmlns:mc="http://schemas.openxmlformats.org/markup-compatibility/2006">
    <mc:Choice xmlns:p14="http://schemas.microsoft.com/office/powerpoint/2010/main" Requires="p14">
      <p:transition spd="slow">
        <p14:gallery dir="l"/>
      </p:transition>
    </mc:Choice>
    <mc:Fallback>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Techniques</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lgn="just" fontAlgn="base"/>
            <a:r>
              <a:rPr lang="en-US" sz="2800" dirty="0">
                <a:latin typeface="Times New Roman" panose="02020603050405020304" pitchFamily="18" charset="0"/>
                <a:cs typeface="Times New Roman" panose="02020603050405020304" pitchFamily="18" charset="0"/>
              </a:rPr>
              <a:t>To achieve complete code coverage, white box testing uses the following techniques:</a:t>
            </a:r>
          </a:p>
          <a:p>
            <a:pPr algn="just" fontAlgn="base"/>
            <a:r>
              <a:rPr lang="en-US" sz="2800" b="1" dirty="0">
                <a:latin typeface="Times New Roman" panose="02020603050405020304" pitchFamily="18" charset="0"/>
                <a:cs typeface="Times New Roman" panose="02020603050405020304" pitchFamily="18" charset="0"/>
              </a:rPr>
              <a:t>1. Statement Coverage: </a:t>
            </a:r>
            <a:r>
              <a:rPr lang="en-US" sz="2800" dirty="0">
                <a:latin typeface="Times New Roman" panose="02020603050405020304" pitchFamily="18" charset="0"/>
                <a:cs typeface="Times New Roman" panose="02020603050405020304" pitchFamily="18" charset="0"/>
              </a:rPr>
              <a:t>In this technique, the aim is to traverse all statements at least once. Hence, each line of code is tested. In the case of a flowchart, every node must be traversed at least once. Since all lines of code are covered, it helps in pointing out faulty code.</a:t>
            </a:r>
          </a:p>
          <a:p>
            <a:pPr algn="just"/>
            <a:r>
              <a:rPr lang="en-US" sz="2800" b="1" dirty="0">
                <a:latin typeface="Times New Roman" panose="02020603050405020304" pitchFamily="18" charset="0"/>
                <a:cs typeface="Times New Roman" panose="02020603050405020304" pitchFamily="18" charset="0"/>
              </a:rPr>
              <a:t>Goal: </a:t>
            </a:r>
            <a:r>
              <a:rPr lang="en-US" sz="2800" dirty="0">
                <a:latin typeface="Times New Roman" panose="02020603050405020304" pitchFamily="18" charset="0"/>
                <a:cs typeface="Times New Roman" panose="02020603050405020304" pitchFamily="18" charset="0"/>
              </a:rPr>
              <a:t>Make sure every line of code runs at least once.</a:t>
            </a:r>
          </a:p>
          <a:p>
            <a:pPr algn="just"/>
            <a:endParaRPr lang="en-US" dirty="0"/>
          </a:p>
        </p:txBody>
      </p:sp>
    </p:spTree>
    <p:extLst>
      <p:ext uri="{BB962C8B-B14F-4D97-AF65-F5344CB8AC3E}">
        <p14:creationId xmlns:p14="http://schemas.microsoft.com/office/powerpoint/2010/main" val="2545009169"/>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70165"/>
            <a:ext cx="10018713" cy="1124526"/>
          </a:xfrm>
        </p:spPr>
        <p:txBody>
          <a:bodyPr>
            <a:normAutofit/>
          </a:bodyPr>
          <a:lstStyle/>
          <a:p>
            <a:r>
              <a:rPr lang="en-US" b="1" dirty="0">
                <a:latin typeface="Times New Roman" panose="02020603050405020304" pitchFamily="18" charset="0"/>
                <a:cs typeface="Times New Roman" panose="02020603050405020304" pitchFamily="18" charset="0"/>
              </a:rPr>
              <a:t>White Box Testing Techniques Cont..</a:t>
            </a:r>
            <a:endParaRPr lang="en-US" dirty="0"/>
          </a:p>
        </p:txBody>
      </p:sp>
      <p:sp>
        <p:nvSpPr>
          <p:cNvPr id="3" name="Content Placeholder 2"/>
          <p:cNvSpPr>
            <a:spLocks noGrp="1"/>
          </p:cNvSpPr>
          <p:nvPr>
            <p:ph sz="half" idx="1"/>
          </p:nvPr>
        </p:nvSpPr>
        <p:spPr>
          <a:xfrm>
            <a:off x="1484312" y="1283854"/>
            <a:ext cx="4895055" cy="4839855"/>
          </a:xfrm>
        </p:spPr>
        <p:txBody>
          <a:bodyPr>
            <a:normAutofit fontScale="40000" lnSpcReduction="20000"/>
          </a:bodyPr>
          <a:lstStyle/>
          <a:p>
            <a:pPr algn="just"/>
            <a:r>
              <a:rPr lang="en-US" sz="4500" b="1" dirty="0">
                <a:latin typeface="Times New Roman" panose="02020603050405020304" pitchFamily="18" charset="0"/>
                <a:cs typeface="Times New Roman" panose="02020603050405020304" pitchFamily="18" charset="0"/>
              </a:rPr>
              <a:t>Example 1:</a:t>
            </a:r>
          </a:p>
          <a:p>
            <a:pPr algn="just"/>
            <a:r>
              <a:rPr lang="en-US" sz="4500" dirty="0">
                <a:latin typeface="Times New Roman" panose="02020603050405020304" pitchFamily="18" charset="0"/>
                <a:cs typeface="Times New Roman" panose="02020603050405020304" pitchFamily="18" charset="0"/>
              </a:rPr>
              <a:t>a = </a:t>
            </a:r>
            <a:r>
              <a:rPr lang="en-US" sz="4500" dirty="0" smtClean="0">
                <a:latin typeface="Times New Roman" panose="02020603050405020304" pitchFamily="18" charset="0"/>
                <a:cs typeface="Times New Roman" panose="02020603050405020304" pitchFamily="18" charset="0"/>
              </a:rPr>
              <a:t>5, b = 10</a:t>
            </a:r>
          </a:p>
          <a:p>
            <a:pPr algn="just"/>
            <a:r>
              <a:rPr lang="en-US" sz="4500" dirty="0" smtClean="0">
                <a:latin typeface="Times New Roman" panose="02020603050405020304" pitchFamily="18" charset="0"/>
                <a:cs typeface="Times New Roman" panose="02020603050405020304" pitchFamily="18" charset="0"/>
              </a:rPr>
              <a:t>c </a:t>
            </a:r>
            <a:r>
              <a:rPr lang="en-US" sz="4500" dirty="0">
                <a:latin typeface="Times New Roman" panose="02020603050405020304" pitchFamily="18" charset="0"/>
                <a:cs typeface="Times New Roman" panose="02020603050405020304" pitchFamily="18" charset="0"/>
              </a:rPr>
              <a:t>= a + b</a:t>
            </a:r>
          </a:p>
          <a:p>
            <a:pPr algn="just"/>
            <a:r>
              <a:rPr lang="en-US" sz="4500" dirty="0">
                <a:latin typeface="Times New Roman" panose="02020603050405020304" pitchFamily="18" charset="0"/>
                <a:cs typeface="Times New Roman" panose="02020603050405020304" pitchFamily="18" charset="0"/>
              </a:rPr>
              <a:t>print(c)</a:t>
            </a:r>
          </a:p>
          <a:p>
            <a:pPr algn="just"/>
            <a:r>
              <a:rPr lang="en-US" sz="4500" dirty="0">
                <a:latin typeface="Times New Roman" panose="02020603050405020304" pitchFamily="18" charset="0"/>
                <a:cs typeface="Times New Roman" panose="02020603050405020304" pitchFamily="18" charset="0"/>
              </a:rPr>
              <a:t>One test case is enough to cover all statements.</a:t>
            </a:r>
          </a:p>
          <a:p>
            <a:pPr algn="just"/>
            <a:r>
              <a:rPr lang="en-US" sz="4500" b="1" dirty="0">
                <a:latin typeface="Times New Roman" panose="02020603050405020304" pitchFamily="18" charset="0"/>
                <a:cs typeface="Times New Roman" panose="02020603050405020304" pitchFamily="18" charset="0"/>
              </a:rPr>
              <a:t>Example 2:</a:t>
            </a:r>
          </a:p>
          <a:p>
            <a:pPr algn="just"/>
            <a:r>
              <a:rPr lang="en-US" sz="4500" dirty="0">
                <a:latin typeface="Times New Roman" panose="02020603050405020304" pitchFamily="18" charset="0"/>
                <a:cs typeface="Times New Roman" panose="02020603050405020304" pitchFamily="18" charset="0"/>
              </a:rPr>
              <a:t>x = 5</a:t>
            </a:r>
          </a:p>
          <a:p>
            <a:pPr algn="just"/>
            <a:r>
              <a:rPr lang="en-US" sz="4500" dirty="0">
                <a:latin typeface="Times New Roman" panose="02020603050405020304" pitchFamily="18" charset="0"/>
                <a:cs typeface="Times New Roman" panose="02020603050405020304" pitchFamily="18" charset="0"/>
              </a:rPr>
              <a:t>if x &gt; 0:</a:t>
            </a:r>
          </a:p>
          <a:p>
            <a:pPr algn="just"/>
            <a:r>
              <a:rPr lang="en-US" sz="4500" dirty="0">
                <a:latin typeface="Times New Roman" panose="02020603050405020304" pitchFamily="18" charset="0"/>
                <a:cs typeface="Times New Roman" panose="02020603050405020304" pitchFamily="18" charset="0"/>
              </a:rPr>
              <a:t>    print("Positive")</a:t>
            </a:r>
          </a:p>
          <a:p>
            <a:pPr algn="just"/>
            <a:r>
              <a:rPr lang="en-US" sz="4500" dirty="0">
                <a:latin typeface="Times New Roman" panose="02020603050405020304" pitchFamily="18" charset="0"/>
                <a:cs typeface="Times New Roman" panose="02020603050405020304" pitchFamily="18" charset="0"/>
              </a:rPr>
              <a:t>print("Done")</a:t>
            </a:r>
          </a:p>
          <a:p>
            <a:pPr algn="just"/>
            <a:r>
              <a:rPr lang="en-US" sz="4500" dirty="0">
                <a:latin typeface="Times New Roman" panose="02020603050405020304" pitchFamily="18" charset="0"/>
                <a:cs typeface="Times New Roman" panose="02020603050405020304" pitchFamily="18" charset="0"/>
              </a:rPr>
              <a:t>Use x = 5 to cover all three lines (if Positive and Done print).</a:t>
            </a:r>
          </a:p>
          <a:p>
            <a:endParaRPr lang="en-US" dirty="0"/>
          </a:p>
        </p:txBody>
      </p:sp>
      <p:pic>
        <p:nvPicPr>
          <p:cNvPr id="5" name="Content Placeholder 4"/>
          <p:cNvPicPr>
            <a:picLocks noGrp="1"/>
          </p:cNvPicPr>
          <p:nvPr>
            <p:ph sz="half" idx="2"/>
          </p:nvPr>
        </p:nvPicPr>
        <p:blipFill>
          <a:blip r:embed="rId2"/>
          <a:stretch>
            <a:fillRect/>
          </a:stretch>
        </p:blipFill>
        <p:spPr>
          <a:xfrm>
            <a:off x="6493668" y="1955799"/>
            <a:ext cx="5319642" cy="3124201"/>
          </a:xfrm>
          <a:prstGeom prst="rect">
            <a:avLst/>
          </a:prstGeom>
        </p:spPr>
      </p:pic>
    </p:spTree>
    <p:extLst>
      <p:ext uri="{BB962C8B-B14F-4D97-AF65-F5344CB8AC3E}">
        <p14:creationId xmlns:p14="http://schemas.microsoft.com/office/powerpoint/2010/main" val="578020164"/>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250" fill="hold"/>
                                        <p:tgtEl>
                                          <p:spTgt spid="5"/>
                                        </p:tgtEl>
                                        <p:attrNameLst>
                                          <p:attrName>ppt_w</p:attrName>
                                        </p:attrNameLst>
                                      </p:cBhvr>
                                      <p:tavLst>
                                        <p:tav tm="0">
                                          <p:val>
                                            <p:fltVal val="0"/>
                                          </p:val>
                                        </p:tav>
                                        <p:tav tm="100000">
                                          <p:val>
                                            <p:strVal val="#ppt_w"/>
                                          </p:val>
                                        </p:tav>
                                      </p:tavLst>
                                    </p:anim>
                                    <p:anim calcmode="lin" valueType="num">
                                      <p:cBhvr>
                                        <p:cTn id="8" dur="250" fill="hold"/>
                                        <p:tgtEl>
                                          <p:spTgt spid="5"/>
                                        </p:tgtEl>
                                        <p:attrNameLst>
                                          <p:attrName>ppt_h</p:attrName>
                                        </p:attrNameLst>
                                      </p:cBhvr>
                                      <p:tavLst>
                                        <p:tav tm="0">
                                          <p:val>
                                            <p:fltVal val="0"/>
                                          </p:val>
                                        </p:tav>
                                        <p:tav tm="100000">
                                          <p:val>
                                            <p:strVal val="#ppt_h"/>
                                          </p:val>
                                        </p:tav>
                                      </p:tavLst>
                                    </p:anim>
                                    <p:animEffect transition="in" filter="fade">
                                      <p:cBhvr>
                                        <p:cTn id="9"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algn="just" fontAlgn="base"/>
            <a:r>
              <a:rPr lang="en-US" sz="2800" b="1" dirty="0">
                <a:latin typeface="Times New Roman" panose="02020603050405020304" pitchFamily="18" charset="0"/>
                <a:cs typeface="Times New Roman" panose="02020603050405020304" pitchFamily="18" charset="0"/>
              </a:rPr>
              <a:t>2. </a:t>
            </a:r>
            <a:r>
              <a:rPr lang="en-US" sz="2800" b="1" dirty="0">
                <a:latin typeface="Times New Roman" panose="02020603050405020304" pitchFamily="18" charset="0"/>
                <a:cs typeface="Times New Roman" panose="02020603050405020304" pitchFamily="18" charset="0"/>
              </a:rPr>
              <a:t>Branch Coverage:</a:t>
            </a:r>
            <a:r>
              <a:rPr lang="en-US" sz="2800" dirty="0">
                <a:latin typeface="Times New Roman" panose="02020603050405020304" pitchFamily="18" charset="0"/>
                <a:cs typeface="Times New Roman" panose="02020603050405020304" pitchFamily="18" charset="0"/>
              </a:rPr>
              <a:t> Branch coverage focuses on testing the decision points or conditional branches in the code. </a:t>
            </a:r>
            <a:endParaRPr lang="en-US" sz="2800" dirty="0" smtClean="0">
              <a:latin typeface="Times New Roman" panose="02020603050405020304" pitchFamily="18" charset="0"/>
              <a:cs typeface="Times New Roman" panose="02020603050405020304" pitchFamily="18" charset="0"/>
            </a:endParaRPr>
          </a:p>
          <a:p>
            <a:pPr algn="just" fontAlgn="base"/>
            <a:r>
              <a:rPr lang="en-US" sz="2800" dirty="0" smtClean="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checks whether both possible outcomes (true and false) of each conditional statement are tested. </a:t>
            </a:r>
            <a:endParaRPr lang="en-US" sz="2800" dirty="0" smtClean="0">
              <a:latin typeface="Times New Roman" panose="02020603050405020304" pitchFamily="18" charset="0"/>
              <a:cs typeface="Times New Roman" panose="02020603050405020304" pitchFamily="18" charset="0"/>
            </a:endParaRPr>
          </a:p>
          <a:p>
            <a:pPr algn="just" fontAlgn="base"/>
            <a:r>
              <a:rPr lang="en-US" sz="2800" dirty="0" smtClean="0">
                <a:latin typeface="Times New Roman" panose="02020603050405020304" pitchFamily="18" charset="0"/>
                <a:cs typeface="Times New Roman" panose="02020603050405020304" pitchFamily="18" charset="0"/>
              </a:rPr>
              <a:t>In </a:t>
            </a:r>
            <a:r>
              <a:rPr lang="en-US" sz="2800" dirty="0">
                <a:latin typeface="Times New Roman" panose="02020603050405020304" pitchFamily="18" charset="0"/>
                <a:cs typeface="Times New Roman" panose="02020603050405020304" pitchFamily="18" charset="0"/>
              </a:rPr>
              <a:t>a flowchart, all edges must be traversed at least once.</a:t>
            </a:r>
          </a:p>
          <a:p>
            <a:pPr algn="just"/>
            <a:r>
              <a:rPr lang="en-US" sz="2800" b="1" dirty="0">
                <a:latin typeface="Times New Roman" panose="02020603050405020304" pitchFamily="18" charset="0"/>
                <a:cs typeface="Times New Roman" panose="02020603050405020304" pitchFamily="18" charset="0"/>
              </a:rPr>
              <a:t>Goal: </a:t>
            </a:r>
            <a:r>
              <a:rPr lang="en-US" sz="2800" dirty="0">
                <a:latin typeface="Times New Roman" panose="02020603050405020304" pitchFamily="18" charset="0"/>
                <a:cs typeface="Times New Roman" panose="02020603050405020304" pitchFamily="18" charset="0"/>
              </a:rPr>
              <a:t>Test every branch of decision points (like both True and False cases in an if).</a:t>
            </a:r>
          </a:p>
          <a:p>
            <a:pPr algn="just"/>
            <a:endParaRPr lang="en-US" dirty="0"/>
          </a:p>
        </p:txBody>
      </p:sp>
    </p:spTree>
    <p:extLst>
      <p:ext uri="{BB962C8B-B14F-4D97-AF65-F5344CB8AC3E}">
        <p14:creationId xmlns:p14="http://schemas.microsoft.com/office/powerpoint/2010/main" val="1747050740"/>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187037"/>
            <a:ext cx="10018713" cy="1124526"/>
          </a:xfrm>
        </p:spPr>
        <p:txBody>
          <a:bodyPr>
            <a:normAutofit/>
          </a:bodyPr>
          <a:lstStyle/>
          <a:p>
            <a:r>
              <a:rPr lang="en-US" b="1" dirty="0">
                <a:latin typeface="Times New Roman" panose="02020603050405020304" pitchFamily="18" charset="0"/>
                <a:cs typeface="Times New Roman" panose="02020603050405020304" pitchFamily="18" charset="0"/>
              </a:rPr>
              <a:t>White Box Testing Techniques Cont..</a:t>
            </a:r>
            <a:endParaRPr lang="en-US" dirty="0"/>
          </a:p>
        </p:txBody>
      </p:sp>
      <p:sp>
        <p:nvSpPr>
          <p:cNvPr id="3" name="Content Placeholder 2"/>
          <p:cNvSpPr>
            <a:spLocks noGrp="1"/>
          </p:cNvSpPr>
          <p:nvPr>
            <p:ph sz="half" idx="1"/>
          </p:nvPr>
        </p:nvSpPr>
        <p:spPr>
          <a:xfrm>
            <a:off x="1484312" y="1394691"/>
            <a:ext cx="4895055" cy="4839855"/>
          </a:xfrm>
        </p:spPr>
        <p:txBody>
          <a:bodyPr>
            <a:normAutofit fontScale="55000" lnSpcReduction="20000"/>
          </a:bodyPr>
          <a:lstStyle/>
          <a:p>
            <a:pPr algn="just"/>
            <a:r>
              <a:rPr lang="en-US" sz="3000" b="1" dirty="0">
                <a:latin typeface="Times New Roman" panose="02020603050405020304" pitchFamily="18" charset="0"/>
                <a:cs typeface="Times New Roman" panose="02020603050405020304" pitchFamily="18" charset="0"/>
              </a:rPr>
              <a:t>Example 1:</a:t>
            </a:r>
          </a:p>
          <a:p>
            <a:pPr algn="just"/>
            <a:r>
              <a:rPr lang="en-US" sz="3000" dirty="0">
                <a:latin typeface="Times New Roman" panose="02020603050405020304" pitchFamily="18" charset="0"/>
                <a:cs typeface="Times New Roman" panose="02020603050405020304" pitchFamily="18" charset="0"/>
              </a:rPr>
              <a:t>if age &gt;= 18:</a:t>
            </a:r>
          </a:p>
          <a:p>
            <a:pPr algn="just"/>
            <a:r>
              <a:rPr lang="en-US" sz="3000" dirty="0">
                <a:latin typeface="Times New Roman" panose="02020603050405020304" pitchFamily="18" charset="0"/>
                <a:cs typeface="Times New Roman" panose="02020603050405020304" pitchFamily="18" charset="0"/>
              </a:rPr>
              <a:t>    print("Adult")</a:t>
            </a:r>
          </a:p>
          <a:p>
            <a:pPr algn="just"/>
            <a:r>
              <a:rPr lang="en-US" sz="3000" dirty="0">
                <a:latin typeface="Times New Roman" panose="02020603050405020304" pitchFamily="18" charset="0"/>
                <a:cs typeface="Times New Roman" panose="02020603050405020304" pitchFamily="18" charset="0"/>
              </a:rPr>
              <a:t>else:</a:t>
            </a:r>
          </a:p>
          <a:p>
            <a:pPr algn="just"/>
            <a:r>
              <a:rPr lang="en-US" sz="3000" dirty="0">
                <a:latin typeface="Times New Roman" panose="02020603050405020304" pitchFamily="18" charset="0"/>
                <a:cs typeface="Times New Roman" panose="02020603050405020304" pitchFamily="18" charset="0"/>
              </a:rPr>
              <a:t>    print("Minor")</a:t>
            </a:r>
          </a:p>
          <a:p>
            <a:pPr algn="just"/>
            <a:r>
              <a:rPr lang="en-US" sz="3000" b="1" dirty="0">
                <a:latin typeface="Times New Roman" panose="02020603050405020304" pitchFamily="18" charset="0"/>
                <a:cs typeface="Times New Roman" panose="02020603050405020304" pitchFamily="18" charset="0"/>
              </a:rPr>
              <a:t>Test </a:t>
            </a:r>
            <a:r>
              <a:rPr lang="en-US" sz="3000" b="1" dirty="0">
                <a:latin typeface="Times New Roman" panose="02020603050405020304" pitchFamily="18" charset="0"/>
                <a:cs typeface="Times New Roman" panose="02020603050405020304" pitchFamily="18" charset="0"/>
              </a:rPr>
              <a:t>Cases</a:t>
            </a:r>
            <a:r>
              <a:rPr lang="en-US" sz="3000" b="1" dirty="0">
                <a:latin typeface="Times New Roman" panose="02020603050405020304" pitchFamily="18" charset="0"/>
                <a:cs typeface="Times New Roman" panose="02020603050405020304" pitchFamily="18" charset="0"/>
              </a:rPr>
              <a:t>:</a:t>
            </a:r>
          </a:p>
          <a:p>
            <a:pPr algn="just"/>
            <a:r>
              <a:rPr lang="en-US" sz="3000" dirty="0">
                <a:latin typeface="Times New Roman" panose="02020603050405020304" pitchFamily="18" charset="0"/>
                <a:cs typeface="Times New Roman" panose="02020603050405020304" pitchFamily="18" charset="0"/>
              </a:rPr>
              <a:t>age = 20 (True branch)</a:t>
            </a:r>
          </a:p>
          <a:p>
            <a:pPr algn="just"/>
            <a:r>
              <a:rPr lang="en-US" sz="3000" dirty="0" smtClean="0">
                <a:latin typeface="Times New Roman" panose="02020603050405020304" pitchFamily="18" charset="0"/>
                <a:cs typeface="Times New Roman" panose="02020603050405020304" pitchFamily="18" charset="0"/>
              </a:rPr>
              <a:t>age = 16 (False branch)</a:t>
            </a:r>
          </a:p>
          <a:p>
            <a:pPr algn="just"/>
            <a:r>
              <a:rPr lang="en-US" sz="3000" b="1" dirty="0" smtClean="0">
                <a:latin typeface="Times New Roman" panose="02020603050405020304" pitchFamily="18" charset="0"/>
                <a:cs typeface="Times New Roman" panose="02020603050405020304" pitchFamily="18" charset="0"/>
              </a:rPr>
              <a:t>Example </a:t>
            </a:r>
            <a:r>
              <a:rPr lang="en-US" sz="3000" b="1" dirty="0">
                <a:latin typeface="Times New Roman" panose="02020603050405020304" pitchFamily="18" charset="0"/>
                <a:cs typeface="Times New Roman" panose="02020603050405020304" pitchFamily="18" charset="0"/>
              </a:rPr>
              <a:t>2:</a:t>
            </a:r>
          </a:p>
          <a:p>
            <a:pPr algn="just"/>
            <a:r>
              <a:rPr lang="en-US" sz="3000" dirty="0">
                <a:latin typeface="Times New Roman" panose="02020603050405020304" pitchFamily="18" charset="0"/>
                <a:cs typeface="Times New Roman" panose="02020603050405020304" pitchFamily="18" charset="0"/>
              </a:rPr>
              <a:t>if x == 0 or y == 0:</a:t>
            </a:r>
          </a:p>
          <a:p>
            <a:pPr algn="just"/>
            <a:r>
              <a:rPr lang="en-US" sz="3000" dirty="0">
                <a:latin typeface="Times New Roman" panose="02020603050405020304" pitchFamily="18" charset="0"/>
                <a:cs typeface="Times New Roman" panose="02020603050405020304" pitchFamily="18" charset="0"/>
              </a:rPr>
              <a:t>    print("Zero found")</a:t>
            </a:r>
          </a:p>
          <a:p>
            <a:pPr algn="just"/>
            <a:r>
              <a:rPr lang="en-US" sz="3000" b="1" dirty="0">
                <a:latin typeface="Times New Roman" panose="02020603050405020304" pitchFamily="18" charset="0"/>
                <a:cs typeface="Times New Roman" panose="02020603050405020304" pitchFamily="18" charset="0"/>
              </a:rPr>
              <a:t>Test Cases :</a:t>
            </a:r>
            <a:endParaRPr lang="en-US" sz="3000" b="1" dirty="0">
              <a:latin typeface="Times New Roman" panose="02020603050405020304" pitchFamily="18" charset="0"/>
              <a:cs typeface="Times New Roman" panose="02020603050405020304" pitchFamily="18" charset="0"/>
            </a:endParaRPr>
          </a:p>
          <a:p>
            <a:pPr algn="just"/>
            <a:r>
              <a:rPr lang="en-US" sz="3000" dirty="0" smtClean="0">
                <a:latin typeface="Times New Roman" panose="02020603050405020304" pitchFamily="18" charset="0"/>
                <a:cs typeface="Times New Roman" panose="02020603050405020304" pitchFamily="18" charset="0"/>
              </a:rPr>
              <a:t>x = 0, y = 5 (True)</a:t>
            </a:r>
          </a:p>
          <a:p>
            <a:pPr algn="just"/>
            <a:r>
              <a:rPr lang="en-US" sz="3000" dirty="0" smtClean="0">
                <a:latin typeface="Times New Roman" panose="02020603050405020304" pitchFamily="18" charset="0"/>
                <a:cs typeface="Times New Roman" panose="02020603050405020304" pitchFamily="18" charset="0"/>
              </a:rPr>
              <a:t>x </a:t>
            </a:r>
            <a:r>
              <a:rPr lang="en-US" sz="3000" dirty="0">
                <a:latin typeface="Times New Roman" panose="02020603050405020304" pitchFamily="18" charset="0"/>
                <a:cs typeface="Times New Roman" panose="02020603050405020304" pitchFamily="18" charset="0"/>
              </a:rPr>
              <a:t>= 5, y = 5 (False)</a:t>
            </a:r>
          </a:p>
          <a:p>
            <a:pPr algn="just"/>
            <a:endParaRPr lang="en-US" dirty="0"/>
          </a:p>
        </p:txBody>
      </p:sp>
      <p:pic>
        <p:nvPicPr>
          <p:cNvPr id="7" name="Content Placeholder 6"/>
          <p:cNvPicPr>
            <a:picLocks noGrp="1"/>
          </p:cNvPicPr>
          <p:nvPr>
            <p:ph sz="half" idx="2"/>
          </p:nvPr>
        </p:nvPicPr>
        <p:blipFill rotWithShape="1">
          <a:blip r:embed="rId2"/>
          <a:srcRect l="1189" t="1076" b="866"/>
          <a:stretch/>
        </p:blipFill>
        <p:spPr>
          <a:xfrm>
            <a:off x="5181600" y="1662545"/>
            <a:ext cx="6142180" cy="4313382"/>
          </a:xfrm>
          <a:prstGeom prst="rect">
            <a:avLst/>
          </a:prstGeom>
        </p:spPr>
      </p:pic>
    </p:spTree>
    <p:extLst>
      <p:ext uri="{BB962C8B-B14F-4D97-AF65-F5344CB8AC3E}">
        <p14:creationId xmlns:p14="http://schemas.microsoft.com/office/powerpoint/2010/main" val="3204218361"/>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ppt_w</p:attrName>
                                        </p:attrNameLst>
                                      </p:cBhvr>
                                      <p:tavLst>
                                        <p:tav tm="0">
                                          <p:val>
                                            <p:fltVal val="0"/>
                                          </p:val>
                                        </p:tav>
                                        <p:tav tm="100000">
                                          <p:val>
                                            <p:strVal val="#ppt_w"/>
                                          </p:val>
                                        </p:tav>
                                      </p:tavLst>
                                    </p:anim>
                                    <p:anim calcmode="lin" valueType="num">
                                      <p:cBhvr>
                                        <p:cTn id="8" dur="250" fill="hold"/>
                                        <p:tgtEl>
                                          <p:spTgt spid="7"/>
                                        </p:tgtEl>
                                        <p:attrNameLst>
                                          <p:attrName>ppt_h</p:attrName>
                                        </p:attrNameLst>
                                      </p:cBhvr>
                                      <p:tavLst>
                                        <p:tav tm="0">
                                          <p:val>
                                            <p:fltVal val="0"/>
                                          </p:val>
                                        </p:tav>
                                        <p:tav tm="100000">
                                          <p:val>
                                            <p:strVal val="#ppt_h"/>
                                          </p:val>
                                        </p:tav>
                                      </p:tavLst>
                                    </p:anim>
                                    <p:animEffect transition="in" filter="fade">
                                      <p:cBhvr>
                                        <p:cTn id="9" dur="2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just" fontAlgn="base"/>
            <a:r>
              <a:rPr lang="en-US" sz="2800" b="1" dirty="0" smtClean="0">
                <a:latin typeface="Times New Roman" panose="02020603050405020304" pitchFamily="18" charset="0"/>
                <a:cs typeface="Times New Roman" panose="02020603050405020304" pitchFamily="18" charset="0"/>
              </a:rPr>
              <a:t>3.Condition </a:t>
            </a:r>
            <a:r>
              <a:rPr lang="en-US" sz="2800" b="1" dirty="0">
                <a:latin typeface="Times New Roman" panose="02020603050405020304" pitchFamily="18" charset="0"/>
                <a:cs typeface="Times New Roman" panose="02020603050405020304" pitchFamily="18" charset="0"/>
              </a:rPr>
              <a:t>Coverage: </a:t>
            </a:r>
            <a:r>
              <a:rPr lang="en-US" sz="2800" dirty="0">
                <a:latin typeface="Times New Roman" panose="02020603050405020304" pitchFamily="18" charset="0"/>
                <a:cs typeface="Times New Roman" panose="02020603050405020304" pitchFamily="18" charset="0"/>
              </a:rPr>
              <a:t>In this technique, all individual conditions must be covered as shown in the </a:t>
            </a:r>
            <a:r>
              <a:rPr lang="en-US" sz="2800" dirty="0" smtClean="0">
                <a:latin typeface="Times New Roman" panose="02020603050405020304" pitchFamily="18" charset="0"/>
                <a:cs typeface="Times New Roman" panose="02020603050405020304" pitchFamily="18" charset="0"/>
              </a:rPr>
              <a:t>examples ahead:</a:t>
            </a:r>
            <a:endParaRPr lang="en-US" sz="2800" dirty="0">
              <a:latin typeface="Times New Roman" panose="02020603050405020304" pitchFamily="18" charset="0"/>
              <a:cs typeface="Times New Roman" panose="02020603050405020304" pitchFamily="18" charset="0"/>
            </a:endParaRPr>
          </a:p>
          <a:p>
            <a:pPr marL="0" indent="0" algn="just" fontAlgn="base">
              <a:buNone/>
            </a:pPr>
            <a:endParaRPr lang="en-US" sz="2800" dirty="0">
              <a:latin typeface="Times New Roman" panose="02020603050405020304" pitchFamily="18" charset="0"/>
              <a:cs typeface="Times New Roman" panose="02020603050405020304" pitchFamily="18" charset="0"/>
            </a:endParaRPr>
          </a:p>
          <a:p>
            <a:pPr algn="just"/>
            <a:r>
              <a:rPr lang="en-US" sz="2800" b="1" dirty="0">
                <a:latin typeface="Times New Roman" panose="02020603050405020304" pitchFamily="18" charset="0"/>
                <a:cs typeface="Times New Roman" panose="02020603050405020304" pitchFamily="18" charset="0"/>
              </a:rPr>
              <a:t>Goal: </a:t>
            </a:r>
            <a:r>
              <a:rPr lang="en-US" sz="2800" dirty="0">
                <a:latin typeface="Times New Roman" panose="02020603050405020304" pitchFamily="18" charset="0"/>
                <a:cs typeface="Times New Roman" panose="02020603050405020304" pitchFamily="18" charset="0"/>
              </a:rPr>
              <a:t>Test each individual condition inside complex decision points.</a:t>
            </a:r>
          </a:p>
          <a:p>
            <a:pPr algn="just"/>
            <a:endParaRPr lang="en-US" dirty="0"/>
          </a:p>
        </p:txBody>
      </p:sp>
    </p:spTree>
    <p:extLst>
      <p:ext uri="{BB962C8B-B14F-4D97-AF65-F5344CB8AC3E}">
        <p14:creationId xmlns:p14="http://schemas.microsoft.com/office/powerpoint/2010/main" val="1063885897"/>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p:txBody>
          <a:bodyPr>
            <a:normAutofit fontScale="25000" lnSpcReduction="20000"/>
          </a:bodyPr>
          <a:lstStyle/>
          <a:p>
            <a:pPr algn="just"/>
            <a:r>
              <a:rPr lang="en-US" sz="11200" b="1" dirty="0">
                <a:latin typeface="Times New Roman" panose="02020603050405020304" pitchFamily="18" charset="0"/>
                <a:cs typeface="Times New Roman" panose="02020603050405020304" pitchFamily="18" charset="0"/>
              </a:rPr>
              <a:t>Example 1:</a:t>
            </a:r>
          </a:p>
          <a:p>
            <a:pPr algn="just"/>
            <a:r>
              <a:rPr lang="en-US" sz="11200" dirty="0">
                <a:latin typeface="Times New Roman" panose="02020603050405020304" pitchFamily="18" charset="0"/>
                <a:cs typeface="Times New Roman" panose="02020603050405020304" pitchFamily="18" charset="0"/>
              </a:rPr>
              <a:t>if A &gt; 0 and B &gt; 0:</a:t>
            </a:r>
          </a:p>
          <a:p>
            <a:pPr algn="just"/>
            <a:r>
              <a:rPr lang="en-US" sz="11200" dirty="0">
                <a:latin typeface="Times New Roman" panose="02020603050405020304" pitchFamily="18" charset="0"/>
                <a:cs typeface="Times New Roman" panose="02020603050405020304" pitchFamily="18" charset="0"/>
              </a:rPr>
              <a:t> print("Both Positive")</a:t>
            </a:r>
          </a:p>
          <a:p>
            <a:pPr algn="just"/>
            <a:r>
              <a:rPr lang="en-US" sz="11200" b="1" dirty="0">
                <a:latin typeface="Times New Roman" panose="02020603050405020304" pitchFamily="18" charset="0"/>
                <a:cs typeface="Times New Roman" panose="02020603050405020304" pitchFamily="18" charset="0"/>
              </a:rPr>
              <a:t>Test cases:</a:t>
            </a:r>
          </a:p>
          <a:p>
            <a:pPr algn="just"/>
            <a:r>
              <a:rPr lang="en-US" sz="11200" dirty="0">
                <a:latin typeface="Times New Roman" panose="02020603050405020304" pitchFamily="18" charset="0"/>
                <a:cs typeface="Times New Roman" panose="02020603050405020304" pitchFamily="18" charset="0"/>
              </a:rPr>
              <a:t>A = 5, B = -1 (Tests A True, B False)</a:t>
            </a:r>
          </a:p>
          <a:p>
            <a:pPr algn="just"/>
            <a:r>
              <a:rPr lang="en-US" sz="11200" dirty="0">
                <a:latin typeface="Times New Roman" panose="02020603050405020304" pitchFamily="18" charset="0"/>
                <a:cs typeface="Times New Roman" panose="02020603050405020304" pitchFamily="18" charset="0"/>
              </a:rPr>
              <a:t>A = -1, B = 5 (Tests A False, B True)</a:t>
            </a:r>
          </a:p>
          <a:p>
            <a:pPr algn="just"/>
            <a:endParaRPr lang="en-US" dirty="0"/>
          </a:p>
        </p:txBody>
      </p:sp>
      <p:sp>
        <p:nvSpPr>
          <p:cNvPr id="4" name="Content Placeholder 3"/>
          <p:cNvSpPr>
            <a:spLocks noGrp="1"/>
          </p:cNvSpPr>
          <p:nvPr>
            <p:ph sz="half" idx="2"/>
          </p:nvPr>
        </p:nvSpPr>
        <p:spPr>
          <a:xfrm>
            <a:off x="6607968" y="2438398"/>
            <a:ext cx="4895056" cy="3352801"/>
          </a:xfrm>
        </p:spPr>
        <p:txBody>
          <a:bodyPr>
            <a:normAutofit fontScale="25000" lnSpcReduction="20000"/>
          </a:bodyPr>
          <a:lstStyle/>
          <a:p>
            <a:pPr algn="just"/>
            <a:r>
              <a:rPr lang="en-US" sz="11200" b="1" dirty="0">
                <a:latin typeface="Times New Roman" panose="02020603050405020304" pitchFamily="18" charset="0"/>
                <a:cs typeface="Times New Roman" panose="02020603050405020304" pitchFamily="18" charset="0"/>
              </a:rPr>
              <a:t>Example 2:</a:t>
            </a:r>
          </a:p>
          <a:p>
            <a:pPr algn="just"/>
            <a:r>
              <a:rPr lang="en-US" sz="11200" dirty="0">
                <a:latin typeface="Times New Roman" panose="02020603050405020304" pitchFamily="18" charset="0"/>
                <a:cs typeface="Times New Roman" panose="02020603050405020304" pitchFamily="18" charset="0"/>
              </a:rPr>
              <a:t>if x == 0 or y == 0:</a:t>
            </a:r>
          </a:p>
          <a:p>
            <a:pPr algn="just"/>
            <a:r>
              <a:rPr lang="en-US" sz="11200" dirty="0">
                <a:latin typeface="Times New Roman" panose="02020603050405020304" pitchFamily="18" charset="0"/>
                <a:cs typeface="Times New Roman" panose="02020603050405020304" pitchFamily="18" charset="0"/>
              </a:rPr>
              <a:t>print("At least one zero")</a:t>
            </a:r>
          </a:p>
          <a:p>
            <a:pPr algn="just"/>
            <a:r>
              <a:rPr lang="en-US" sz="11200" b="1" dirty="0">
                <a:latin typeface="Times New Roman" panose="02020603050405020304" pitchFamily="18" charset="0"/>
                <a:cs typeface="Times New Roman" panose="02020603050405020304" pitchFamily="18" charset="0"/>
              </a:rPr>
              <a:t>Test cases:</a:t>
            </a:r>
          </a:p>
          <a:p>
            <a:pPr algn="just"/>
            <a:r>
              <a:rPr lang="en-US" sz="11200" dirty="0">
                <a:latin typeface="Times New Roman" panose="02020603050405020304" pitchFamily="18" charset="0"/>
                <a:cs typeface="Times New Roman" panose="02020603050405020304" pitchFamily="18" charset="0"/>
              </a:rPr>
              <a:t>x = 0, y = 55</a:t>
            </a:r>
          </a:p>
          <a:p>
            <a:pPr algn="just"/>
            <a:r>
              <a:rPr lang="en-US" sz="11200" dirty="0">
                <a:latin typeface="Times New Roman" panose="02020603050405020304" pitchFamily="18" charset="0"/>
                <a:cs typeface="Times New Roman" panose="02020603050405020304" pitchFamily="18" charset="0"/>
              </a:rPr>
              <a:t>x = 5, y = 0</a:t>
            </a:r>
          </a:p>
          <a:p>
            <a:pPr algn="just"/>
            <a:endParaRPr lang="en-US" dirty="0"/>
          </a:p>
        </p:txBody>
      </p:sp>
    </p:spTree>
    <p:extLst>
      <p:ext uri="{BB962C8B-B14F-4D97-AF65-F5344CB8AC3E}">
        <p14:creationId xmlns:p14="http://schemas.microsoft.com/office/powerpoint/2010/main" val="4075300035"/>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lgn="just" fontAlgn="base"/>
            <a:r>
              <a:rPr lang="en-US" sz="2800" b="1" dirty="0">
                <a:latin typeface="Times New Roman" panose="02020603050405020304" pitchFamily="18" charset="0"/>
                <a:cs typeface="Times New Roman" panose="02020603050405020304" pitchFamily="18" charset="0"/>
              </a:rPr>
              <a:t>4. </a:t>
            </a:r>
            <a:r>
              <a:rPr lang="en-US" sz="2800" b="1" dirty="0">
                <a:latin typeface="Times New Roman" panose="02020603050405020304" pitchFamily="18" charset="0"/>
                <a:cs typeface="Times New Roman" panose="02020603050405020304" pitchFamily="18" charset="0"/>
              </a:rPr>
              <a:t>Multiple Condition Coverage: </a:t>
            </a:r>
            <a:r>
              <a:rPr lang="en-US" sz="2800" dirty="0">
                <a:latin typeface="Times New Roman" panose="02020603050405020304" pitchFamily="18" charset="0"/>
                <a:cs typeface="Times New Roman" panose="02020603050405020304" pitchFamily="18" charset="0"/>
              </a:rPr>
              <a:t>In this technique, all the possible combinations of the possible outcomes of conditions are tested at least once</a:t>
            </a:r>
            <a:r>
              <a:rPr lang="en-US" sz="2800" dirty="0" smtClean="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p>
          <a:p>
            <a:pPr algn="just"/>
            <a:r>
              <a:rPr lang="en-US" sz="2800" b="1" dirty="0">
                <a:latin typeface="Times New Roman" panose="02020603050405020304" pitchFamily="18" charset="0"/>
                <a:cs typeface="Times New Roman" panose="02020603050405020304" pitchFamily="18" charset="0"/>
              </a:rPr>
              <a:t>Goal: </a:t>
            </a:r>
            <a:r>
              <a:rPr lang="en-US" sz="2800" dirty="0">
                <a:latin typeface="Times New Roman" panose="02020603050405020304" pitchFamily="18" charset="0"/>
                <a:cs typeface="Times New Roman" panose="02020603050405020304" pitchFamily="18" charset="0"/>
              </a:rPr>
              <a:t>Test all possible combinations of condition outcomes (True/False).</a:t>
            </a:r>
          </a:p>
          <a:p>
            <a:pPr algn="just"/>
            <a:endParaRPr lang="en-US" dirty="0"/>
          </a:p>
        </p:txBody>
      </p:sp>
    </p:spTree>
    <p:extLst>
      <p:ext uri="{BB962C8B-B14F-4D97-AF65-F5344CB8AC3E}">
        <p14:creationId xmlns:p14="http://schemas.microsoft.com/office/powerpoint/2010/main" val="2085709657"/>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p:txBody>
          <a:bodyPr>
            <a:normAutofit fontScale="25000" lnSpcReduction="20000"/>
          </a:bodyPr>
          <a:lstStyle/>
          <a:p>
            <a:pPr algn="just"/>
            <a:r>
              <a:rPr lang="en-US" sz="11200" b="1" dirty="0">
                <a:latin typeface="Times New Roman" panose="02020603050405020304" pitchFamily="18" charset="0"/>
                <a:cs typeface="Times New Roman" panose="02020603050405020304" pitchFamily="18" charset="0"/>
              </a:rPr>
              <a:t>Example 1:</a:t>
            </a:r>
          </a:p>
          <a:p>
            <a:pPr algn="just"/>
            <a:r>
              <a:rPr lang="en-US" sz="11200" dirty="0">
                <a:latin typeface="Times New Roman" panose="02020603050405020304" pitchFamily="18" charset="0"/>
                <a:cs typeface="Times New Roman" panose="02020603050405020304" pitchFamily="18" charset="0"/>
              </a:rPr>
              <a:t>if x == 0 or y == 0:</a:t>
            </a:r>
          </a:p>
          <a:p>
            <a:pPr algn="just"/>
            <a:r>
              <a:rPr lang="en-US" sz="11200" dirty="0">
                <a:latin typeface="Times New Roman" panose="02020603050405020304" pitchFamily="18" charset="0"/>
                <a:cs typeface="Times New Roman" panose="02020603050405020304" pitchFamily="18" charset="0"/>
              </a:rPr>
              <a:t>    print("Zero found")</a:t>
            </a:r>
          </a:p>
          <a:p>
            <a:pPr algn="just"/>
            <a:r>
              <a:rPr lang="en-US" sz="11200" b="1" dirty="0">
                <a:latin typeface="Times New Roman" panose="02020603050405020304" pitchFamily="18" charset="0"/>
                <a:cs typeface="Times New Roman" panose="02020603050405020304" pitchFamily="18" charset="0"/>
              </a:rPr>
              <a:t>Test cases:</a:t>
            </a:r>
          </a:p>
          <a:p>
            <a:pPr algn="just"/>
            <a:r>
              <a:rPr lang="en-US" sz="11200" dirty="0">
                <a:latin typeface="Times New Roman" panose="02020603050405020304" pitchFamily="18" charset="0"/>
                <a:cs typeface="Times New Roman" panose="02020603050405020304" pitchFamily="18" charset="0"/>
              </a:rPr>
              <a:t>x = 0, y = 0</a:t>
            </a:r>
          </a:p>
          <a:p>
            <a:pPr algn="just"/>
            <a:r>
              <a:rPr lang="en-US" sz="11200" dirty="0">
                <a:latin typeface="Times New Roman" panose="02020603050405020304" pitchFamily="18" charset="0"/>
                <a:cs typeface="Times New Roman" panose="02020603050405020304" pitchFamily="18" charset="0"/>
              </a:rPr>
              <a:t>x = 0, y = 5</a:t>
            </a:r>
          </a:p>
          <a:p>
            <a:pPr algn="just"/>
            <a:r>
              <a:rPr lang="en-US" sz="11200" dirty="0">
                <a:latin typeface="Times New Roman" panose="02020603050405020304" pitchFamily="18" charset="0"/>
                <a:cs typeface="Times New Roman" panose="02020603050405020304" pitchFamily="18" charset="0"/>
              </a:rPr>
              <a:t>x = 5, y = 0</a:t>
            </a:r>
          </a:p>
          <a:p>
            <a:pPr algn="just"/>
            <a:r>
              <a:rPr lang="en-US" sz="11200" dirty="0">
                <a:latin typeface="Times New Roman" panose="02020603050405020304" pitchFamily="18" charset="0"/>
                <a:cs typeface="Times New Roman" panose="02020603050405020304" pitchFamily="18" charset="0"/>
              </a:rPr>
              <a:t>x = 5, y = 5</a:t>
            </a:r>
          </a:p>
          <a:p>
            <a:pPr algn="just"/>
            <a:endParaRPr lang="en-US" dirty="0"/>
          </a:p>
        </p:txBody>
      </p:sp>
      <p:sp>
        <p:nvSpPr>
          <p:cNvPr id="4" name="Content Placeholder 3"/>
          <p:cNvSpPr>
            <a:spLocks noGrp="1"/>
          </p:cNvSpPr>
          <p:nvPr>
            <p:ph sz="half" idx="2"/>
          </p:nvPr>
        </p:nvSpPr>
        <p:spPr>
          <a:xfrm>
            <a:off x="6607968" y="2552698"/>
            <a:ext cx="4895056" cy="3352801"/>
          </a:xfrm>
        </p:spPr>
        <p:txBody>
          <a:bodyPr>
            <a:normAutofit fontScale="25000" lnSpcReduction="20000"/>
          </a:bodyPr>
          <a:lstStyle/>
          <a:p>
            <a:pPr algn="just"/>
            <a:r>
              <a:rPr lang="en-US" sz="11200" b="1" dirty="0">
                <a:latin typeface="Times New Roman" panose="02020603050405020304" pitchFamily="18" charset="0"/>
                <a:cs typeface="Times New Roman" panose="02020603050405020304" pitchFamily="18" charset="0"/>
              </a:rPr>
              <a:t>Example 2:</a:t>
            </a:r>
          </a:p>
          <a:p>
            <a:pPr algn="just"/>
            <a:r>
              <a:rPr lang="en-US" sz="11200" dirty="0">
                <a:latin typeface="Times New Roman" panose="02020603050405020304" pitchFamily="18" charset="0"/>
                <a:cs typeface="Times New Roman" panose="02020603050405020304" pitchFamily="18" charset="0"/>
              </a:rPr>
              <a:t>if A &gt; 0 and B &gt; 0:</a:t>
            </a:r>
          </a:p>
          <a:p>
            <a:pPr algn="just"/>
            <a:r>
              <a:rPr lang="en-US" sz="11200" dirty="0">
                <a:latin typeface="Times New Roman" panose="02020603050405020304" pitchFamily="18" charset="0"/>
                <a:cs typeface="Times New Roman" panose="02020603050405020304" pitchFamily="18" charset="0"/>
              </a:rPr>
              <a:t>    print("Both Positive")</a:t>
            </a:r>
          </a:p>
          <a:p>
            <a:pPr algn="just"/>
            <a:r>
              <a:rPr lang="en-US" sz="11200" b="1" dirty="0">
                <a:latin typeface="Times New Roman" panose="02020603050405020304" pitchFamily="18" charset="0"/>
                <a:cs typeface="Times New Roman" panose="02020603050405020304" pitchFamily="18" charset="0"/>
              </a:rPr>
              <a:t>Test cases:</a:t>
            </a:r>
          </a:p>
          <a:p>
            <a:pPr algn="just"/>
            <a:r>
              <a:rPr lang="en-US" sz="11200" dirty="0">
                <a:latin typeface="Times New Roman" panose="02020603050405020304" pitchFamily="18" charset="0"/>
                <a:cs typeface="Times New Roman" panose="02020603050405020304" pitchFamily="18" charset="0"/>
              </a:rPr>
              <a:t>A = 1, B = 1</a:t>
            </a:r>
          </a:p>
          <a:p>
            <a:pPr algn="just"/>
            <a:r>
              <a:rPr lang="en-US" sz="11200" dirty="0">
                <a:latin typeface="Times New Roman" panose="02020603050405020304" pitchFamily="18" charset="0"/>
                <a:cs typeface="Times New Roman" panose="02020603050405020304" pitchFamily="18" charset="0"/>
              </a:rPr>
              <a:t>A = 1, B = -1</a:t>
            </a:r>
          </a:p>
          <a:p>
            <a:pPr algn="just"/>
            <a:r>
              <a:rPr lang="en-US" sz="11200" dirty="0">
                <a:latin typeface="Times New Roman" panose="02020603050405020304" pitchFamily="18" charset="0"/>
                <a:cs typeface="Times New Roman" panose="02020603050405020304" pitchFamily="18" charset="0"/>
              </a:rPr>
              <a:t>A = -1, B = 1</a:t>
            </a:r>
          </a:p>
          <a:p>
            <a:pPr algn="just"/>
            <a:r>
              <a:rPr lang="en-US" sz="11200" dirty="0">
                <a:latin typeface="Times New Roman" panose="02020603050405020304" pitchFamily="18" charset="0"/>
                <a:cs typeface="Times New Roman" panose="02020603050405020304" pitchFamily="18" charset="0"/>
              </a:rPr>
              <a:t>A = -1, B = -1</a:t>
            </a:r>
          </a:p>
          <a:p>
            <a:pPr algn="just"/>
            <a:endParaRPr lang="en-US" dirty="0"/>
          </a:p>
        </p:txBody>
      </p:sp>
    </p:spTree>
    <p:extLst>
      <p:ext uri="{BB962C8B-B14F-4D97-AF65-F5344CB8AC3E}">
        <p14:creationId xmlns:p14="http://schemas.microsoft.com/office/powerpoint/2010/main" val="202047635"/>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a:xfrm>
            <a:off x="1484310" y="2438399"/>
            <a:ext cx="10018713" cy="3549074"/>
          </a:xfrm>
        </p:spPr>
        <p:txBody>
          <a:bodyPr>
            <a:normAutofit fontScale="70000" lnSpcReduction="20000"/>
          </a:bodyPr>
          <a:lstStyle/>
          <a:p>
            <a:pPr algn="just" fontAlgn="base"/>
            <a:r>
              <a:rPr lang="en-US" sz="3300" b="1" dirty="0">
                <a:latin typeface="Times New Roman" panose="02020603050405020304" pitchFamily="18" charset="0"/>
                <a:cs typeface="Times New Roman" panose="02020603050405020304" pitchFamily="18" charset="0"/>
              </a:rPr>
              <a:t>5. Basis Path Testing: </a:t>
            </a:r>
            <a:r>
              <a:rPr lang="en-US" sz="3300" dirty="0">
                <a:latin typeface="Times New Roman" panose="02020603050405020304" pitchFamily="18" charset="0"/>
                <a:cs typeface="Times New Roman" panose="02020603050405020304" pitchFamily="18" charset="0"/>
              </a:rPr>
              <a:t>In this technique, control flow graphs are made from code or flowchart and then </a:t>
            </a:r>
            <a:r>
              <a:rPr lang="en-US" sz="3300" dirty="0" err="1">
                <a:latin typeface="Times New Roman" panose="02020603050405020304" pitchFamily="18" charset="0"/>
                <a:cs typeface="Times New Roman" panose="02020603050405020304" pitchFamily="18" charset="0"/>
              </a:rPr>
              <a:t>Cyclomatic</a:t>
            </a:r>
            <a:r>
              <a:rPr lang="en-US" sz="3300" dirty="0">
                <a:latin typeface="Times New Roman" panose="02020603050405020304" pitchFamily="18" charset="0"/>
                <a:cs typeface="Times New Roman" panose="02020603050405020304" pitchFamily="18" charset="0"/>
              </a:rPr>
              <a:t> complexity is calculated which defines the number of independent paths so that the minimal number of test cases can be designed for each independent path. </a:t>
            </a:r>
          </a:p>
          <a:p>
            <a:pPr algn="just" fontAlgn="base"/>
            <a:r>
              <a:rPr lang="en-US" sz="3300" b="1" dirty="0">
                <a:latin typeface="Times New Roman" panose="02020603050405020304" pitchFamily="18" charset="0"/>
                <a:cs typeface="Times New Roman" panose="02020603050405020304" pitchFamily="18" charset="0"/>
              </a:rPr>
              <a:t>Steps:</a:t>
            </a:r>
          </a:p>
          <a:p>
            <a:pPr lvl="0" algn="just" fontAlgn="base"/>
            <a:r>
              <a:rPr lang="en-US" sz="3300" dirty="0">
                <a:latin typeface="Times New Roman" panose="02020603050405020304" pitchFamily="18" charset="0"/>
                <a:cs typeface="Times New Roman" panose="02020603050405020304" pitchFamily="18" charset="0"/>
              </a:rPr>
              <a:t>Make the corresponding control flow graph</a:t>
            </a:r>
          </a:p>
          <a:p>
            <a:pPr lvl="0" algn="just" fontAlgn="base"/>
            <a:r>
              <a:rPr lang="en-US" sz="3300" dirty="0">
                <a:latin typeface="Times New Roman" panose="02020603050405020304" pitchFamily="18" charset="0"/>
                <a:cs typeface="Times New Roman" panose="02020603050405020304" pitchFamily="18" charset="0"/>
              </a:rPr>
              <a:t>Calculate the </a:t>
            </a:r>
            <a:r>
              <a:rPr lang="en-US" sz="3300" dirty="0" err="1">
                <a:latin typeface="Times New Roman" panose="02020603050405020304" pitchFamily="18" charset="0"/>
                <a:cs typeface="Times New Roman" panose="02020603050405020304" pitchFamily="18" charset="0"/>
              </a:rPr>
              <a:t>cyclomatic</a:t>
            </a:r>
            <a:r>
              <a:rPr lang="en-US" sz="3300" dirty="0">
                <a:latin typeface="Times New Roman" panose="02020603050405020304" pitchFamily="18" charset="0"/>
                <a:cs typeface="Times New Roman" panose="02020603050405020304" pitchFamily="18" charset="0"/>
              </a:rPr>
              <a:t> complexity</a:t>
            </a:r>
          </a:p>
          <a:p>
            <a:pPr lvl="0" algn="just" fontAlgn="base"/>
            <a:r>
              <a:rPr lang="en-US" sz="3300" dirty="0">
                <a:latin typeface="Times New Roman" panose="02020603050405020304" pitchFamily="18" charset="0"/>
                <a:cs typeface="Times New Roman" panose="02020603050405020304" pitchFamily="18" charset="0"/>
              </a:rPr>
              <a:t>Find the independent paths</a:t>
            </a:r>
          </a:p>
          <a:p>
            <a:pPr lvl="0" algn="just" fontAlgn="base"/>
            <a:r>
              <a:rPr lang="en-US" sz="3300" dirty="0">
                <a:latin typeface="Times New Roman" panose="02020603050405020304" pitchFamily="18" charset="0"/>
                <a:cs typeface="Times New Roman" panose="02020603050405020304" pitchFamily="18" charset="0"/>
              </a:rPr>
              <a:t>Design test cases corresponding to each independent path</a:t>
            </a:r>
          </a:p>
          <a:p>
            <a:pPr algn="just"/>
            <a:endParaRPr lang="en-US" dirty="0"/>
          </a:p>
        </p:txBody>
      </p:sp>
    </p:spTree>
    <p:extLst>
      <p:ext uri="{BB962C8B-B14F-4D97-AF65-F5344CB8AC3E}">
        <p14:creationId xmlns:p14="http://schemas.microsoft.com/office/powerpoint/2010/main" val="1457990473"/>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a:xfrm>
            <a:off x="1484310" y="2438399"/>
            <a:ext cx="10018713" cy="3549074"/>
          </a:xfrm>
        </p:spPr>
        <p:txBody>
          <a:bodyPr>
            <a:noAutofit/>
          </a:bodyPr>
          <a:lstStyle/>
          <a:p>
            <a:pPr algn="just" fontAlgn="base"/>
            <a:r>
              <a:rPr lang="en-US" b="1" dirty="0" err="1">
                <a:latin typeface="Times New Roman" panose="02020603050405020304" pitchFamily="18" charset="0"/>
                <a:cs typeface="Times New Roman" panose="02020603050405020304" pitchFamily="18" charset="0"/>
              </a:rPr>
              <a:t>Cyclomatic</a:t>
            </a:r>
            <a:r>
              <a:rPr lang="en-US" b="1" dirty="0">
                <a:latin typeface="Times New Roman" panose="02020603050405020304" pitchFamily="18" charset="0"/>
                <a:cs typeface="Times New Roman" panose="02020603050405020304" pitchFamily="18" charset="0"/>
              </a:rPr>
              <a:t> complexity </a:t>
            </a:r>
            <a:r>
              <a:rPr lang="en-US" b="1" dirty="0" smtClean="0">
                <a:latin typeface="Times New Roman" panose="02020603050405020304" pitchFamily="18" charset="0"/>
                <a:cs typeface="Times New Roman" panose="02020603050405020304" pitchFamily="18" charset="0"/>
              </a:rPr>
              <a:t>formulas: </a:t>
            </a:r>
            <a:endParaRPr lang="en-US" b="1" dirty="0">
              <a:latin typeface="Times New Roman" panose="02020603050405020304" pitchFamily="18" charset="0"/>
              <a:cs typeface="Times New Roman" panose="02020603050405020304" pitchFamily="18" charset="0"/>
            </a:endParaRPr>
          </a:p>
          <a:p>
            <a:pPr lvl="0" algn="just" fontAlgn="base"/>
            <a:r>
              <a:rPr lang="en-US" dirty="0">
                <a:latin typeface="Times New Roman" panose="02020603050405020304" pitchFamily="18" charset="0"/>
                <a:cs typeface="Times New Roman" panose="02020603050405020304" pitchFamily="18" charset="0"/>
              </a:rPr>
              <a:t>V(G) = P + 1, where P is the number of predicate(decision) nodes in the flow graph</a:t>
            </a:r>
          </a:p>
          <a:p>
            <a:pPr lvl="0" algn="just" fontAlgn="base"/>
            <a:r>
              <a:rPr lang="en-US" dirty="0">
                <a:latin typeface="Times New Roman" panose="02020603050405020304" pitchFamily="18" charset="0"/>
                <a:cs typeface="Times New Roman" panose="02020603050405020304" pitchFamily="18" charset="0"/>
              </a:rPr>
              <a:t>V(G) = E – N + 2, where E is the number of edges and N is the total number of </a:t>
            </a:r>
            <a:r>
              <a:rPr lang="en-US" dirty="0" smtClean="0">
                <a:latin typeface="Times New Roman" panose="02020603050405020304" pitchFamily="18" charset="0"/>
                <a:cs typeface="Times New Roman" panose="02020603050405020304" pitchFamily="18" charset="0"/>
              </a:rPr>
              <a:t>nodes</a:t>
            </a: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Goal:</a:t>
            </a:r>
          </a:p>
          <a:p>
            <a:pPr algn="just"/>
            <a:r>
              <a:rPr lang="en-US" dirty="0">
                <a:latin typeface="Times New Roman" panose="02020603050405020304" pitchFamily="18" charset="0"/>
                <a:cs typeface="Times New Roman" panose="02020603050405020304" pitchFamily="18" charset="0"/>
              </a:rPr>
              <a:t>To test all possible independent logical paths through test cases at least once.</a:t>
            </a:r>
          </a:p>
          <a:p>
            <a:endParaRPr lang="en-US" sz="1800" dirty="0"/>
          </a:p>
        </p:txBody>
      </p:sp>
    </p:spTree>
    <p:extLst>
      <p:ext uri="{BB962C8B-B14F-4D97-AF65-F5344CB8AC3E}">
        <p14:creationId xmlns:p14="http://schemas.microsoft.com/office/powerpoint/2010/main" val="4088631510"/>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251691"/>
            <a:ext cx="10018713" cy="1336963"/>
          </a:xfrm>
        </p:spPr>
        <p:txBody>
          <a:bodyPr>
            <a:normAutofit/>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b="1" dirty="0"/>
          </a:p>
        </p:txBody>
      </p:sp>
      <p:sp>
        <p:nvSpPr>
          <p:cNvPr id="3" name="Content Placeholder 2"/>
          <p:cNvSpPr>
            <a:spLocks noGrp="1"/>
          </p:cNvSpPr>
          <p:nvPr>
            <p:ph sz="half" idx="1"/>
          </p:nvPr>
        </p:nvSpPr>
        <p:spPr>
          <a:xfrm>
            <a:off x="1484310" y="1588655"/>
            <a:ext cx="4895055" cy="4858328"/>
          </a:xfrm>
        </p:spPr>
        <p:txBody>
          <a:bodyPr>
            <a:normAutofit fontScale="25000" lnSpcReduction="20000"/>
          </a:bodyPr>
          <a:lstStyle/>
          <a:p>
            <a:pPr algn="just"/>
            <a:r>
              <a:rPr lang="en-US" sz="8000" b="1" dirty="0" smtClean="0">
                <a:latin typeface="Times New Roman" panose="02020603050405020304" pitchFamily="18" charset="0"/>
                <a:cs typeface="Times New Roman" panose="02020603050405020304" pitchFamily="18" charset="0"/>
              </a:rPr>
              <a:t>Example 1</a:t>
            </a:r>
          </a:p>
          <a:p>
            <a:pPr algn="just"/>
            <a:r>
              <a:rPr lang="en-US" sz="8000" dirty="0" smtClean="0">
                <a:latin typeface="Times New Roman" panose="02020603050405020304" pitchFamily="18" charset="0"/>
                <a:cs typeface="Times New Roman" panose="02020603050405020304" pitchFamily="18" charset="0"/>
              </a:rPr>
              <a:t> </a:t>
            </a:r>
            <a:r>
              <a:rPr lang="en-US" sz="8000" b="1" dirty="0">
                <a:latin typeface="Times New Roman" panose="02020603050405020304" pitchFamily="18" charset="0"/>
                <a:cs typeface="Times New Roman" panose="02020603050405020304" pitchFamily="18" charset="0"/>
              </a:rPr>
              <a:t>Code:</a:t>
            </a:r>
          </a:p>
          <a:p>
            <a:pPr algn="just"/>
            <a:r>
              <a:rPr lang="en-US" sz="8000" dirty="0">
                <a:latin typeface="Times New Roman" panose="02020603050405020304" pitchFamily="18" charset="0"/>
                <a:cs typeface="Times New Roman" panose="02020603050405020304" pitchFamily="18" charset="0"/>
              </a:rPr>
              <a:t>1. Start</a:t>
            </a:r>
          </a:p>
          <a:p>
            <a:pPr algn="just"/>
            <a:r>
              <a:rPr lang="en-US" sz="8000" dirty="0">
                <a:latin typeface="Times New Roman" panose="02020603050405020304" pitchFamily="18" charset="0"/>
                <a:cs typeface="Times New Roman" panose="02020603050405020304" pitchFamily="18" charset="0"/>
              </a:rPr>
              <a:t>2. if A &gt; 0:</a:t>
            </a:r>
          </a:p>
          <a:p>
            <a:pPr algn="just"/>
            <a:r>
              <a:rPr lang="en-US" sz="8000" dirty="0">
                <a:latin typeface="Times New Roman" panose="02020603050405020304" pitchFamily="18" charset="0"/>
                <a:cs typeface="Times New Roman" panose="02020603050405020304" pitchFamily="18" charset="0"/>
              </a:rPr>
              <a:t>3.     if B &gt; 0:</a:t>
            </a:r>
          </a:p>
          <a:p>
            <a:pPr algn="just"/>
            <a:r>
              <a:rPr lang="en-US" sz="8000" dirty="0">
                <a:latin typeface="Times New Roman" panose="02020603050405020304" pitchFamily="18" charset="0"/>
                <a:cs typeface="Times New Roman" panose="02020603050405020304" pitchFamily="18" charset="0"/>
              </a:rPr>
              <a:t>4.         print("Both A and B are positive")</a:t>
            </a:r>
          </a:p>
          <a:p>
            <a:pPr algn="just"/>
            <a:r>
              <a:rPr lang="en-US" sz="8000" dirty="0">
                <a:latin typeface="Times New Roman" panose="02020603050405020304" pitchFamily="18" charset="0"/>
                <a:cs typeface="Times New Roman" panose="02020603050405020304" pitchFamily="18" charset="0"/>
              </a:rPr>
              <a:t>5.     else:</a:t>
            </a:r>
          </a:p>
          <a:p>
            <a:pPr algn="just"/>
            <a:r>
              <a:rPr lang="en-US" sz="8000" dirty="0">
                <a:latin typeface="Times New Roman" panose="02020603050405020304" pitchFamily="18" charset="0"/>
                <a:cs typeface="Times New Roman" panose="02020603050405020304" pitchFamily="18" charset="0"/>
              </a:rPr>
              <a:t>6.         print("A is positive but B is not")</a:t>
            </a:r>
          </a:p>
          <a:p>
            <a:pPr algn="just"/>
            <a:r>
              <a:rPr lang="en-US" sz="8000" dirty="0">
                <a:latin typeface="Times New Roman" panose="02020603050405020304" pitchFamily="18" charset="0"/>
                <a:cs typeface="Times New Roman" panose="02020603050405020304" pitchFamily="18" charset="0"/>
              </a:rPr>
              <a:t>7. else:</a:t>
            </a:r>
          </a:p>
          <a:p>
            <a:pPr algn="just"/>
            <a:r>
              <a:rPr lang="en-US" sz="8000" dirty="0">
                <a:latin typeface="Times New Roman" panose="02020603050405020304" pitchFamily="18" charset="0"/>
                <a:cs typeface="Times New Roman" panose="02020603050405020304" pitchFamily="18" charset="0"/>
              </a:rPr>
              <a:t>8.     print("A is not positive")</a:t>
            </a:r>
          </a:p>
          <a:p>
            <a:pPr algn="just"/>
            <a:r>
              <a:rPr lang="en-US" sz="8000" dirty="0">
                <a:latin typeface="Times New Roman" panose="02020603050405020304" pitchFamily="18" charset="0"/>
                <a:cs typeface="Times New Roman" panose="02020603050405020304" pitchFamily="18" charset="0"/>
              </a:rPr>
              <a:t>9. </a:t>
            </a:r>
            <a:r>
              <a:rPr lang="en-US" sz="8000" dirty="0" smtClean="0">
                <a:latin typeface="Times New Roman" panose="02020603050405020304" pitchFamily="18" charset="0"/>
                <a:cs typeface="Times New Roman" panose="02020603050405020304" pitchFamily="18" charset="0"/>
              </a:rPr>
              <a:t>End</a:t>
            </a:r>
          </a:p>
          <a:p>
            <a:pPr algn="just"/>
            <a:endParaRPr lang="en-US" sz="8000" dirty="0">
              <a:latin typeface="Times New Roman" panose="02020603050405020304" pitchFamily="18" charset="0"/>
              <a:cs typeface="Times New Roman" panose="02020603050405020304" pitchFamily="18" charset="0"/>
            </a:endParaRPr>
          </a:p>
          <a:p>
            <a:pPr algn="just"/>
            <a:endParaRPr lang="en-US" sz="8000" dirty="0">
              <a:latin typeface="Times New Roman" panose="02020603050405020304" pitchFamily="18" charset="0"/>
              <a:cs typeface="Times New Roman" panose="02020603050405020304" pitchFamily="18" charset="0"/>
            </a:endParaRPr>
          </a:p>
          <a:p>
            <a:endParaRPr lang="en-US" dirty="0"/>
          </a:p>
        </p:txBody>
      </p:sp>
      <p:sp>
        <p:nvSpPr>
          <p:cNvPr id="4" name="Content Placeholder 3"/>
          <p:cNvSpPr>
            <a:spLocks noGrp="1"/>
          </p:cNvSpPr>
          <p:nvPr>
            <p:ph sz="half" idx="2"/>
          </p:nvPr>
        </p:nvSpPr>
        <p:spPr>
          <a:xfrm>
            <a:off x="6607967" y="1588655"/>
            <a:ext cx="4895056" cy="4858328"/>
          </a:xfrm>
        </p:spPr>
        <p:txBody>
          <a:bodyPr>
            <a:normAutofit fontScale="25000" lnSpcReduction="20000"/>
          </a:bodyPr>
          <a:lstStyle/>
          <a:p>
            <a:pPr algn="just"/>
            <a:r>
              <a:rPr lang="en-US" sz="7000" b="1" dirty="0">
                <a:latin typeface="Times New Roman" panose="02020603050405020304" pitchFamily="18" charset="0"/>
                <a:cs typeface="Times New Roman" panose="02020603050405020304" pitchFamily="18" charset="0"/>
              </a:rPr>
              <a:t>Step 1: Draw the Control Flow Graph (CFG)</a:t>
            </a:r>
          </a:p>
          <a:p>
            <a:pPr algn="just"/>
            <a:r>
              <a:rPr lang="en-US" sz="7000" dirty="0" smtClean="0">
                <a:latin typeface="Times New Roman" panose="02020603050405020304" pitchFamily="18" charset="0"/>
                <a:cs typeface="Times New Roman" panose="02020603050405020304" pitchFamily="18" charset="0"/>
              </a:rPr>
              <a:t>     </a:t>
            </a:r>
            <a:r>
              <a:rPr lang="en-US" sz="7000" dirty="0">
                <a:latin typeface="Times New Roman" panose="02020603050405020304" pitchFamily="18" charset="0"/>
                <a:cs typeface="Times New Roman" panose="02020603050405020304" pitchFamily="18" charset="0"/>
              </a:rPr>
              <a:t>[1]</a:t>
            </a:r>
          </a:p>
          <a:p>
            <a:pPr algn="just"/>
            <a:r>
              <a:rPr lang="en-US" sz="7000" dirty="0">
                <a:latin typeface="Times New Roman" panose="02020603050405020304" pitchFamily="18" charset="0"/>
                <a:cs typeface="Times New Roman" panose="02020603050405020304" pitchFamily="18" charset="0"/>
              </a:rPr>
              <a:t>      |</a:t>
            </a:r>
          </a:p>
          <a:p>
            <a:pPr algn="just"/>
            <a:r>
              <a:rPr lang="en-US" sz="7000" dirty="0">
                <a:latin typeface="Times New Roman" panose="02020603050405020304" pitchFamily="18" charset="0"/>
                <a:cs typeface="Times New Roman" panose="02020603050405020304" pitchFamily="18" charset="0"/>
              </a:rPr>
              <a:t>     [2]----&gt; No ---&gt; </a:t>
            </a:r>
            <a:r>
              <a:rPr lang="en-US" sz="7000" dirty="0" smtClean="0">
                <a:latin typeface="Times New Roman" panose="02020603050405020304" pitchFamily="18" charset="0"/>
                <a:cs typeface="Times New Roman" panose="02020603050405020304" pitchFamily="18" charset="0"/>
              </a:rPr>
              <a:t>[8]</a:t>
            </a:r>
            <a:endParaRPr lang="en-US" sz="7000" dirty="0">
              <a:latin typeface="Times New Roman" panose="02020603050405020304" pitchFamily="18" charset="0"/>
              <a:cs typeface="Times New Roman" panose="02020603050405020304" pitchFamily="18" charset="0"/>
            </a:endParaRPr>
          </a:p>
          <a:p>
            <a:pPr algn="just"/>
            <a:r>
              <a:rPr lang="en-US" sz="7000" dirty="0">
                <a:latin typeface="Times New Roman" panose="02020603050405020304" pitchFamily="18" charset="0"/>
                <a:cs typeface="Times New Roman" panose="02020603050405020304" pitchFamily="18" charset="0"/>
              </a:rPr>
              <a:t>      |</a:t>
            </a:r>
          </a:p>
          <a:p>
            <a:pPr algn="just"/>
            <a:r>
              <a:rPr lang="en-US" sz="7000" dirty="0">
                <a:latin typeface="Times New Roman" panose="02020603050405020304" pitchFamily="18" charset="0"/>
                <a:cs typeface="Times New Roman" panose="02020603050405020304" pitchFamily="18" charset="0"/>
              </a:rPr>
              <a:t>    Yes</a:t>
            </a:r>
          </a:p>
          <a:p>
            <a:pPr algn="just"/>
            <a:r>
              <a:rPr lang="en-US" sz="7000" dirty="0">
                <a:latin typeface="Times New Roman" panose="02020603050405020304" pitchFamily="18" charset="0"/>
                <a:cs typeface="Times New Roman" panose="02020603050405020304" pitchFamily="18" charset="0"/>
              </a:rPr>
              <a:t>     |</a:t>
            </a:r>
          </a:p>
          <a:p>
            <a:pPr algn="just"/>
            <a:r>
              <a:rPr lang="en-US" sz="7000" dirty="0">
                <a:latin typeface="Times New Roman" panose="02020603050405020304" pitchFamily="18" charset="0"/>
                <a:cs typeface="Times New Roman" panose="02020603050405020304" pitchFamily="18" charset="0"/>
              </a:rPr>
              <a:t>    [3]----&gt; No ---&gt; [6]</a:t>
            </a:r>
          </a:p>
          <a:p>
            <a:pPr algn="just"/>
            <a:r>
              <a:rPr lang="en-US" sz="7000" dirty="0">
                <a:latin typeface="Times New Roman" panose="02020603050405020304" pitchFamily="18" charset="0"/>
                <a:cs typeface="Times New Roman" panose="02020603050405020304" pitchFamily="18" charset="0"/>
              </a:rPr>
              <a:t>      |</a:t>
            </a:r>
          </a:p>
          <a:p>
            <a:pPr algn="just"/>
            <a:r>
              <a:rPr lang="en-US" sz="7000" dirty="0">
                <a:latin typeface="Times New Roman" panose="02020603050405020304" pitchFamily="18" charset="0"/>
                <a:cs typeface="Times New Roman" panose="02020603050405020304" pitchFamily="18" charset="0"/>
              </a:rPr>
              <a:t>    Yes</a:t>
            </a:r>
          </a:p>
          <a:p>
            <a:pPr algn="just"/>
            <a:r>
              <a:rPr lang="en-US" sz="7000" dirty="0">
                <a:latin typeface="Times New Roman" panose="02020603050405020304" pitchFamily="18" charset="0"/>
                <a:cs typeface="Times New Roman" panose="02020603050405020304" pitchFamily="18" charset="0"/>
              </a:rPr>
              <a:t>     |</a:t>
            </a:r>
          </a:p>
          <a:p>
            <a:pPr algn="just"/>
            <a:r>
              <a:rPr lang="en-US" sz="7000" dirty="0">
                <a:latin typeface="Times New Roman" panose="02020603050405020304" pitchFamily="18" charset="0"/>
                <a:cs typeface="Times New Roman" panose="02020603050405020304" pitchFamily="18" charset="0"/>
              </a:rPr>
              <a:t>    [4]</a:t>
            </a:r>
          </a:p>
          <a:p>
            <a:pPr algn="just"/>
            <a:r>
              <a:rPr lang="en-US" sz="7000" dirty="0">
                <a:latin typeface="Times New Roman" panose="02020603050405020304" pitchFamily="18" charset="0"/>
                <a:cs typeface="Times New Roman" panose="02020603050405020304" pitchFamily="18" charset="0"/>
              </a:rPr>
              <a:t>     |</a:t>
            </a:r>
          </a:p>
          <a:p>
            <a:pPr algn="just"/>
            <a:r>
              <a:rPr lang="en-US" sz="7000" dirty="0">
                <a:latin typeface="Times New Roman" panose="02020603050405020304" pitchFamily="18" charset="0"/>
                <a:cs typeface="Times New Roman" panose="02020603050405020304" pitchFamily="18" charset="0"/>
              </a:rPr>
              <a:t>    [9]</a:t>
            </a:r>
          </a:p>
          <a:p>
            <a:endParaRPr lang="en-US" dirty="0"/>
          </a:p>
        </p:txBody>
      </p:sp>
    </p:spTree>
    <p:extLst>
      <p:ext uri="{BB962C8B-B14F-4D97-AF65-F5344CB8AC3E}">
        <p14:creationId xmlns:p14="http://schemas.microsoft.com/office/powerpoint/2010/main" val="456472797"/>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70165"/>
            <a:ext cx="10018713" cy="1336964"/>
          </a:xfrm>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a:xfrm>
            <a:off x="1484312" y="1320800"/>
            <a:ext cx="4895055" cy="4978400"/>
          </a:xfrm>
        </p:spPr>
        <p:txBody>
          <a:bodyPr>
            <a:normAutofit fontScale="25000" lnSpcReduction="20000"/>
          </a:bodyPr>
          <a:lstStyle/>
          <a:p>
            <a:r>
              <a:rPr lang="en-US" sz="7200" b="1" dirty="0">
                <a:latin typeface="Times New Roman" panose="02020603050405020304" pitchFamily="18" charset="0"/>
                <a:cs typeface="Times New Roman" panose="02020603050405020304" pitchFamily="18" charset="0"/>
              </a:rPr>
              <a:t>Control Flow Graph (CFG)</a:t>
            </a:r>
          </a:p>
          <a:p>
            <a:r>
              <a:rPr lang="en-US" sz="7200" dirty="0">
                <a:latin typeface="Times New Roman" panose="02020603050405020304" pitchFamily="18" charset="0"/>
                <a:cs typeface="Times New Roman" panose="02020603050405020304" pitchFamily="18" charset="0"/>
              </a:rPr>
              <a:t>     [1]</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[2]----&gt; No ---&gt; [8]</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Yes</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[3]----&gt; No ---&gt; [6]</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Yes</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[4]</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[9]</a:t>
            </a:r>
          </a:p>
          <a:p>
            <a:endParaRPr lang="en-US" dirty="0"/>
          </a:p>
        </p:txBody>
      </p:sp>
      <p:sp>
        <p:nvSpPr>
          <p:cNvPr id="4" name="Content Placeholder 3"/>
          <p:cNvSpPr>
            <a:spLocks noGrp="1"/>
          </p:cNvSpPr>
          <p:nvPr>
            <p:ph sz="half" idx="2"/>
          </p:nvPr>
        </p:nvSpPr>
        <p:spPr>
          <a:xfrm>
            <a:off x="5929745" y="1320800"/>
            <a:ext cx="5929746" cy="4978400"/>
          </a:xfrm>
        </p:spPr>
        <p:txBody>
          <a:bodyPr>
            <a:normAutofit fontScale="25000" lnSpcReduction="20000"/>
          </a:bodyPr>
          <a:lstStyle/>
          <a:p>
            <a:r>
              <a:rPr lang="en-US" sz="8800" b="1" dirty="0">
                <a:latin typeface="Times New Roman" panose="02020603050405020304" pitchFamily="18" charset="0"/>
                <a:cs typeface="Times New Roman" panose="02020603050405020304" pitchFamily="18" charset="0"/>
              </a:rPr>
              <a:t>Step 2: Count Nodes (N) and Edges (E)</a:t>
            </a:r>
          </a:p>
          <a:p>
            <a:r>
              <a:rPr lang="en-US" sz="8800" b="1" dirty="0">
                <a:latin typeface="Times New Roman" panose="02020603050405020304" pitchFamily="18" charset="0"/>
                <a:cs typeface="Times New Roman" panose="02020603050405020304" pitchFamily="18" charset="0"/>
              </a:rPr>
              <a:t>Nodes (N): 7</a:t>
            </a:r>
            <a:r>
              <a:rPr lang="en-US" sz="8800" dirty="0">
                <a:latin typeface="Times New Roman" panose="02020603050405020304" pitchFamily="18" charset="0"/>
                <a:cs typeface="Times New Roman" panose="02020603050405020304" pitchFamily="18" charset="0"/>
              </a:rPr>
              <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(1, 2, 3, 4, 6, 8, 9)</a:t>
            </a:r>
          </a:p>
          <a:p>
            <a:r>
              <a:rPr lang="en-US" sz="8800" b="1" dirty="0">
                <a:latin typeface="Times New Roman" panose="02020603050405020304" pitchFamily="18" charset="0"/>
                <a:cs typeface="Times New Roman" panose="02020603050405020304" pitchFamily="18" charset="0"/>
              </a:rPr>
              <a:t>Edges (E): 8</a:t>
            </a:r>
            <a:r>
              <a:rPr lang="en-US" sz="8800" dirty="0">
                <a:latin typeface="Times New Roman" panose="02020603050405020304" pitchFamily="18" charset="0"/>
                <a:cs typeface="Times New Roman" panose="02020603050405020304" pitchFamily="18" charset="0"/>
              </a:rPr>
              <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(1→2, 2→3, 2→8, 3→4, 3→6, 4→9, 6→9, 8→9</a:t>
            </a:r>
            <a:r>
              <a:rPr lang="en-US" sz="8800" dirty="0" smtClean="0">
                <a:latin typeface="Times New Roman" panose="02020603050405020304" pitchFamily="18" charset="0"/>
                <a:cs typeface="Times New Roman" panose="02020603050405020304" pitchFamily="18" charset="0"/>
              </a:rPr>
              <a:t>)</a:t>
            </a:r>
          </a:p>
          <a:p>
            <a:endParaRPr lang="en-US" sz="8800" dirty="0">
              <a:latin typeface="Times New Roman" panose="02020603050405020304" pitchFamily="18" charset="0"/>
              <a:cs typeface="Times New Roman" panose="02020603050405020304" pitchFamily="18" charset="0"/>
            </a:endParaRPr>
          </a:p>
          <a:p>
            <a:r>
              <a:rPr lang="en-US" sz="8800" b="1" dirty="0">
                <a:latin typeface="Times New Roman" panose="02020603050405020304" pitchFamily="18" charset="0"/>
                <a:cs typeface="Times New Roman" panose="02020603050405020304" pitchFamily="18" charset="0"/>
              </a:rPr>
              <a:t>Step 3: Calculate </a:t>
            </a:r>
            <a:r>
              <a:rPr lang="en-US" sz="8800" b="1" dirty="0" err="1">
                <a:latin typeface="Times New Roman" panose="02020603050405020304" pitchFamily="18" charset="0"/>
                <a:cs typeface="Times New Roman" panose="02020603050405020304" pitchFamily="18" charset="0"/>
              </a:rPr>
              <a:t>Cyclomatic</a:t>
            </a:r>
            <a:r>
              <a:rPr lang="en-US" sz="8800" b="1" dirty="0">
                <a:latin typeface="Times New Roman" panose="02020603050405020304" pitchFamily="18" charset="0"/>
                <a:cs typeface="Times New Roman" panose="02020603050405020304" pitchFamily="18" charset="0"/>
              </a:rPr>
              <a:t> Complexity (V(G))</a:t>
            </a:r>
          </a:p>
          <a:p>
            <a:r>
              <a:rPr lang="en-US" sz="8800" dirty="0">
                <a:latin typeface="Times New Roman" panose="02020603050405020304" pitchFamily="18" charset="0"/>
                <a:cs typeface="Times New Roman" panose="02020603050405020304" pitchFamily="18" charset="0"/>
              </a:rPr>
              <a:t>Using both formulas:</a:t>
            </a:r>
          </a:p>
          <a:p>
            <a:r>
              <a:rPr lang="en-US" sz="8800" dirty="0">
                <a:latin typeface="Times New Roman" panose="02020603050405020304" pitchFamily="18" charset="0"/>
                <a:cs typeface="Times New Roman" panose="02020603050405020304" pitchFamily="18" charset="0"/>
              </a:rPr>
              <a:t>V(G) = E - N + 2 = 8 - 7 + 2 = 3</a:t>
            </a:r>
          </a:p>
          <a:p>
            <a:r>
              <a:rPr lang="en-US" sz="8800" dirty="0">
                <a:latin typeface="Times New Roman" panose="02020603050405020304" pitchFamily="18" charset="0"/>
                <a:cs typeface="Times New Roman" panose="02020603050405020304" pitchFamily="18" charset="0"/>
              </a:rPr>
              <a:t>V(G) = P + 1 = 2 + 1 = 3 (2 decision nodes: if A &gt; 0, if B &gt; 0)</a:t>
            </a:r>
            <a:br>
              <a:rPr lang="en-US" sz="8800" dirty="0">
                <a:latin typeface="Times New Roman" panose="02020603050405020304" pitchFamily="18" charset="0"/>
                <a:cs typeface="Times New Roman" panose="02020603050405020304" pitchFamily="18" charset="0"/>
              </a:rPr>
            </a:br>
            <a:r>
              <a:rPr lang="en-US" sz="8800" dirty="0">
                <a:latin typeface="Times New Roman" panose="02020603050405020304" pitchFamily="18" charset="0"/>
                <a:cs typeface="Times New Roman" panose="02020603050405020304" pitchFamily="18" charset="0"/>
              </a:rPr>
              <a:t>So, </a:t>
            </a:r>
            <a:r>
              <a:rPr lang="en-US" sz="8800" dirty="0" err="1">
                <a:latin typeface="Times New Roman" panose="02020603050405020304" pitchFamily="18" charset="0"/>
                <a:cs typeface="Times New Roman" panose="02020603050405020304" pitchFamily="18" charset="0"/>
              </a:rPr>
              <a:t>Cyclomatic</a:t>
            </a:r>
            <a:r>
              <a:rPr lang="en-US" sz="8800" dirty="0">
                <a:latin typeface="Times New Roman" panose="02020603050405020304" pitchFamily="18" charset="0"/>
                <a:cs typeface="Times New Roman" panose="02020603050405020304" pitchFamily="18" charset="0"/>
              </a:rPr>
              <a:t> Complexity = 3</a:t>
            </a:r>
          </a:p>
          <a:p>
            <a:endParaRPr lang="en-US" dirty="0"/>
          </a:p>
        </p:txBody>
      </p:sp>
    </p:spTree>
    <p:extLst>
      <p:ext uri="{BB962C8B-B14F-4D97-AF65-F5344CB8AC3E}">
        <p14:creationId xmlns:p14="http://schemas.microsoft.com/office/powerpoint/2010/main" val="399077927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70165"/>
            <a:ext cx="10018713" cy="1336964"/>
          </a:xfrm>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a:xfrm>
            <a:off x="1484311" y="1320800"/>
            <a:ext cx="5437479" cy="4978400"/>
          </a:xfrm>
        </p:spPr>
        <p:txBody>
          <a:bodyPr>
            <a:normAutofit fontScale="25000" lnSpcReduction="20000"/>
          </a:bodyPr>
          <a:lstStyle/>
          <a:p>
            <a:pPr algn="just"/>
            <a:r>
              <a:rPr lang="en-US" sz="9600" b="1" dirty="0">
                <a:latin typeface="Times New Roman" panose="02020603050405020304" pitchFamily="18" charset="0"/>
                <a:cs typeface="Times New Roman" panose="02020603050405020304" pitchFamily="18" charset="0"/>
              </a:rPr>
              <a:t>Step 4: Identify Independent Paths</a:t>
            </a:r>
          </a:p>
          <a:p>
            <a:pPr algn="just"/>
            <a:r>
              <a:rPr lang="en-US" sz="9600" dirty="0">
                <a:latin typeface="Times New Roman" panose="02020603050405020304" pitchFamily="18" charset="0"/>
                <a:cs typeface="Times New Roman" panose="02020603050405020304" pitchFamily="18" charset="0"/>
              </a:rPr>
              <a:t>We need 3 test cases to cover these 3 paths:</a:t>
            </a:r>
          </a:p>
          <a:p>
            <a:pPr algn="just"/>
            <a:r>
              <a:rPr lang="en-US" sz="9600" b="1" dirty="0">
                <a:latin typeface="Times New Roman" panose="02020603050405020304" pitchFamily="18" charset="0"/>
                <a:cs typeface="Times New Roman" panose="02020603050405020304" pitchFamily="18" charset="0"/>
              </a:rPr>
              <a:t>Path 1:</a:t>
            </a:r>
            <a:r>
              <a:rPr lang="en-US" sz="9600" dirty="0">
                <a:latin typeface="Times New Roman" panose="02020603050405020304" pitchFamily="18" charset="0"/>
                <a:cs typeface="Times New Roman" panose="02020603050405020304" pitchFamily="18" charset="0"/>
              </a:rPr>
              <a:t> 1 → 2 (Yes) → 3 (Yes) → </a:t>
            </a:r>
            <a:r>
              <a:rPr lang="en-US" sz="9600" dirty="0" smtClean="0">
                <a:latin typeface="Times New Roman" panose="02020603050405020304" pitchFamily="18" charset="0"/>
                <a:cs typeface="Times New Roman" panose="02020603050405020304" pitchFamily="18" charset="0"/>
              </a:rPr>
              <a:t>4	→	9</a:t>
            </a:r>
            <a:r>
              <a:rPr lang="en-US" sz="9600" dirty="0">
                <a:latin typeface="Times New Roman" panose="02020603050405020304" pitchFamily="18" charset="0"/>
                <a:cs typeface="Times New Roman" panose="02020603050405020304" pitchFamily="18" charset="0"/>
              </a:rPr>
              <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Both A and B are positive</a:t>
            </a:r>
          </a:p>
          <a:p>
            <a:pPr algn="just"/>
            <a:r>
              <a:rPr lang="en-US" sz="9600" b="1" dirty="0">
                <a:latin typeface="Times New Roman" panose="02020603050405020304" pitchFamily="18" charset="0"/>
                <a:cs typeface="Times New Roman" panose="02020603050405020304" pitchFamily="18" charset="0"/>
              </a:rPr>
              <a:t>Path 2:</a:t>
            </a:r>
            <a:r>
              <a:rPr lang="en-US" sz="9600" dirty="0">
                <a:latin typeface="Times New Roman" panose="02020603050405020304" pitchFamily="18" charset="0"/>
                <a:cs typeface="Times New Roman" panose="02020603050405020304" pitchFamily="18" charset="0"/>
              </a:rPr>
              <a:t> 1 → 2 (Yes) → 3 (No) → 6 → 9</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 positive, B not</a:t>
            </a:r>
          </a:p>
          <a:p>
            <a:pPr algn="just"/>
            <a:r>
              <a:rPr lang="en-US" sz="9600" b="1" dirty="0">
                <a:latin typeface="Times New Roman" panose="02020603050405020304" pitchFamily="18" charset="0"/>
                <a:cs typeface="Times New Roman" panose="02020603050405020304" pitchFamily="18" charset="0"/>
              </a:rPr>
              <a:t>Path 3:</a:t>
            </a:r>
            <a:r>
              <a:rPr lang="en-US" sz="9600" dirty="0">
                <a:latin typeface="Times New Roman" panose="02020603050405020304" pitchFamily="18" charset="0"/>
                <a:cs typeface="Times New Roman" panose="02020603050405020304" pitchFamily="18" charset="0"/>
              </a:rPr>
              <a:t> 1 → 2 (No) → 8 → 9</a:t>
            </a:r>
            <a:br>
              <a:rPr lang="en-US" sz="9600" dirty="0">
                <a:latin typeface="Times New Roman" panose="02020603050405020304" pitchFamily="18" charset="0"/>
                <a:cs typeface="Times New Roman" panose="02020603050405020304" pitchFamily="18" charset="0"/>
              </a:rPr>
            </a:br>
            <a:r>
              <a:rPr lang="en-US" sz="9600" dirty="0">
                <a:latin typeface="Times New Roman" panose="02020603050405020304" pitchFamily="18" charset="0"/>
                <a:cs typeface="Times New Roman" panose="02020603050405020304" pitchFamily="18" charset="0"/>
              </a:rPr>
              <a:t>A is not positive</a:t>
            </a:r>
          </a:p>
          <a:p>
            <a:endParaRPr lang="en-US" dirty="0"/>
          </a:p>
        </p:txBody>
      </p:sp>
      <p:sp>
        <p:nvSpPr>
          <p:cNvPr id="4" name="Content Placeholder 3"/>
          <p:cNvSpPr>
            <a:spLocks noGrp="1"/>
          </p:cNvSpPr>
          <p:nvPr>
            <p:ph sz="half" idx="2"/>
          </p:nvPr>
        </p:nvSpPr>
        <p:spPr>
          <a:xfrm>
            <a:off x="7697646" y="2138222"/>
            <a:ext cx="4581234" cy="4692071"/>
          </a:xfrm>
        </p:spPr>
        <p:txBody>
          <a:bodyPr>
            <a:normAutofit fontScale="25000" lnSpcReduction="20000"/>
          </a:bodyPr>
          <a:lstStyle/>
          <a:p>
            <a:r>
              <a:rPr lang="en-US" sz="7200" b="1" dirty="0">
                <a:latin typeface="Times New Roman" panose="02020603050405020304" pitchFamily="18" charset="0"/>
                <a:cs typeface="Times New Roman" panose="02020603050405020304" pitchFamily="18" charset="0"/>
              </a:rPr>
              <a:t>Control Flow Graph (CFG)</a:t>
            </a:r>
          </a:p>
          <a:p>
            <a:r>
              <a:rPr lang="en-US" sz="7200" dirty="0">
                <a:latin typeface="Times New Roman" panose="02020603050405020304" pitchFamily="18" charset="0"/>
                <a:cs typeface="Times New Roman" panose="02020603050405020304" pitchFamily="18" charset="0"/>
              </a:rPr>
              <a:t>     [1]</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[2]----&gt; No ---&gt; [8]</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Yes</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[3]----&gt; No ---&gt; [6]</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Yes</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[4]</a:t>
            </a:r>
          </a:p>
          <a:p>
            <a:r>
              <a:rPr lang="en-US" sz="7200" dirty="0">
                <a:latin typeface="Times New Roman" panose="02020603050405020304" pitchFamily="18" charset="0"/>
                <a:cs typeface="Times New Roman" panose="02020603050405020304" pitchFamily="18" charset="0"/>
              </a:rPr>
              <a:t>     |</a:t>
            </a:r>
          </a:p>
          <a:p>
            <a:r>
              <a:rPr lang="en-US" sz="7200" dirty="0">
                <a:latin typeface="Times New Roman" panose="02020603050405020304" pitchFamily="18" charset="0"/>
                <a:cs typeface="Times New Roman" panose="02020603050405020304" pitchFamily="18" charset="0"/>
              </a:rPr>
              <a:t>    [9]</a:t>
            </a:r>
          </a:p>
          <a:p>
            <a:endParaRPr lang="en-US" sz="9600" b="1" dirty="0" smtClean="0">
              <a:latin typeface="Times New Roman" panose="02020603050405020304" pitchFamily="18" charset="0"/>
              <a:cs typeface="Times New Roman" panose="02020603050405020304" pitchFamily="18" charset="0"/>
            </a:endParaRPr>
          </a:p>
          <a:p>
            <a:endParaRPr lang="en-US" sz="9600" b="1"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946916458"/>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70165"/>
            <a:ext cx="10018713" cy="1336964"/>
          </a:xfrm>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a:xfrm>
            <a:off x="6843716" y="1410826"/>
            <a:ext cx="5182030" cy="4608165"/>
          </a:xfrm>
        </p:spPr>
        <p:txBody>
          <a:bodyPr>
            <a:normAutofit/>
          </a:bodyPr>
          <a:lstStyle/>
          <a:p>
            <a:pPr algn="just"/>
            <a:r>
              <a:rPr lang="en-US" sz="2400" b="1" dirty="0" smtClean="0">
                <a:latin typeface="Times New Roman" panose="02020603050405020304" pitchFamily="18" charset="0"/>
                <a:cs typeface="Times New Roman" panose="02020603050405020304" pitchFamily="18" charset="0"/>
              </a:rPr>
              <a:t>Independent Paths</a:t>
            </a:r>
          </a:p>
          <a:p>
            <a:pPr algn="just"/>
            <a:r>
              <a:rPr lang="en-US" sz="2400" b="1" dirty="0" smtClean="0">
                <a:latin typeface="Times New Roman" panose="02020603050405020304" pitchFamily="18" charset="0"/>
                <a:cs typeface="Times New Roman" panose="02020603050405020304" pitchFamily="18" charset="0"/>
              </a:rPr>
              <a:t>Path </a:t>
            </a:r>
            <a:r>
              <a:rPr lang="en-US" sz="2400" b="1" dirty="0">
                <a:latin typeface="Times New Roman" panose="02020603050405020304" pitchFamily="18" charset="0"/>
                <a:cs typeface="Times New Roman" panose="02020603050405020304" pitchFamily="18" charset="0"/>
              </a:rPr>
              <a:t>1:</a:t>
            </a:r>
            <a:r>
              <a:rPr lang="en-US" sz="2400" dirty="0">
                <a:latin typeface="Times New Roman" panose="02020603050405020304" pitchFamily="18" charset="0"/>
                <a:cs typeface="Times New Roman" panose="02020603050405020304" pitchFamily="18" charset="0"/>
              </a:rPr>
              <a:t> 1 → 2 (Yes) → 3 (Yes</a:t>
            </a:r>
            <a:r>
              <a:rPr lang="en-US" sz="2400" dirty="0" smtClean="0">
                <a:latin typeface="Times New Roman" panose="02020603050405020304" pitchFamily="18" charset="0"/>
                <a:cs typeface="Times New Roman" panose="02020603050405020304" pitchFamily="18" charset="0"/>
              </a:rPr>
              <a:t>) →	4	→	9</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Both A and B are positive</a:t>
            </a:r>
          </a:p>
          <a:p>
            <a:pPr algn="just"/>
            <a:r>
              <a:rPr lang="en-US" sz="2400" b="1" dirty="0">
                <a:latin typeface="Times New Roman" panose="02020603050405020304" pitchFamily="18" charset="0"/>
                <a:cs typeface="Times New Roman" panose="02020603050405020304" pitchFamily="18" charset="0"/>
              </a:rPr>
              <a:t>Path 2:</a:t>
            </a:r>
            <a:r>
              <a:rPr lang="en-US" sz="2400" dirty="0">
                <a:latin typeface="Times New Roman" panose="02020603050405020304" pitchFamily="18" charset="0"/>
                <a:cs typeface="Times New Roman" panose="02020603050405020304" pitchFamily="18" charset="0"/>
              </a:rPr>
              <a:t> 1 → 2 (Yes) → 3 (No) </a:t>
            </a:r>
            <a:r>
              <a:rPr lang="en-US" sz="2400" dirty="0" smtClean="0">
                <a:latin typeface="Times New Roman" panose="02020603050405020304" pitchFamily="18" charset="0"/>
                <a:cs typeface="Times New Roman" panose="02020603050405020304" pitchFamily="18" charset="0"/>
              </a:rPr>
              <a:t>→	6	→	9</a:t>
            </a:r>
            <a:r>
              <a:rPr lang="en-US" sz="2400" dirty="0">
                <a:latin typeface="Times New Roman" panose="02020603050405020304" pitchFamily="18" charset="0"/>
                <a:cs typeface="Times New Roman" panose="02020603050405020304" pitchFamily="18" charset="0"/>
              </a:rPr>
              <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positive, B not</a:t>
            </a:r>
          </a:p>
          <a:p>
            <a:pPr algn="just"/>
            <a:r>
              <a:rPr lang="en-US" sz="2400" b="1" dirty="0">
                <a:latin typeface="Times New Roman" panose="02020603050405020304" pitchFamily="18" charset="0"/>
                <a:cs typeface="Times New Roman" panose="02020603050405020304" pitchFamily="18" charset="0"/>
              </a:rPr>
              <a:t>Path 3:</a:t>
            </a:r>
            <a:r>
              <a:rPr lang="en-US" sz="2400" dirty="0">
                <a:latin typeface="Times New Roman" panose="02020603050405020304" pitchFamily="18" charset="0"/>
                <a:cs typeface="Times New Roman" panose="02020603050405020304" pitchFamily="18" charset="0"/>
              </a:rPr>
              <a:t> 1 → 2 (No) → 8 → 9</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 is not positive</a:t>
            </a:r>
          </a:p>
          <a:p>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762382489"/>
              </p:ext>
            </p:extLst>
          </p:nvPr>
        </p:nvGraphicFramePr>
        <p:xfrm>
          <a:off x="1825628" y="1986191"/>
          <a:ext cx="4732190" cy="4034359"/>
        </p:xfrm>
        <a:graphic>
          <a:graphicData uri="http://schemas.openxmlformats.org/drawingml/2006/table">
            <a:tbl>
              <a:tblPr firstRow="1" firstCol="1" bandRow="1">
                <a:tableStyleId>{5C22544A-7EE6-4342-B048-85BDC9FD1C3A}</a:tableStyleId>
              </a:tblPr>
              <a:tblGrid>
                <a:gridCol w="946438">
                  <a:extLst>
                    <a:ext uri="{9D8B030D-6E8A-4147-A177-3AD203B41FA5}">
                      <a16:colId xmlns:a16="http://schemas.microsoft.com/office/drawing/2014/main" val="1966064923"/>
                    </a:ext>
                  </a:extLst>
                </a:gridCol>
                <a:gridCol w="946438">
                  <a:extLst>
                    <a:ext uri="{9D8B030D-6E8A-4147-A177-3AD203B41FA5}">
                      <a16:colId xmlns:a16="http://schemas.microsoft.com/office/drawing/2014/main" val="3044189763"/>
                    </a:ext>
                  </a:extLst>
                </a:gridCol>
                <a:gridCol w="946438">
                  <a:extLst>
                    <a:ext uri="{9D8B030D-6E8A-4147-A177-3AD203B41FA5}">
                      <a16:colId xmlns:a16="http://schemas.microsoft.com/office/drawing/2014/main" val="3221790851"/>
                    </a:ext>
                  </a:extLst>
                </a:gridCol>
                <a:gridCol w="946438">
                  <a:extLst>
                    <a:ext uri="{9D8B030D-6E8A-4147-A177-3AD203B41FA5}">
                      <a16:colId xmlns:a16="http://schemas.microsoft.com/office/drawing/2014/main" val="2947097109"/>
                    </a:ext>
                  </a:extLst>
                </a:gridCol>
                <a:gridCol w="946438">
                  <a:extLst>
                    <a:ext uri="{9D8B030D-6E8A-4147-A177-3AD203B41FA5}">
                      <a16:colId xmlns:a16="http://schemas.microsoft.com/office/drawing/2014/main" val="1442351881"/>
                    </a:ext>
                  </a:extLst>
                </a:gridCol>
              </a:tblGrid>
              <a:tr h="512395">
                <a:tc>
                  <a:txBody>
                    <a:bodyPr/>
                    <a:lstStyle/>
                    <a:p>
                      <a:pPr marL="0" marR="0">
                        <a:lnSpc>
                          <a:spcPct val="107000"/>
                        </a:lnSpc>
                        <a:spcBef>
                          <a:spcPts val="0"/>
                        </a:spcBef>
                        <a:spcAft>
                          <a:spcPts val="0"/>
                        </a:spcAft>
                      </a:pPr>
                      <a:r>
                        <a:rPr lang="en-US" sz="1800" kern="1200" cap="none">
                          <a:solidFill>
                            <a:schemeClr val="tx1"/>
                          </a:solidFill>
                          <a:effectLst/>
                          <a:latin typeface="Times New Roman" panose="02020603050405020304" pitchFamily="18" charset="0"/>
                          <a:ea typeface="+mn-ea"/>
                          <a:cs typeface="Times New Roman" panose="02020603050405020304" pitchFamily="18" charset="0"/>
                        </a:rPr>
                        <a:t>TC#</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A</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B</a:t>
                      </a:r>
                    </a:p>
                  </a:txBody>
                  <a:tcPr marL="68580" marR="68580" marT="0" marB="0"/>
                </a:tc>
                <a:tc>
                  <a:txBody>
                    <a:bodyPr/>
                    <a:lstStyle/>
                    <a:p>
                      <a:pPr marL="0" marR="0">
                        <a:lnSpc>
                          <a:spcPct val="107000"/>
                        </a:lnSpc>
                        <a:spcBef>
                          <a:spcPts val="0"/>
                        </a:spcBef>
                        <a:spcAft>
                          <a:spcPts val="0"/>
                        </a:spcAft>
                      </a:pPr>
                      <a:r>
                        <a:rPr lang="en-US" sz="1800" kern="1200" cap="none">
                          <a:solidFill>
                            <a:schemeClr val="tx1"/>
                          </a:solidFill>
                          <a:effectLst/>
                          <a:latin typeface="Times New Roman" panose="02020603050405020304" pitchFamily="18" charset="0"/>
                          <a:ea typeface="+mn-ea"/>
                          <a:cs typeface="Times New Roman" panose="02020603050405020304" pitchFamily="18" charset="0"/>
                        </a:rPr>
                        <a:t>Output</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Path</a:t>
                      </a:r>
                    </a:p>
                  </a:txBody>
                  <a:tcPr marL="68580" marR="68580" marT="0" marB="0"/>
                </a:tc>
                <a:extLst>
                  <a:ext uri="{0D108BD9-81ED-4DB2-BD59-A6C34878D82A}">
                    <a16:rowId xmlns:a16="http://schemas.microsoft.com/office/drawing/2014/main" val="1174670394"/>
                  </a:ext>
                </a:extLst>
              </a:tr>
              <a:tr h="823266">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TC1</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5</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7</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"Both A and B are positive"</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P1</a:t>
                      </a:r>
                    </a:p>
                  </a:txBody>
                  <a:tcPr marL="68580" marR="68580" marT="0" marB="0"/>
                </a:tc>
                <a:extLst>
                  <a:ext uri="{0D108BD9-81ED-4DB2-BD59-A6C34878D82A}">
                    <a16:rowId xmlns:a16="http://schemas.microsoft.com/office/drawing/2014/main" val="3810234207"/>
                  </a:ext>
                </a:extLst>
              </a:tr>
              <a:tr h="1101784">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TC2</a:t>
                      </a:r>
                    </a:p>
                  </a:txBody>
                  <a:tcPr marL="68580" marR="68580" marT="0" marB="0"/>
                </a:tc>
                <a:tc>
                  <a:txBody>
                    <a:bodyPr/>
                    <a:lstStyle/>
                    <a:p>
                      <a:pPr marL="0" marR="0">
                        <a:lnSpc>
                          <a:spcPct val="107000"/>
                        </a:lnSpc>
                        <a:spcBef>
                          <a:spcPts val="0"/>
                        </a:spcBef>
                        <a:spcAft>
                          <a:spcPts val="0"/>
                        </a:spcAft>
                      </a:pPr>
                      <a:r>
                        <a:rPr lang="en-US" sz="1800" kern="1200" cap="none">
                          <a:solidFill>
                            <a:schemeClr val="tx1"/>
                          </a:solidFill>
                          <a:effectLst/>
                          <a:latin typeface="Times New Roman" panose="02020603050405020304" pitchFamily="18" charset="0"/>
                          <a:ea typeface="+mn-ea"/>
                          <a:cs typeface="Times New Roman" panose="02020603050405020304" pitchFamily="18" charset="0"/>
                        </a:rPr>
                        <a:t>5</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-2</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"A is positive but B is not"</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P2</a:t>
                      </a:r>
                    </a:p>
                  </a:txBody>
                  <a:tcPr marL="68580" marR="68580" marT="0" marB="0"/>
                </a:tc>
                <a:extLst>
                  <a:ext uri="{0D108BD9-81ED-4DB2-BD59-A6C34878D82A}">
                    <a16:rowId xmlns:a16="http://schemas.microsoft.com/office/drawing/2014/main" val="374111931"/>
                  </a:ext>
                </a:extLst>
              </a:tr>
              <a:tr h="544748">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TC3</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-4</a:t>
                      </a:r>
                    </a:p>
                  </a:txBody>
                  <a:tcPr marL="68580" marR="68580" marT="0" marB="0"/>
                </a:tc>
                <a:tc>
                  <a:txBody>
                    <a:bodyPr/>
                    <a:lstStyle/>
                    <a:p>
                      <a:pPr marL="0" marR="0">
                        <a:lnSpc>
                          <a:spcPct val="107000"/>
                        </a:lnSpc>
                        <a:spcBef>
                          <a:spcPts val="0"/>
                        </a:spcBef>
                        <a:spcAft>
                          <a:spcPts val="0"/>
                        </a:spcAft>
                      </a:pPr>
                      <a:r>
                        <a:rPr lang="en-US" sz="1800" kern="1200" cap="none">
                          <a:solidFill>
                            <a:schemeClr val="tx1"/>
                          </a:solidFill>
                          <a:effectLst/>
                          <a:latin typeface="Times New Roman" panose="02020603050405020304" pitchFamily="18" charset="0"/>
                          <a:ea typeface="+mn-ea"/>
                          <a:cs typeface="Times New Roman" panose="02020603050405020304" pitchFamily="18" charset="0"/>
                        </a:rPr>
                        <a:t>any</a:t>
                      </a:r>
                    </a:p>
                  </a:txBody>
                  <a:tcPr marL="68580" marR="68580" marT="0" marB="0"/>
                </a:tc>
                <a:tc>
                  <a:txBody>
                    <a:bodyPr/>
                    <a:lstStyle/>
                    <a:p>
                      <a:pPr marL="0" marR="0">
                        <a:lnSpc>
                          <a:spcPct val="107000"/>
                        </a:lnSpc>
                        <a:spcBef>
                          <a:spcPts val="0"/>
                        </a:spcBef>
                        <a:spcAft>
                          <a:spcPts val="0"/>
                        </a:spcAft>
                      </a:pPr>
                      <a:r>
                        <a:rPr lang="en-US" sz="1800" kern="1200" cap="none">
                          <a:solidFill>
                            <a:schemeClr val="tx1"/>
                          </a:solidFill>
                          <a:effectLst/>
                          <a:latin typeface="Times New Roman" panose="02020603050405020304" pitchFamily="18" charset="0"/>
                          <a:ea typeface="+mn-ea"/>
                          <a:cs typeface="Times New Roman" panose="02020603050405020304" pitchFamily="18" charset="0"/>
                        </a:rPr>
                        <a:t>"A is not positive"</a:t>
                      </a:r>
                    </a:p>
                  </a:txBody>
                  <a:tcPr marL="68580" marR="68580" marT="0" marB="0"/>
                </a:tc>
                <a:tc>
                  <a:txBody>
                    <a:bodyPr/>
                    <a:lstStyle/>
                    <a:p>
                      <a:pPr marL="0" marR="0">
                        <a:lnSpc>
                          <a:spcPct val="107000"/>
                        </a:lnSpc>
                        <a:spcBef>
                          <a:spcPts val="0"/>
                        </a:spcBef>
                        <a:spcAft>
                          <a:spcPts val="0"/>
                        </a:spcAft>
                      </a:pPr>
                      <a:r>
                        <a:rPr lang="en-US" sz="1800" kern="1200" cap="none" dirty="0">
                          <a:solidFill>
                            <a:schemeClr val="tx1"/>
                          </a:solidFill>
                          <a:effectLst/>
                          <a:latin typeface="Times New Roman" panose="02020603050405020304" pitchFamily="18" charset="0"/>
                          <a:ea typeface="+mn-ea"/>
                          <a:cs typeface="Times New Roman" panose="02020603050405020304" pitchFamily="18" charset="0"/>
                        </a:rPr>
                        <a:t>P3</a:t>
                      </a:r>
                    </a:p>
                  </a:txBody>
                  <a:tcPr marL="68580" marR="68580" marT="0" marB="0"/>
                </a:tc>
                <a:extLst>
                  <a:ext uri="{0D108BD9-81ED-4DB2-BD59-A6C34878D82A}">
                    <a16:rowId xmlns:a16="http://schemas.microsoft.com/office/drawing/2014/main" val="2663681659"/>
                  </a:ext>
                </a:extLst>
              </a:tr>
            </a:tbl>
          </a:graphicData>
        </a:graphic>
      </p:graphicFrame>
      <p:sp>
        <p:nvSpPr>
          <p:cNvPr id="6" name="Content Placeholder 5"/>
          <p:cNvSpPr>
            <a:spLocks noGrp="1"/>
          </p:cNvSpPr>
          <p:nvPr>
            <p:ph sz="half" idx="2"/>
          </p:nvPr>
        </p:nvSpPr>
        <p:spPr>
          <a:xfrm>
            <a:off x="1698230" y="2208645"/>
            <a:ext cx="4895056" cy="1226126"/>
          </a:xfrm>
        </p:spPr>
        <p:txBody>
          <a:bodyPr>
            <a:normAutofit/>
          </a:bodyPr>
          <a:lstStyle/>
          <a:p>
            <a:r>
              <a:rPr lang="en-US" sz="3000" b="1" dirty="0">
                <a:latin typeface="Times New Roman" panose="02020603050405020304" pitchFamily="18" charset="0"/>
                <a:cs typeface="Times New Roman" panose="02020603050405020304" pitchFamily="18" charset="0"/>
              </a:rPr>
              <a:t>Step 5: Design Test Cases</a:t>
            </a:r>
          </a:p>
          <a:p>
            <a:endParaRPr lang="en-US" sz="4800" b="1" dirty="0">
              <a:latin typeface="Times New Roman" panose="02020603050405020304" pitchFamily="18" charset="0"/>
              <a:cs typeface="Times New Roman" panose="02020603050405020304" pitchFamily="18" charset="0"/>
            </a:endParaRPr>
          </a:p>
          <a:p>
            <a:endParaRPr lang="en-US" sz="4800" b="1" dirty="0">
              <a:latin typeface="Times New Roman" panose="02020603050405020304" pitchFamily="18" charset="0"/>
              <a:cs typeface="Times New Roman" panose="02020603050405020304" pitchFamily="18" charset="0"/>
            </a:endParaRPr>
          </a:p>
          <a:p>
            <a:endParaRPr lang="en-US" dirty="0"/>
          </a:p>
          <a:p>
            <a:endParaRPr lang="en-US" dirty="0"/>
          </a:p>
        </p:txBody>
      </p:sp>
    </p:spTree>
    <p:extLst>
      <p:ext uri="{BB962C8B-B14F-4D97-AF65-F5344CB8AC3E}">
        <p14:creationId xmlns:p14="http://schemas.microsoft.com/office/powerpoint/2010/main" val="3555667926"/>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70165"/>
            <a:ext cx="10018713" cy="1336964"/>
          </a:xfrm>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a:xfrm>
            <a:off x="1484312" y="1801090"/>
            <a:ext cx="4895055" cy="4498109"/>
          </a:xfrm>
        </p:spPr>
        <p:txBody>
          <a:bodyPr>
            <a:normAutofit/>
          </a:bodyPr>
          <a:lstStyle/>
          <a:p>
            <a:r>
              <a:rPr lang="en-US" sz="2800" b="1" dirty="0">
                <a:latin typeface="Times New Roman" panose="02020603050405020304" pitchFamily="18" charset="0"/>
                <a:cs typeface="Times New Roman" panose="02020603050405020304" pitchFamily="18" charset="0"/>
              </a:rPr>
              <a:t>Example 2:</a:t>
            </a:r>
          </a:p>
          <a:p>
            <a:r>
              <a:rPr lang="en-US" sz="2800" b="1" dirty="0">
                <a:latin typeface="Times New Roman" panose="02020603050405020304" pitchFamily="18" charset="0"/>
                <a:cs typeface="Times New Roman" panose="02020603050405020304" pitchFamily="18" charset="0"/>
              </a:rPr>
              <a:t>Code:</a:t>
            </a:r>
          </a:p>
          <a:p>
            <a:r>
              <a:rPr lang="en-US" sz="2800" dirty="0">
                <a:latin typeface="Times New Roman" panose="02020603050405020304" pitchFamily="18" charset="0"/>
                <a:cs typeface="Times New Roman" panose="02020603050405020304" pitchFamily="18" charset="0"/>
              </a:rPr>
              <a:t>if password = = "</a:t>
            </a:r>
            <a:r>
              <a:rPr lang="en-US" sz="2800" dirty="0" err="1">
                <a:latin typeface="Times New Roman" panose="02020603050405020304" pitchFamily="18" charset="0"/>
                <a:cs typeface="Times New Roman" panose="02020603050405020304" pitchFamily="18" charset="0"/>
              </a:rPr>
              <a:t>abc</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    print("Access granted")</a:t>
            </a:r>
          </a:p>
          <a:p>
            <a:r>
              <a:rPr lang="en-US" sz="2800" dirty="0">
                <a:latin typeface="Times New Roman" panose="02020603050405020304" pitchFamily="18" charset="0"/>
                <a:cs typeface="Times New Roman" panose="02020603050405020304" pitchFamily="18" charset="0"/>
              </a:rPr>
              <a:t>else:</a:t>
            </a:r>
          </a:p>
          <a:p>
            <a:r>
              <a:rPr lang="en-US" sz="2800" dirty="0">
                <a:latin typeface="Times New Roman" panose="02020603050405020304" pitchFamily="18" charset="0"/>
                <a:cs typeface="Times New Roman" panose="02020603050405020304" pitchFamily="18" charset="0"/>
              </a:rPr>
              <a:t>    print("Try again")</a:t>
            </a:r>
          </a:p>
          <a:p>
            <a:r>
              <a:rPr lang="en-US" sz="2800" b="1" dirty="0" err="1">
                <a:latin typeface="Times New Roman" panose="02020603050405020304" pitchFamily="18" charset="0"/>
                <a:cs typeface="Times New Roman" panose="02020603050405020304" pitchFamily="18" charset="0"/>
              </a:rPr>
              <a:t>Cyclomatic</a:t>
            </a:r>
            <a:r>
              <a:rPr lang="en-US" sz="2800" b="1" dirty="0">
                <a:latin typeface="Times New Roman" panose="02020603050405020304" pitchFamily="18" charset="0"/>
                <a:cs typeface="Times New Roman" panose="02020603050405020304" pitchFamily="18" charset="0"/>
              </a:rPr>
              <a:t> Complexity = 2</a:t>
            </a:r>
          </a:p>
          <a:p>
            <a:endParaRPr lang="en-US" dirty="0"/>
          </a:p>
        </p:txBody>
      </p:sp>
      <p:sp>
        <p:nvSpPr>
          <p:cNvPr id="4" name="Content Placeholder 3"/>
          <p:cNvSpPr>
            <a:spLocks noGrp="1"/>
          </p:cNvSpPr>
          <p:nvPr>
            <p:ph sz="half" idx="2"/>
          </p:nvPr>
        </p:nvSpPr>
        <p:spPr>
          <a:xfrm>
            <a:off x="6594764" y="1607129"/>
            <a:ext cx="5006110" cy="4692071"/>
          </a:xfrm>
        </p:spPr>
        <p:txBody>
          <a:bodyPr>
            <a:normAutofit/>
          </a:bodyPr>
          <a:lstStyle/>
          <a:p>
            <a:r>
              <a:rPr lang="en-US" sz="2800" b="1" dirty="0">
                <a:latin typeface="Times New Roman" panose="02020603050405020304" pitchFamily="18" charset="0"/>
                <a:cs typeface="Times New Roman" panose="02020603050405020304" pitchFamily="18" charset="0"/>
              </a:rPr>
              <a:t>Paths:</a:t>
            </a:r>
          </a:p>
          <a:p>
            <a:r>
              <a:rPr lang="en-US" sz="2800" dirty="0">
                <a:latin typeface="Times New Roman" panose="02020603050405020304" pitchFamily="18" charset="0"/>
                <a:cs typeface="Times New Roman" panose="02020603050405020304" pitchFamily="18" charset="0"/>
              </a:rPr>
              <a:t>password is "</a:t>
            </a:r>
            <a:r>
              <a:rPr lang="en-US" sz="2800" dirty="0" err="1">
                <a:latin typeface="Times New Roman" panose="02020603050405020304" pitchFamily="18" charset="0"/>
                <a:cs typeface="Times New Roman" panose="02020603050405020304" pitchFamily="18" charset="0"/>
              </a:rPr>
              <a:t>abc</a:t>
            </a:r>
            <a:r>
              <a:rPr lang="en-US" sz="2800" dirty="0">
                <a:latin typeface="Times New Roman" panose="02020603050405020304" pitchFamily="18" charset="0"/>
                <a:cs typeface="Times New Roman" panose="02020603050405020304" pitchFamily="18" charset="0"/>
              </a:rPr>
              <a:t>"</a:t>
            </a:r>
          </a:p>
          <a:p>
            <a:r>
              <a:rPr lang="en-US" sz="2800" dirty="0">
                <a:latin typeface="Times New Roman" panose="02020603050405020304" pitchFamily="18" charset="0"/>
                <a:cs typeface="Times New Roman" panose="02020603050405020304" pitchFamily="18" charset="0"/>
              </a:rPr>
              <a:t>password is not "</a:t>
            </a:r>
            <a:r>
              <a:rPr lang="en-US" sz="2800" dirty="0" err="1">
                <a:latin typeface="Times New Roman" panose="02020603050405020304" pitchFamily="18" charset="0"/>
                <a:cs typeface="Times New Roman" panose="02020603050405020304" pitchFamily="18" charset="0"/>
              </a:rPr>
              <a:t>abc</a:t>
            </a:r>
            <a:r>
              <a:rPr lang="en-US" sz="2800" dirty="0">
                <a:latin typeface="Times New Roman" panose="02020603050405020304" pitchFamily="18" charset="0"/>
                <a:cs typeface="Times New Roman" panose="02020603050405020304" pitchFamily="18" charset="0"/>
              </a:rPr>
              <a:t>"</a:t>
            </a:r>
          </a:p>
          <a:p>
            <a:r>
              <a:rPr lang="en-US" sz="2800" b="1" dirty="0">
                <a:latin typeface="Times New Roman" panose="02020603050405020304" pitchFamily="18" charset="0"/>
                <a:cs typeface="Times New Roman" panose="02020603050405020304" pitchFamily="18" charset="0"/>
              </a:rPr>
              <a:t>Test Cases:</a:t>
            </a:r>
          </a:p>
          <a:p>
            <a:r>
              <a:rPr lang="en-US" sz="2800" dirty="0">
                <a:latin typeface="Times New Roman" panose="02020603050405020304" pitchFamily="18" charset="0"/>
                <a:cs typeface="Times New Roman" panose="02020603050405020304" pitchFamily="18" charset="0"/>
              </a:rPr>
              <a:t>Password = “</a:t>
            </a:r>
            <a:r>
              <a:rPr lang="en-US" sz="2800" dirty="0" err="1">
                <a:latin typeface="Times New Roman" panose="02020603050405020304" pitchFamily="18" charset="0"/>
                <a:cs typeface="Times New Roman" panose="02020603050405020304" pitchFamily="18" charset="0"/>
              </a:rPr>
              <a:t>abc</a:t>
            </a:r>
            <a:r>
              <a:rPr lang="en-US" sz="2800" dirty="0">
                <a:latin typeface="Times New Roman" panose="02020603050405020304" pitchFamily="18" charset="0"/>
                <a:cs typeface="Times New Roman" panose="02020603050405020304" pitchFamily="18" charset="0"/>
              </a:rPr>
              <a:t>” (Valid)</a:t>
            </a:r>
          </a:p>
          <a:p>
            <a:r>
              <a:rPr lang="en-US" sz="2800" dirty="0">
                <a:latin typeface="Times New Roman" panose="02020603050405020304" pitchFamily="18" charset="0"/>
                <a:cs typeface="Times New Roman" panose="02020603050405020304" pitchFamily="18" charset="0"/>
              </a:rPr>
              <a:t>Password = “123” (Invalid)</a:t>
            </a:r>
          </a:p>
          <a:p>
            <a:endParaRPr lang="en-US" dirty="0"/>
          </a:p>
        </p:txBody>
      </p:sp>
    </p:spTree>
    <p:extLst>
      <p:ext uri="{BB962C8B-B14F-4D97-AF65-F5344CB8AC3E}">
        <p14:creationId xmlns:p14="http://schemas.microsoft.com/office/powerpoint/2010/main" val="4142128063"/>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a:xfrm>
            <a:off x="1484311" y="2272144"/>
            <a:ext cx="10018713" cy="3549074"/>
          </a:xfrm>
        </p:spPr>
        <p:txBody>
          <a:bodyPr>
            <a:noAutofit/>
          </a:bodyPr>
          <a:lstStyle/>
          <a:p>
            <a:pPr algn="just"/>
            <a:r>
              <a:rPr lang="en-US" sz="2500" b="1" dirty="0">
                <a:latin typeface="Times New Roman" panose="02020603050405020304" pitchFamily="18" charset="0"/>
                <a:cs typeface="Times New Roman" panose="02020603050405020304" pitchFamily="18" charset="0"/>
              </a:rPr>
              <a:t>6. </a:t>
            </a:r>
            <a:r>
              <a:rPr lang="en-US" sz="2500" b="1" dirty="0">
                <a:latin typeface="Times New Roman" panose="02020603050405020304" pitchFamily="18" charset="0"/>
                <a:cs typeface="Times New Roman" panose="02020603050405020304" pitchFamily="18" charset="0"/>
              </a:rPr>
              <a:t>Loop Testing: </a:t>
            </a:r>
            <a:r>
              <a:rPr lang="en-US" sz="2500" dirty="0">
                <a:latin typeface="Times New Roman" panose="02020603050405020304" pitchFamily="18" charset="0"/>
                <a:cs typeface="Times New Roman" panose="02020603050405020304" pitchFamily="18" charset="0"/>
              </a:rPr>
              <a:t>Loops are widely used and these are fundamental to many algorithms hence, their testing is very important. </a:t>
            </a:r>
          </a:p>
          <a:p>
            <a:pPr algn="just"/>
            <a:r>
              <a:rPr lang="en-US" sz="2500" b="1" dirty="0">
                <a:latin typeface="Times New Roman" panose="02020603050405020304" pitchFamily="18" charset="0"/>
                <a:cs typeface="Times New Roman" panose="02020603050405020304" pitchFamily="18" charset="0"/>
              </a:rPr>
              <a:t>Simple loops:</a:t>
            </a:r>
            <a:r>
              <a:rPr lang="en-US" sz="2500" dirty="0">
                <a:latin typeface="Times New Roman" panose="02020603050405020304" pitchFamily="18" charset="0"/>
                <a:cs typeface="Times New Roman" panose="02020603050405020304" pitchFamily="18" charset="0"/>
              </a:rPr>
              <a:t> For simple loops of size n, test cases are designed that:</a:t>
            </a:r>
          </a:p>
          <a:p>
            <a:pPr algn="just"/>
            <a:r>
              <a:rPr lang="en-US" sz="2500" dirty="0">
                <a:latin typeface="Times New Roman" panose="02020603050405020304" pitchFamily="18" charset="0"/>
                <a:cs typeface="Times New Roman" panose="02020603050405020304" pitchFamily="18" charset="0"/>
              </a:rPr>
              <a:t>Skip the loop entirely</a:t>
            </a:r>
          </a:p>
          <a:p>
            <a:pPr algn="just"/>
            <a:r>
              <a:rPr lang="en-US" sz="2500" dirty="0">
                <a:latin typeface="Times New Roman" panose="02020603050405020304" pitchFamily="18" charset="0"/>
                <a:cs typeface="Times New Roman" panose="02020603050405020304" pitchFamily="18" charset="0"/>
              </a:rPr>
              <a:t>Only one pass through the loop</a:t>
            </a:r>
          </a:p>
          <a:p>
            <a:pPr algn="just"/>
            <a:r>
              <a:rPr lang="en-US" sz="2500" dirty="0">
                <a:latin typeface="Times New Roman" panose="02020603050405020304" pitchFamily="18" charset="0"/>
                <a:cs typeface="Times New Roman" panose="02020603050405020304" pitchFamily="18" charset="0"/>
              </a:rPr>
              <a:t>2 passes</a:t>
            </a:r>
          </a:p>
          <a:p>
            <a:pPr algn="just"/>
            <a:r>
              <a:rPr lang="en-US" sz="2500" dirty="0" smtClean="0">
                <a:latin typeface="Times New Roman" panose="02020603050405020304" pitchFamily="18" charset="0"/>
                <a:cs typeface="Times New Roman" panose="02020603050405020304" pitchFamily="18" charset="0"/>
              </a:rPr>
              <a:t>n passes</a:t>
            </a:r>
            <a:endParaRPr lang="en-US" sz="2500" dirty="0">
              <a:latin typeface="Times New Roman" panose="02020603050405020304" pitchFamily="18" charset="0"/>
              <a:cs typeface="Times New Roman" panose="02020603050405020304" pitchFamily="18" charset="0"/>
            </a:endParaRPr>
          </a:p>
          <a:p>
            <a:pPr algn="just"/>
            <a:r>
              <a:rPr lang="en-US" sz="2500" dirty="0">
                <a:latin typeface="Times New Roman" panose="02020603050405020304" pitchFamily="18" charset="0"/>
                <a:cs typeface="Times New Roman" panose="02020603050405020304" pitchFamily="18" charset="0"/>
              </a:rPr>
              <a:t>n-1 and n+1 passes</a:t>
            </a:r>
          </a:p>
        </p:txBody>
      </p:sp>
    </p:spTree>
    <p:extLst>
      <p:ext uri="{BB962C8B-B14F-4D97-AF65-F5344CB8AC3E}">
        <p14:creationId xmlns:p14="http://schemas.microsoft.com/office/powerpoint/2010/main" val="3819034656"/>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a:xfrm>
            <a:off x="1484311" y="2272144"/>
            <a:ext cx="10018713" cy="3549074"/>
          </a:xfrm>
        </p:spPr>
        <p:txBody>
          <a:bodyPr>
            <a:noAutofit/>
          </a:bodyPr>
          <a:lstStyle/>
          <a:p>
            <a:r>
              <a:rPr lang="en-US" sz="2800" b="1" dirty="0">
                <a:latin typeface="Times New Roman" panose="02020603050405020304" pitchFamily="18" charset="0"/>
                <a:cs typeface="Times New Roman" panose="02020603050405020304" pitchFamily="18" charset="0"/>
              </a:rPr>
              <a:t>Nested loops:</a:t>
            </a:r>
            <a:r>
              <a:rPr lang="en-US" sz="2800" dirty="0">
                <a:latin typeface="Times New Roman" panose="02020603050405020304" pitchFamily="18" charset="0"/>
                <a:cs typeface="Times New Roman" panose="02020603050405020304" pitchFamily="18" charset="0"/>
              </a:rPr>
              <a:t> For nested loops, all the loops are set to their minimum count, and we start from the innermost loop. Simple loop tests are conducted for the innermost loop and this is worked outwards till all the loops have been tested.</a:t>
            </a:r>
          </a:p>
          <a:p>
            <a:r>
              <a:rPr lang="en-US" sz="2800" b="1" dirty="0">
                <a:latin typeface="Times New Roman" panose="02020603050405020304" pitchFamily="18" charset="0"/>
                <a:cs typeface="Times New Roman" panose="02020603050405020304" pitchFamily="18" charset="0"/>
              </a:rPr>
              <a:t>Concatenated loops: </a:t>
            </a:r>
            <a:r>
              <a:rPr lang="en-US" sz="2800" dirty="0">
                <a:latin typeface="Times New Roman" panose="02020603050405020304" pitchFamily="18" charset="0"/>
                <a:cs typeface="Times New Roman" panose="02020603050405020304" pitchFamily="18" charset="0"/>
              </a:rPr>
              <a:t>Independent loops, one after another. </a:t>
            </a:r>
            <a:r>
              <a:rPr lang="en-US" sz="2800" dirty="0">
                <a:latin typeface="Times New Roman" panose="02020603050405020304" pitchFamily="18" charset="0"/>
                <a:cs typeface="Times New Roman" panose="02020603050405020304" pitchFamily="18" charset="0"/>
              </a:rPr>
              <a:t>Simple loop tests are applied for each. </a:t>
            </a:r>
          </a:p>
        </p:txBody>
      </p:sp>
    </p:spTree>
    <p:extLst>
      <p:ext uri="{BB962C8B-B14F-4D97-AF65-F5344CB8AC3E}">
        <p14:creationId xmlns:p14="http://schemas.microsoft.com/office/powerpoint/2010/main" val="1719948810"/>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500" b="1" dirty="0">
                <a:latin typeface="Times New Roman" panose="02020603050405020304" pitchFamily="18" charset="0"/>
                <a:cs typeface="Times New Roman" panose="02020603050405020304" pitchFamily="18" charset="0"/>
              </a:rPr>
              <a:t>White Box Testing </a:t>
            </a:r>
            <a:r>
              <a:rPr lang="en-US" sz="4500" b="1" dirty="0" smtClean="0">
                <a:latin typeface="Times New Roman" panose="02020603050405020304" pitchFamily="18" charset="0"/>
                <a:cs typeface="Times New Roman" panose="02020603050405020304" pitchFamily="18" charset="0"/>
              </a:rPr>
              <a:t>Techniques </a:t>
            </a:r>
            <a:r>
              <a:rPr lang="en-US" b="1" dirty="0">
                <a:latin typeface="Times New Roman" panose="02020603050405020304" pitchFamily="18" charset="0"/>
                <a:cs typeface="Times New Roman" panose="02020603050405020304" pitchFamily="18" charset="0"/>
              </a:rPr>
              <a:t>Cont..</a:t>
            </a:r>
            <a:r>
              <a:rPr lang="en-US" dirty="0"/>
              <a:t/>
            </a:r>
            <a:br>
              <a:rPr lang="en-US" dirty="0"/>
            </a:br>
            <a:endParaRPr lang="en-US" dirty="0"/>
          </a:p>
        </p:txBody>
      </p:sp>
      <p:sp>
        <p:nvSpPr>
          <p:cNvPr id="3" name="Content Placeholder 2"/>
          <p:cNvSpPr>
            <a:spLocks noGrp="1"/>
          </p:cNvSpPr>
          <p:nvPr>
            <p:ph idx="1"/>
          </p:nvPr>
        </p:nvSpPr>
        <p:spPr>
          <a:xfrm>
            <a:off x="1484312" y="2272144"/>
            <a:ext cx="3978132" cy="3549074"/>
          </a:xfrm>
        </p:spPr>
        <p:txBody>
          <a:bodyPr>
            <a:noAutofit/>
          </a:bodyPr>
          <a:lstStyle/>
          <a:p>
            <a:r>
              <a:rPr lang="en-US" sz="2800" b="1" dirty="0">
                <a:latin typeface="Times New Roman" panose="02020603050405020304" pitchFamily="18" charset="0"/>
                <a:cs typeface="Times New Roman" panose="02020603050405020304" pitchFamily="18" charset="0"/>
              </a:rPr>
              <a:t>Example 1: Simple Loop</a:t>
            </a:r>
          </a:p>
          <a:p>
            <a:r>
              <a:rPr lang="en-US" sz="2800" dirty="0">
                <a:latin typeface="Times New Roman" panose="02020603050405020304" pitchFamily="18" charset="0"/>
                <a:cs typeface="Times New Roman" panose="02020603050405020304" pitchFamily="18" charset="0"/>
              </a:rPr>
              <a:t>for </a:t>
            </a:r>
            <a:r>
              <a:rPr lang="en-US" sz="2800" dirty="0" err="1">
                <a:latin typeface="Times New Roman" panose="02020603050405020304" pitchFamily="18" charset="0"/>
                <a:cs typeface="Times New Roman" panose="02020603050405020304" pitchFamily="18" charset="0"/>
              </a:rPr>
              <a:t>i</a:t>
            </a:r>
            <a:r>
              <a:rPr lang="en-US" sz="2800" dirty="0">
                <a:latin typeface="Times New Roman" panose="02020603050405020304" pitchFamily="18" charset="0"/>
                <a:cs typeface="Times New Roman" panose="02020603050405020304" pitchFamily="18" charset="0"/>
              </a:rPr>
              <a:t> in range(n):</a:t>
            </a:r>
          </a:p>
          <a:p>
            <a:r>
              <a:rPr lang="en-US" sz="2800" dirty="0">
                <a:latin typeface="Times New Roman" panose="02020603050405020304" pitchFamily="18" charset="0"/>
                <a:cs typeface="Times New Roman" panose="02020603050405020304" pitchFamily="18" charset="0"/>
              </a:rPr>
              <a:t>    print(</a:t>
            </a:r>
            <a:r>
              <a:rPr lang="en-US" sz="2800" dirty="0" err="1">
                <a:latin typeface="Times New Roman" panose="02020603050405020304" pitchFamily="18" charset="0"/>
                <a:cs typeface="Times New Roman" panose="02020603050405020304" pitchFamily="18" charset="0"/>
              </a:rPr>
              <a:t>i</a:t>
            </a:r>
            <a:r>
              <a:rPr lang="en-US" sz="2800" dirty="0" smtClean="0">
                <a:latin typeface="Times New Roman" panose="02020603050405020304" pitchFamily="18" charset="0"/>
                <a:cs typeface="Times New Roman" panose="02020603050405020304" pitchFamily="18" charset="0"/>
              </a:rPr>
              <a:t>)</a:t>
            </a:r>
          </a:p>
        </p:txBody>
      </p:sp>
      <p:graphicFrame>
        <p:nvGraphicFramePr>
          <p:cNvPr id="4" name="Table 3"/>
          <p:cNvGraphicFramePr>
            <a:graphicFrameLocks noGrp="1"/>
          </p:cNvGraphicFramePr>
          <p:nvPr>
            <p:extLst>
              <p:ext uri="{D42A27DB-BD31-4B8C-83A1-F6EECF244321}">
                <p14:modId xmlns:p14="http://schemas.microsoft.com/office/powerpoint/2010/main" val="746510692"/>
              </p:ext>
            </p:extLst>
          </p:nvPr>
        </p:nvGraphicFramePr>
        <p:xfrm>
          <a:off x="5737150" y="2623126"/>
          <a:ext cx="6040581" cy="3851564"/>
        </p:xfrm>
        <a:graphic>
          <a:graphicData uri="http://schemas.openxmlformats.org/drawingml/2006/table">
            <a:tbl>
              <a:tblPr firstRow="1" firstCol="1" bandRow="1">
                <a:tableStyleId>{5C22544A-7EE6-4342-B048-85BDC9FD1C3A}</a:tableStyleId>
              </a:tblPr>
              <a:tblGrid>
                <a:gridCol w="2013527">
                  <a:extLst>
                    <a:ext uri="{9D8B030D-6E8A-4147-A177-3AD203B41FA5}">
                      <a16:colId xmlns:a16="http://schemas.microsoft.com/office/drawing/2014/main" val="3876322012"/>
                    </a:ext>
                  </a:extLst>
                </a:gridCol>
                <a:gridCol w="2013527">
                  <a:extLst>
                    <a:ext uri="{9D8B030D-6E8A-4147-A177-3AD203B41FA5}">
                      <a16:colId xmlns:a16="http://schemas.microsoft.com/office/drawing/2014/main" val="3612101986"/>
                    </a:ext>
                  </a:extLst>
                </a:gridCol>
                <a:gridCol w="2013527">
                  <a:extLst>
                    <a:ext uri="{9D8B030D-6E8A-4147-A177-3AD203B41FA5}">
                      <a16:colId xmlns:a16="http://schemas.microsoft.com/office/drawing/2014/main" val="2447951684"/>
                    </a:ext>
                  </a:extLst>
                </a:gridCol>
              </a:tblGrid>
              <a:tr h="610271">
                <a:tc>
                  <a:txBody>
                    <a:bodyPr/>
                    <a:lstStyle/>
                    <a:p>
                      <a:pPr marL="0" marR="0">
                        <a:lnSpc>
                          <a:spcPct val="107000"/>
                        </a:lnSpc>
                        <a:spcBef>
                          <a:spcPts val="0"/>
                        </a:spcBef>
                        <a:spcAft>
                          <a:spcPts val="0"/>
                        </a:spcAft>
                      </a:pPr>
                      <a:r>
                        <a:rPr lang="en-US" sz="1800">
                          <a:solidFill>
                            <a:schemeClr val="tx1"/>
                          </a:solidFill>
                          <a:effectLst/>
                          <a:latin typeface="Times New Roman" panose="02020603050405020304" pitchFamily="18" charset="0"/>
                          <a:cs typeface="Times New Roman" panose="02020603050405020304" pitchFamily="18" charset="0"/>
                        </a:rPr>
                        <a:t>TC#</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n</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Expected Behavior</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5872964"/>
                  </a:ext>
                </a:extLst>
              </a:tr>
              <a:tr h="610271">
                <a:tc>
                  <a:txBody>
                    <a:bodyPr/>
                    <a:lstStyle/>
                    <a:p>
                      <a:pPr marL="0" marR="0">
                        <a:lnSpc>
                          <a:spcPct val="107000"/>
                        </a:lnSpc>
                        <a:spcBef>
                          <a:spcPts val="0"/>
                        </a:spcBef>
                        <a:spcAft>
                          <a:spcPts val="0"/>
                        </a:spcAft>
                      </a:pPr>
                      <a:r>
                        <a:rPr lang="en-US" sz="1800">
                          <a:solidFill>
                            <a:schemeClr val="tx1"/>
                          </a:solidFill>
                          <a:effectLst/>
                          <a:latin typeface="Times New Roman" panose="02020603050405020304" pitchFamily="18" charset="0"/>
                          <a:cs typeface="Times New Roman" panose="02020603050405020304" pitchFamily="18" charset="0"/>
                        </a:rPr>
                        <a:t>TC1</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0</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Loop skipped entirely</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16753715"/>
                  </a:ext>
                </a:extLst>
              </a:tr>
              <a:tr h="372722">
                <a:tc>
                  <a:txBody>
                    <a:bodyPr/>
                    <a:lstStyle/>
                    <a:p>
                      <a:pPr marL="0" marR="0">
                        <a:lnSpc>
                          <a:spcPct val="107000"/>
                        </a:lnSpc>
                        <a:spcBef>
                          <a:spcPts val="0"/>
                        </a:spcBef>
                        <a:spcAft>
                          <a:spcPts val="0"/>
                        </a:spcAft>
                      </a:pPr>
                      <a:r>
                        <a:rPr lang="en-US" sz="1800">
                          <a:solidFill>
                            <a:schemeClr val="tx1"/>
                          </a:solidFill>
                          <a:effectLst/>
                          <a:latin typeface="Times New Roman" panose="02020603050405020304" pitchFamily="18" charset="0"/>
                          <a:cs typeface="Times New Roman" panose="02020603050405020304" pitchFamily="18" charset="0"/>
                        </a:rPr>
                        <a:t>TC2</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1</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Loop runs once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3368944"/>
                  </a:ext>
                </a:extLst>
              </a:tr>
              <a:tr h="359900">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TC3</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2</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Loop runs twice</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026567"/>
                  </a:ext>
                </a:extLst>
              </a:tr>
              <a:tr h="610271">
                <a:tc>
                  <a:txBody>
                    <a:bodyPr/>
                    <a:lstStyle/>
                    <a:p>
                      <a:pPr marL="0" marR="0">
                        <a:lnSpc>
                          <a:spcPct val="107000"/>
                        </a:lnSpc>
                        <a:spcBef>
                          <a:spcPts val="0"/>
                        </a:spcBef>
                        <a:spcAft>
                          <a:spcPts val="0"/>
                        </a:spcAft>
                      </a:pPr>
                      <a:r>
                        <a:rPr lang="en-US" sz="1800">
                          <a:solidFill>
                            <a:schemeClr val="tx1"/>
                          </a:solidFill>
                          <a:effectLst/>
                          <a:latin typeface="Times New Roman" panose="02020603050405020304" pitchFamily="18" charset="0"/>
                          <a:cs typeface="Times New Roman" panose="02020603050405020304" pitchFamily="18" charset="0"/>
                        </a:rPr>
                        <a:t>TC4</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4</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Normal run (less than max)</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00417158"/>
                  </a:ext>
                </a:extLst>
              </a:tr>
              <a:tr h="372722">
                <a:tc>
                  <a:txBody>
                    <a:bodyPr/>
                    <a:lstStyle/>
                    <a:p>
                      <a:pPr marL="0" marR="0">
                        <a:lnSpc>
                          <a:spcPct val="107000"/>
                        </a:lnSpc>
                        <a:spcBef>
                          <a:spcPts val="0"/>
                        </a:spcBef>
                        <a:spcAft>
                          <a:spcPts val="0"/>
                        </a:spcAft>
                      </a:pPr>
                      <a:r>
                        <a:rPr lang="en-US" sz="1800">
                          <a:solidFill>
                            <a:schemeClr val="tx1"/>
                          </a:solidFill>
                          <a:effectLst/>
                          <a:latin typeface="Times New Roman" panose="02020603050405020304" pitchFamily="18" charset="0"/>
                          <a:cs typeface="Times New Roman" panose="02020603050405020304" pitchFamily="18" charset="0"/>
                        </a:rPr>
                        <a:t>TC5</a:t>
                      </a:r>
                      <a:endParaRPr lang="en-US" sz="18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5</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a:effectLst/>
                          <a:latin typeface="Times New Roman" panose="02020603050405020304" pitchFamily="18" charset="0"/>
                          <a:cs typeface="Times New Roman" panose="02020603050405020304" pitchFamily="18" charset="0"/>
                        </a:rPr>
                        <a:t>Loop runs n times</a:t>
                      </a:r>
                      <a:endParaRPr lang="en-US" sz="18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63078678"/>
                  </a:ext>
                </a:extLst>
              </a:tr>
              <a:tr h="915407">
                <a:tc>
                  <a:txBody>
                    <a:bodyPr/>
                    <a:lstStyle/>
                    <a:p>
                      <a:pPr marL="0" marR="0">
                        <a:lnSpc>
                          <a:spcPct val="107000"/>
                        </a:lnSpc>
                        <a:spcBef>
                          <a:spcPts val="0"/>
                        </a:spcBef>
                        <a:spcAft>
                          <a:spcPts val="0"/>
                        </a:spcAft>
                      </a:pPr>
                      <a:r>
                        <a:rPr lang="en-US" sz="1800" dirty="0">
                          <a:solidFill>
                            <a:schemeClr val="tx1"/>
                          </a:solidFill>
                          <a:effectLst/>
                          <a:latin typeface="Times New Roman" panose="02020603050405020304" pitchFamily="18" charset="0"/>
                          <a:cs typeface="Times New Roman" panose="02020603050405020304" pitchFamily="18" charset="0"/>
                        </a:rPr>
                        <a:t>TC6</a:t>
                      </a:r>
                      <a:endParaRPr lang="en-US" sz="18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6</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800" dirty="0">
                          <a:effectLst/>
                          <a:latin typeface="Times New Roman" panose="02020603050405020304" pitchFamily="18" charset="0"/>
                          <a:cs typeface="Times New Roman" panose="02020603050405020304" pitchFamily="18" charset="0"/>
                        </a:rPr>
                        <a:t>Loop runs one extra time (n+1 check)</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04882818"/>
                  </a:ext>
                </a:extLst>
              </a:tr>
            </a:tbl>
          </a:graphicData>
        </a:graphic>
      </p:graphicFrame>
      <p:sp>
        <p:nvSpPr>
          <p:cNvPr id="5" name="Content Placeholder 2"/>
          <p:cNvSpPr txBox="1">
            <a:spLocks/>
          </p:cNvSpPr>
          <p:nvPr/>
        </p:nvSpPr>
        <p:spPr>
          <a:xfrm>
            <a:off x="5673179" y="1941944"/>
            <a:ext cx="3978132" cy="681182"/>
          </a:xfrm>
          <a:prstGeom prst="rect">
            <a:avLst/>
          </a:prstGeom>
        </p:spPr>
        <p:txBody>
          <a:bodyPr vert="horz" lIns="91440" tIns="45720" rIns="91440" bIns="45720" rtlCol="0" anchor="ctr">
            <a:noAutofit/>
          </a:bodyPr>
          <a:lst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a:lstStyle>
          <a:p>
            <a:r>
              <a:rPr lang="en-US" sz="2800" b="1" dirty="0" smtClean="0">
                <a:latin typeface="Times New Roman" panose="02020603050405020304" pitchFamily="18" charset="0"/>
                <a:cs typeface="Times New Roman" panose="02020603050405020304" pitchFamily="18" charset="0"/>
              </a:rPr>
              <a:t>Test Cases:</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3966491"/>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2" y="270165"/>
            <a:ext cx="10018713" cy="1336964"/>
          </a:xfrm>
        </p:spPr>
        <p:txBody>
          <a:bodyPr/>
          <a:lstStyle/>
          <a:p>
            <a:r>
              <a:rPr lang="en-US" b="1" dirty="0">
                <a:latin typeface="Times New Roman" panose="02020603050405020304" pitchFamily="18" charset="0"/>
                <a:cs typeface="Times New Roman" panose="02020603050405020304" pitchFamily="18" charset="0"/>
              </a:rPr>
              <a:t>White Box Testing Techniques Cont..</a:t>
            </a:r>
            <a:r>
              <a:rPr lang="en-US" dirty="0"/>
              <a:t/>
            </a:r>
            <a:br>
              <a:rPr lang="en-US" dirty="0"/>
            </a:br>
            <a:endParaRPr lang="en-US" dirty="0"/>
          </a:p>
        </p:txBody>
      </p:sp>
      <p:sp>
        <p:nvSpPr>
          <p:cNvPr id="3" name="Content Placeholder 2"/>
          <p:cNvSpPr>
            <a:spLocks noGrp="1"/>
          </p:cNvSpPr>
          <p:nvPr>
            <p:ph sz="half" idx="1"/>
          </p:nvPr>
        </p:nvSpPr>
        <p:spPr>
          <a:xfrm>
            <a:off x="1484312" y="1801090"/>
            <a:ext cx="4895055" cy="4498109"/>
          </a:xfrm>
        </p:spPr>
        <p:txBody>
          <a:bodyPr>
            <a:normAutofit fontScale="47500" lnSpcReduction="20000"/>
          </a:bodyPr>
          <a:lstStyle/>
          <a:p>
            <a:r>
              <a:rPr lang="en-US" sz="5900" b="1" dirty="0">
                <a:latin typeface="Times New Roman" panose="02020603050405020304" pitchFamily="18" charset="0"/>
                <a:cs typeface="Times New Roman" panose="02020603050405020304" pitchFamily="18" charset="0"/>
              </a:rPr>
              <a:t>Example 2: Nested Loop</a:t>
            </a:r>
          </a:p>
          <a:p>
            <a:r>
              <a:rPr lang="en-US" sz="5900" dirty="0">
                <a:latin typeface="Times New Roman" panose="02020603050405020304" pitchFamily="18" charset="0"/>
                <a:cs typeface="Times New Roman" panose="02020603050405020304" pitchFamily="18" charset="0"/>
              </a:rPr>
              <a:t>for </a:t>
            </a:r>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in range(2):       # Outer loop</a:t>
            </a:r>
          </a:p>
          <a:p>
            <a:r>
              <a:rPr lang="en-US" sz="5900" dirty="0">
                <a:latin typeface="Times New Roman" panose="02020603050405020304" pitchFamily="18" charset="0"/>
                <a:cs typeface="Times New Roman" panose="02020603050405020304" pitchFamily="18" charset="0"/>
              </a:rPr>
              <a:t>    for j in range(2):   # Inner loop</a:t>
            </a:r>
          </a:p>
          <a:p>
            <a:r>
              <a:rPr lang="en-US" sz="5900" dirty="0">
                <a:latin typeface="Times New Roman" panose="02020603050405020304" pitchFamily="18" charset="0"/>
                <a:cs typeface="Times New Roman" panose="02020603050405020304" pitchFamily="18" charset="0"/>
              </a:rPr>
              <a:t>        print(</a:t>
            </a:r>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j)</a:t>
            </a:r>
          </a:p>
          <a:p>
            <a:r>
              <a:rPr lang="en-US" sz="5900" b="1" dirty="0">
                <a:latin typeface="Times New Roman" panose="02020603050405020304" pitchFamily="18" charset="0"/>
                <a:cs typeface="Times New Roman" panose="02020603050405020304" pitchFamily="18" charset="0"/>
              </a:rPr>
              <a:t>How to test:</a:t>
            </a:r>
          </a:p>
          <a:p>
            <a:r>
              <a:rPr lang="en-US" sz="5900" dirty="0">
                <a:latin typeface="Times New Roman" panose="02020603050405020304" pitchFamily="18" charset="0"/>
                <a:cs typeface="Times New Roman" panose="02020603050405020304" pitchFamily="18" charset="0"/>
              </a:rPr>
              <a:t>Start with minimum value for </a:t>
            </a:r>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and j (0)</a:t>
            </a:r>
          </a:p>
          <a:p>
            <a:endParaRPr lang="en-US" dirty="0"/>
          </a:p>
        </p:txBody>
      </p:sp>
      <p:sp>
        <p:nvSpPr>
          <p:cNvPr id="4" name="Content Placeholder 3"/>
          <p:cNvSpPr>
            <a:spLocks noGrp="1"/>
          </p:cNvSpPr>
          <p:nvPr>
            <p:ph sz="half" idx="2"/>
          </p:nvPr>
        </p:nvSpPr>
        <p:spPr>
          <a:xfrm>
            <a:off x="7503680" y="1607128"/>
            <a:ext cx="3648363" cy="4692071"/>
          </a:xfrm>
        </p:spPr>
        <p:txBody>
          <a:bodyPr>
            <a:normAutofit fontScale="47500" lnSpcReduction="20000"/>
          </a:bodyPr>
          <a:lstStyle/>
          <a:p>
            <a:r>
              <a:rPr lang="en-US" sz="5900" b="1" dirty="0">
                <a:latin typeface="Times New Roman" panose="02020603050405020304" pitchFamily="18" charset="0"/>
                <a:cs typeface="Times New Roman" panose="02020603050405020304" pitchFamily="18" charset="0"/>
              </a:rPr>
              <a:t>Test combinations:</a:t>
            </a:r>
          </a:p>
          <a:p>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 0, j = 0</a:t>
            </a:r>
          </a:p>
          <a:p>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 0, j = 1</a:t>
            </a:r>
          </a:p>
          <a:p>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 1, j = 0</a:t>
            </a:r>
          </a:p>
          <a:p>
            <a:r>
              <a:rPr lang="en-US" sz="5900" dirty="0" err="1">
                <a:latin typeface="Times New Roman" panose="02020603050405020304" pitchFamily="18" charset="0"/>
                <a:cs typeface="Times New Roman" panose="02020603050405020304" pitchFamily="18" charset="0"/>
              </a:rPr>
              <a:t>i</a:t>
            </a:r>
            <a:r>
              <a:rPr lang="en-US" sz="5900" dirty="0">
                <a:latin typeface="Times New Roman" panose="02020603050405020304" pitchFamily="18" charset="0"/>
                <a:cs typeface="Times New Roman" panose="02020603050405020304" pitchFamily="18" charset="0"/>
              </a:rPr>
              <a:t> = 1, j = 1</a:t>
            </a:r>
          </a:p>
          <a:p>
            <a:endParaRPr lang="en-US" dirty="0"/>
          </a:p>
        </p:txBody>
      </p:sp>
    </p:spTree>
    <p:extLst>
      <p:ext uri="{BB962C8B-B14F-4D97-AF65-F5344CB8AC3E}">
        <p14:creationId xmlns:p14="http://schemas.microsoft.com/office/powerpoint/2010/main" val="4050933227"/>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t="16762" b="10577"/>
          <a:stretch/>
        </p:blipFill>
        <p:spPr>
          <a:xfrm>
            <a:off x="1634836" y="259982"/>
            <a:ext cx="9662532" cy="57806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04109673"/>
      </p:ext>
    </p:extLst>
  </p:cSld>
  <p:clrMapOvr>
    <a:masterClrMapping/>
  </p:clrMapOvr>
  <mc:AlternateContent xmlns:mc="http://schemas.openxmlformats.org/markup-compatibility/2006">
    <mc:Choice xmlns:p14="http://schemas.microsoft.com/office/powerpoint/2010/main" Requires="p14">
      <p:transition spd="slow">
        <p14:gallery dir="l"/>
      </p:transition>
    </mc:Choice>
    <mc:Fallback>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Advantages of White Box Testing</a:t>
            </a:r>
            <a:br>
              <a:rPr lang="en-US" sz="4400" b="1" dirty="0">
                <a:latin typeface="Times New Roman" panose="02020603050405020304" pitchFamily="18" charset="0"/>
                <a:cs typeface="Times New Roman" panose="02020603050405020304" pitchFamily="18" charset="0"/>
              </a:rPr>
            </a:br>
            <a:endParaRPr lang="en-US"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70000" lnSpcReduction="20000"/>
          </a:bodyPr>
          <a:lstStyle/>
          <a:p>
            <a:r>
              <a:rPr lang="en-US" sz="4000" b="1" dirty="0">
                <a:latin typeface="Times New Roman" panose="02020603050405020304" pitchFamily="18" charset="0"/>
                <a:cs typeface="Times New Roman" panose="02020603050405020304" pitchFamily="18" charset="0"/>
              </a:rPr>
              <a:t>Thorough Testing: </a:t>
            </a:r>
            <a:r>
              <a:rPr lang="en-US" sz="4000" dirty="0">
                <a:latin typeface="Times New Roman" panose="02020603050405020304" pitchFamily="18" charset="0"/>
                <a:cs typeface="Times New Roman" panose="02020603050405020304" pitchFamily="18" charset="0"/>
              </a:rPr>
              <a:t>White box testing is thorough as the entire code and structures are tested.</a:t>
            </a:r>
          </a:p>
          <a:p>
            <a:r>
              <a:rPr lang="en-US" sz="4000" b="1" dirty="0">
                <a:latin typeface="Times New Roman" panose="02020603050405020304" pitchFamily="18" charset="0"/>
                <a:cs typeface="Times New Roman" panose="02020603050405020304" pitchFamily="18" charset="0"/>
              </a:rPr>
              <a:t>Code Optimization:</a:t>
            </a:r>
            <a:r>
              <a:rPr lang="en-US" sz="4000" dirty="0">
                <a:latin typeface="Times New Roman" panose="02020603050405020304" pitchFamily="18" charset="0"/>
                <a:cs typeface="Times New Roman" panose="02020603050405020304" pitchFamily="18" charset="0"/>
              </a:rPr>
              <a:t> It results in the optimization of code removing errors and helps in removing extra lines of code.</a:t>
            </a:r>
          </a:p>
          <a:p>
            <a:r>
              <a:rPr lang="en-US" sz="4000" b="1" dirty="0">
                <a:latin typeface="Times New Roman" panose="02020603050405020304" pitchFamily="18" charset="0"/>
                <a:cs typeface="Times New Roman" panose="02020603050405020304" pitchFamily="18" charset="0"/>
              </a:rPr>
              <a:t>Early Detection of Defects:</a:t>
            </a:r>
            <a:r>
              <a:rPr lang="en-US" sz="4000" dirty="0">
                <a:latin typeface="Times New Roman" panose="02020603050405020304" pitchFamily="18" charset="0"/>
                <a:cs typeface="Times New Roman" panose="02020603050405020304" pitchFamily="18" charset="0"/>
              </a:rPr>
              <a:t> It can start at an earlier stage as it doesn’t require any interface as in the case of black box testing.</a:t>
            </a:r>
          </a:p>
          <a:p>
            <a:endParaRPr lang="en-US" dirty="0"/>
          </a:p>
        </p:txBody>
      </p:sp>
    </p:spTree>
    <p:extLst>
      <p:ext uri="{BB962C8B-B14F-4D97-AF65-F5344CB8AC3E}">
        <p14:creationId xmlns:p14="http://schemas.microsoft.com/office/powerpoint/2010/main" val="423672112"/>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a:latin typeface="Times New Roman" panose="02020603050405020304" pitchFamily="18" charset="0"/>
                <a:cs typeface="Times New Roman" panose="02020603050405020304" pitchFamily="18" charset="0"/>
              </a:rPr>
              <a:t>Advantages of White Box </a:t>
            </a:r>
            <a:r>
              <a:rPr lang="en-US" sz="4400" b="1" dirty="0" smtClean="0">
                <a:latin typeface="Times New Roman" panose="02020603050405020304" pitchFamily="18" charset="0"/>
                <a:cs typeface="Times New Roman" panose="02020603050405020304" pitchFamily="18" charset="0"/>
              </a:rPr>
              <a:t>Testing Cont..</a:t>
            </a:r>
            <a:r>
              <a:rPr lang="en-US" sz="4400" b="1" dirty="0">
                <a:latin typeface="Times New Roman" panose="02020603050405020304" pitchFamily="18" charset="0"/>
                <a:cs typeface="Times New Roman" panose="02020603050405020304" pitchFamily="18" charset="0"/>
              </a:rPr>
              <a:t/>
            </a:r>
            <a:br>
              <a:rPr lang="en-US" sz="4400" b="1" dirty="0">
                <a:latin typeface="Times New Roman" panose="02020603050405020304" pitchFamily="18" charset="0"/>
                <a:cs typeface="Times New Roman" panose="02020603050405020304" pitchFamily="18" charset="0"/>
              </a:rPr>
            </a:br>
            <a:endParaRPr lang="en-US"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800" b="1" dirty="0" smtClean="0">
                <a:latin typeface="Times New Roman" panose="02020603050405020304" pitchFamily="18" charset="0"/>
                <a:cs typeface="Times New Roman" panose="02020603050405020304" pitchFamily="18" charset="0"/>
              </a:rPr>
              <a:t>Detection of Complex Defects:</a:t>
            </a:r>
            <a:r>
              <a:rPr lang="en-US" sz="2800" dirty="0" smtClean="0">
                <a:latin typeface="Times New Roman" panose="02020603050405020304" pitchFamily="18" charset="0"/>
                <a:cs typeface="Times New Roman" panose="02020603050405020304" pitchFamily="18" charset="0"/>
              </a:rPr>
              <a:t> Testers can identify defects that cannot be detected through other testing techniques.</a:t>
            </a:r>
          </a:p>
          <a:p>
            <a:r>
              <a:rPr lang="en-US" sz="2800" b="1" dirty="0" smtClean="0">
                <a:latin typeface="Times New Roman" panose="02020603050405020304" pitchFamily="18" charset="0"/>
                <a:cs typeface="Times New Roman" panose="02020603050405020304" pitchFamily="18" charset="0"/>
              </a:rPr>
              <a:t>Comprehensive </a:t>
            </a:r>
            <a:r>
              <a:rPr lang="en-US" sz="2800" b="1" dirty="0">
                <a:latin typeface="Times New Roman" panose="02020603050405020304" pitchFamily="18" charset="0"/>
                <a:cs typeface="Times New Roman" panose="02020603050405020304" pitchFamily="18" charset="0"/>
              </a:rPr>
              <a:t>Test Cases:</a:t>
            </a:r>
            <a:r>
              <a:rPr lang="en-US" sz="2800" dirty="0">
                <a:latin typeface="Times New Roman" panose="02020603050405020304" pitchFamily="18" charset="0"/>
                <a:cs typeface="Times New Roman" panose="02020603050405020304" pitchFamily="18" charset="0"/>
              </a:rPr>
              <a:t> Testers can create more comprehensive and effective test cases that cover all code paths.</a:t>
            </a:r>
          </a:p>
          <a:p>
            <a:endParaRPr lang="en-US" dirty="0"/>
          </a:p>
        </p:txBody>
      </p:sp>
    </p:spTree>
    <p:extLst>
      <p:ext uri="{BB962C8B-B14F-4D97-AF65-F5344CB8AC3E}">
        <p14:creationId xmlns:p14="http://schemas.microsoft.com/office/powerpoint/2010/main" val="4073964133"/>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rotWithShape="1">
          <a:blip r:embed="rId3">
            <a:extLst>
              <a:ext uri="{28A0092B-C50C-407E-A947-70E740481C1C}">
                <a14:useLocalDpi xmlns:a14="http://schemas.microsoft.com/office/drawing/2010/main" val="0"/>
              </a:ext>
            </a:extLst>
          </a:blip>
          <a:srcRect t="14918" b="19213"/>
          <a:stretch/>
        </p:blipFill>
        <p:spPr>
          <a:xfrm>
            <a:off x="1265383" y="240144"/>
            <a:ext cx="10173432" cy="5634182"/>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extLst>
      <p:ext uri="{BB962C8B-B14F-4D97-AF65-F5344CB8AC3E}">
        <p14:creationId xmlns:p14="http://schemas.microsoft.com/office/powerpoint/2010/main" val="3419100263"/>
      </p:ext>
    </p:extLst>
  </p:cSld>
  <p:clrMapOvr>
    <a:masterClrMapping/>
  </p:clrMapOvr>
  <mc:AlternateContent xmlns:mc="http://schemas.openxmlformats.org/markup-compatibility/2006">
    <mc:Choice xmlns:p14="http://schemas.microsoft.com/office/powerpoint/2010/main" Requires="p14">
      <p:transition spd="slow">
        <p14:gallery dir="l"/>
      </p:transition>
    </mc:Choice>
    <mc:Fallback>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b="1" dirty="0" smtClean="0">
                <a:latin typeface="Times New Roman" panose="02020603050405020304" pitchFamily="18" charset="0"/>
                <a:cs typeface="Times New Roman" panose="02020603050405020304" pitchFamily="18" charset="0"/>
              </a:rPr>
              <a:t>Disadvantages </a:t>
            </a:r>
            <a:r>
              <a:rPr lang="en-US" sz="4400" b="1" dirty="0">
                <a:latin typeface="Times New Roman" panose="02020603050405020304" pitchFamily="18" charset="0"/>
                <a:cs typeface="Times New Roman" panose="02020603050405020304" pitchFamily="18" charset="0"/>
              </a:rPr>
              <a:t>of White Box Testing</a:t>
            </a:r>
            <a:br>
              <a:rPr lang="en-US" sz="4400" b="1" dirty="0">
                <a:latin typeface="Times New Roman" panose="02020603050405020304" pitchFamily="18" charset="0"/>
                <a:cs typeface="Times New Roman" panose="02020603050405020304" pitchFamily="18" charset="0"/>
              </a:rPr>
            </a:br>
            <a:endParaRPr lang="en-US" sz="4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b="1" dirty="0">
                <a:latin typeface="Times New Roman" panose="02020603050405020304" pitchFamily="18" charset="0"/>
                <a:cs typeface="Times New Roman" panose="02020603050405020304" pitchFamily="18" charset="0"/>
              </a:rPr>
              <a:t>Programming Knowledge and Source Code Access:</a:t>
            </a:r>
            <a:r>
              <a:rPr lang="en-US" dirty="0">
                <a:latin typeface="Times New Roman" panose="02020603050405020304" pitchFamily="18" charset="0"/>
                <a:cs typeface="Times New Roman" panose="02020603050405020304" pitchFamily="18" charset="0"/>
              </a:rPr>
              <a:t> Testers need to have programming knowledge and access to the source code to perform tests.</a:t>
            </a:r>
          </a:p>
          <a:p>
            <a:r>
              <a:rPr lang="en-US" b="1" dirty="0">
                <a:latin typeface="Times New Roman" panose="02020603050405020304" pitchFamily="18" charset="0"/>
                <a:cs typeface="Times New Roman" panose="02020603050405020304" pitchFamily="18" charset="0"/>
              </a:rPr>
              <a:t>Overemphasis on Internal Workings:</a:t>
            </a:r>
            <a:r>
              <a:rPr lang="en-US" dirty="0">
                <a:latin typeface="Times New Roman" panose="02020603050405020304" pitchFamily="18" charset="0"/>
                <a:cs typeface="Times New Roman" panose="02020603050405020304" pitchFamily="18" charset="0"/>
              </a:rPr>
              <a:t> Testers may focus too much on the internal workings of the software and may miss external issues.</a:t>
            </a:r>
          </a:p>
          <a:p>
            <a:r>
              <a:rPr lang="en-US" b="1" dirty="0">
                <a:latin typeface="Times New Roman" panose="02020603050405020304" pitchFamily="18" charset="0"/>
                <a:cs typeface="Times New Roman" panose="02020603050405020304" pitchFamily="18" charset="0"/>
              </a:rPr>
              <a:t>Dependency on Tester Expertise:</a:t>
            </a:r>
            <a:r>
              <a:rPr lang="en-US" dirty="0">
                <a:latin typeface="Times New Roman" panose="02020603050405020304" pitchFamily="18" charset="0"/>
                <a:cs typeface="Times New Roman" panose="02020603050405020304" pitchFamily="18" charset="0"/>
              </a:rPr>
              <a:t> Testers are required to have in-depth knowledge of the code and programming language as opposed to black-box testing.</a:t>
            </a:r>
          </a:p>
          <a:p>
            <a:r>
              <a:rPr lang="en-US" b="1" dirty="0">
                <a:latin typeface="Times New Roman" panose="02020603050405020304" pitchFamily="18" charset="0"/>
                <a:cs typeface="Times New Roman" panose="02020603050405020304" pitchFamily="18" charset="0"/>
              </a:rPr>
              <a:t>Inability to Detect Missing Functionalities:</a:t>
            </a:r>
            <a:r>
              <a:rPr lang="en-US" dirty="0">
                <a:latin typeface="Times New Roman" panose="02020603050405020304" pitchFamily="18" charset="0"/>
                <a:cs typeface="Times New Roman" panose="02020603050405020304" pitchFamily="18" charset="0"/>
              </a:rPr>
              <a:t> Missing functionalities cannot be detected as the code that exists is tested.</a:t>
            </a:r>
          </a:p>
        </p:txBody>
      </p:sp>
    </p:spTree>
    <p:extLst>
      <p:ext uri="{BB962C8B-B14F-4D97-AF65-F5344CB8AC3E}">
        <p14:creationId xmlns:p14="http://schemas.microsoft.com/office/powerpoint/2010/main" val="4260803487"/>
      </p:ext>
    </p:extLst>
  </p:cSld>
  <p:clrMapOvr>
    <a:masterClrMapping/>
  </p:clrMapOvr>
  <mc:AlternateContent xmlns:mc="http://schemas.openxmlformats.org/markup-compatibility/2006">
    <mc:Choice xmlns:p14="http://schemas.microsoft.com/office/powerpoint/2010/main" Requires="p14">
      <p:transition spd="med">
        <p14:prism/>
      </p:transition>
    </mc:Choice>
    <mc:Fallback>
      <p:transition spd="med">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duotone>
              <a:schemeClr val="bg2">
                <a:shade val="76000"/>
                <a:satMod val="180000"/>
              </a:schemeClr>
              <a:schemeClr val="bg2">
                <a:tint val="80000"/>
                <a:satMod val="120000"/>
                <a:lumMod val="180000"/>
              </a:schemeClr>
            </a:duotone>
            <a:lum/>
          </a:blip>
          <a:srcRect/>
          <a:stretch>
            <a:fillRect/>
          </a:stretch>
        </a:blipFill>
        <a:effectLst/>
      </p:bgPr>
    </p:bg>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27200" y="469172"/>
            <a:ext cx="10233891" cy="6144475"/>
          </a:xfrm>
        </p:spPr>
      </p:pic>
    </p:spTree>
    <p:extLst>
      <p:ext uri="{BB962C8B-B14F-4D97-AF65-F5344CB8AC3E}">
        <p14:creationId xmlns:p14="http://schemas.microsoft.com/office/powerpoint/2010/main" val="398027832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286</TotalTime>
  <Words>2376</Words>
  <Application>Microsoft Office PowerPoint</Application>
  <PresentationFormat>Widescreen</PresentationFormat>
  <Paragraphs>298</Paragraphs>
  <Slides>37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Corbel</vt:lpstr>
      <vt:lpstr>Times New Roman</vt:lpstr>
      <vt:lpstr>Parallax</vt:lpstr>
      <vt:lpstr>White Box Testing</vt:lpstr>
      <vt:lpstr>Group Members</vt:lpstr>
      <vt:lpstr>What is White Box Testing?</vt:lpstr>
      <vt:lpstr>What is White Box Testing? Cont..</vt:lpstr>
      <vt:lpstr>PowerPoint Presentation</vt:lpstr>
      <vt:lpstr>What Does White Box Testing Focus On? </vt:lpstr>
      <vt:lpstr>What Does White Box Testing Focus On? Cont..</vt:lpstr>
      <vt:lpstr>PowerPoint Presentation</vt:lpstr>
      <vt:lpstr>Types Of White Box Testing </vt:lpstr>
      <vt:lpstr>Types Of White Box Testing Cont.. </vt:lpstr>
      <vt:lpstr>Types Of White Box Testing Cont.. </vt:lpstr>
      <vt:lpstr>PowerPoint Presentation</vt:lpstr>
      <vt:lpstr>White Box Testing Techniques </vt:lpstr>
      <vt:lpstr>White Box Testing Techniques Cont..</vt:lpstr>
      <vt:lpstr>White Box Testing Techniques Cont.. </vt:lpstr>
      <vt:lpstr>White Box Testing Techniques Cont..</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White Box Testing Techniques Cont.. </vt:lpstr>
      <vt:lpstr>PowerPoint Presentation</vt:lpstr>
      <vt:lpstr>Advantages of White Box Testing </vt:lpstr>
      <vt:lpstr>Advantages of White Box Testing Cont.. </vt:lpstr>
      <vt:lpstr>PowerPoint Presentation</vt:lpstr>
      <vt:lpstr>Disadvantages of White Box Testing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Box Testing</dc:title>
  <dc:creator>Moiz khan</dc:creator>
  <cp:lastModifiedBy>Moiz khan</cp:lastModifiedBy>
  <cp:revision>32</cp:revision>
  <dcterms:created xsi:type="dcterms:W3CDTF">2025-05-11T21:19:08Z</dcterms:created>
  <dcterms:modified xsi:type="dcterms:W3CDTF">2025-05-12T02:06:01Z</dcterms:modified>
</cp:coreProperties>
</file>