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76" r:id="rId3"/>
    <p:sldId id="258" r:id="rId4"/>
    <p:sldId id="259" r:id="rId5"/>
    <p:sldId id="267" r:id="rId6"/>
    <p:sldId id="268" r:id="rId7"/>
    <p:sldId id="269" r:id="rId8"/>
    <p:sldId id="333" r:id="rId9"/>
    <p:sldId id="334" r:id="rId10"/>
    <p:sldId id="335" r:id="rId11"/>
    <p:sldId id="336" r:id="rId12"/>
    <p:sldId id="337" r:id="rId13"/>
    <p:sldId id="260" r:id="rId14"/>
    <p:sldId id="284" r:id="rId15"/>
    <p:sldId id="295" r:id="rId16"/>
    <p:sldId id="328" r:id="rId17"/>
    <p:sldId id="285" r:id="rId18"/>
    <p:sldId id="286" r:id="rId19"/>
    <p:sldId id="287" r:id="rId20"/>
    <p:sldId id="294" r:id="rId21"/>
    <p:sldId id="316" r:id="rId22"/>
    <p:sldId id="296" r:id="rId23"/>
    <p:sldId id="297" r:id="rId24"/>
    <p:sldId id="318" r:id="rId25"/>
    <p:sldId id="301" r:id="rId26"/>
    <p:sldId id="329" r:id="rId27"/>
    <p:sldId id="330" r:id="rId28"/>
    <p:sldId id="332" r:id="rId29"/>
    <p:sldId id="319" r:id="rId30"/>
    <p:sldId id="303" r:id="rId31"/>
    <p:sldId id="304" r:id="rId32"/>
    <p:sldId id="320" r:id="rId33"/>
    <p:sldId id="321" r:id="rId34"/>
    <p:sldId id="263" r:id="rId35"/>
    <p:sldId id="311" r:id="rId36"/>
    <p:sldId id="324" r:id="rId37"/>
    <p:sldId id="323" r:id="rId38"/>
    <p:sldId id="312" r:id="rId39"/>
    <p:sldId id="274" r:id="rId40"/>
    <p:sldId id="279" r:id="rId41"/>
    <p:sldId id="280" r:id="rId42"/>
    <p:sldId id="281" r:id="rId43"/>
    <p:sldId id="282" r:id="rId44"/>
    <p:sldId id="314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135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ia shabbir" userId="d9738f4059b37fcf" providerId="LiveId" clId="{425A13F4-D831-4D98-83AB-6690BF5EE586}"/>
    <pc:docChg chg="undo custSel addSld delSld modSld">
      <pc:chgData name="saadia shabbir" userId="d9738f4059b37fcf" providerId="LiveId" clId="{425A13F4-D831-4D98-83AB-6690BF5EE586}" dt="2023-02-21T17:27:11.537" v="37" actId="47"/>
      <pc:docMkLst>
        <pc:docMk/>
      </pc:docMkLst>
      <pc:sldChg chg="add del">
        <pc:chgData name="saadia shabbir" userId="d9738f4059b37fcf" providerId="LiveId" clId="{425A13F4-D831-4D98-83AB-6690BF5EE586}" dt="2023-02-21T17:27:11.537" v="37" actId="47"/>
        <pc:sldMkLst>
          <pc:docMk/>
          <pc:sldMk cId="0" sldId="263"/>
        </pc:sldMkLst>
      </pc:sldChg>
      <pc:sldChg chg="add del">
        <pc:chgData name="saadia shabbir" userId="d9738f4059b37fcf" providerId="LiveId" clId="{425A13F4-D831-4D98-83AB-6690BF5EE586}" dt="2023-02-21T17:27:11.022" v="36" actId="47"/>
        <pc:sldMkLst>
          <pc:docMk/>
          <pc:sldMk cId="0" sldId="274"/>
        </pc:sldMkLst>
      </pc:sldChg>
      <pc:sldChg chg="del">
        <pc:chgData name="saadia shabbir" userId="d9738f4059b37fcf" providerId="LiveId" clId="{425A13F4-D831-4D98-83AB-6690BF5EE586}" dt="2023-02-21T17:22:54.127" v="9" actId="47"/>
        <pc:sldMkLst>
          <pc:docMk/>
          <pc:sldMk cId="3031444777" sldId="278"/>
        </pc:sldMkLst>
      </pc:sldChg>
      <pc:sldChg chg="modSp add del">
        <pc:chgData name="saadia shabbir" userId="d9738f4059b37fcf" providerId="LiveId" clId="{425A13F4-D831-4D98-83AB-6690BF5EE586}" dt="2023-02-21T17:27:10.584" v="35" actId="47"/>
        <pc:sldMkLst>
          <pc:docMk/>
          <pc:sldMk cId="1205616361" sldId="279"/>
        </pc:sldMkLst>
        <pc:spChg chg="mod">
          <ac:chgData name="saadia shabbir" userId="d9738f4059b37fcf" providerId="LiveId" clId="{425A13F4-D831-4D98-83AB-6690BF5EE586}" dt="2023-02-21T17:23:00.189" v="11" actId="20577"/>
          <ac:spMkLst>
            <pc:docMk/>
            <pc:sldMk cId="1205616361" sldId="279"/>
            <ac:spMk id="2" creationId="{49FDC7E9-ED2B-471D-A491-3C28717D6CAA}"/>
          </ac:spMkLst>
        </pc:spChg>
      </pc:sldChg>
      <pc:sldChg chg="modSp add del">
        <pc:chgData name="saadia shabbir" userId="d9738f4059b37fcf" providerId="LiveId" clId="{425A13F4-D831-4D98-83AB-6690BF5EE586}" dt="2023-02-21T17:27:10.303" v="34" actId="47"/>
        <pc:sldMkLst>
          <pc:docMk/>
          <pc:sldMk cId="318902010" sldId="280"/>
        </pc:sldMkLst>
        <pc:spChg chg="mod">
          <ac:chgData name="saadia shabbir" userId="d9738f4059b37fcf" providerId="LiveId" clId="{425A13F4-D831-4D98-83AB-6690BF5EE586}" dt="2023-02-21T17:23:04.314" v="13" actId="20577"/>
          <ac:spMkLst>
            <pc:docMk/>
            <pc:sldMk cId="318902010" sldId="280"/>
            <ac:spMk id="2" creationId="{6544DCA6-CB22-4185-A9ED-D42A2DA493BC}"/>
          </ac:spMkLst>
        </pc:spChg>
      </pc:sldChg>
      <pc:sldChg chg="modSp add del">
        <pc:chgData name="saadia shabbir" userId="d9738f4059b37fcf" providerId="LiveId" clId="{425A13F4-D831-4D98-83AB-6690BF5EE586}" dt="2023-02-21T17:27:10.069" v="33" actId="47"/>
        <pc:sldMkLst>
          <pc:docMk/>
          <pc:sldMk cId="0" sldId="281"/>
        </pc:sldMkLst>
        <pc:spChg chg="mod">
          <ac:chgData name="saadia shabbir" userId="d9738f4059b37fcf" providerId="LiveId" clId="{425A13F4-D831-4D98-83AB-6690BF5EE586}" dt="2023-02-21T17:23:10.924" v="15" actId="20577"/>
          <ac:spMkLst>
            <pc:docMk/>
            <pc:sldMk cId="0" sldId="281"/>
            <ac:spMk id="3" creationId="{CEA16225-9F37-47AD-B3D0-DE2DC0791387}"/>
          </ac:spMkLst>
        </pc:spChg>
      </pc:sldChg>
      <pc:sldChg chg="modSp add del">
        <pc:chgData name="saadia shabbir" userId="d9738f4059b37fcf" providerId="LiveId" clId="{425A13F4-D831-4D98-83AB-6690BF5EE586}" dt="2023-02-21T17:27:09.787" v="32" actId="47"/>
        <pc:sldMkLst>
          <pc:docMk/>
          <pc:sldMk cId="0" sldId="282"/>
        </pc:sldMkLst>
        <pc:spChg chg="mod">
          <ac:chgData name="saadia shabbir" userId="d9738f4059b37fcf" providerId="LiveId" clId="{425A13F4-D831-4D98-83AB-6690BF5EE586}" dt="2023-02-21T17:23:18.767" v="21" actId="20577"/>
          <ac:spMkLst>
            <pc:docMk/>
            <pc:sldMk cId="0" sldId="282"/>
            <ac:spMk id="3" creationId="{381EEC66-B9C2-470E-BD1F-B413AF467F06}"/>
          </ac:spMkLst>
        </pc:spChg>
      </pc:sldChg>
      <pc:sldChg chg="modSp">
        <pc:chgData name="saadia shabbir" userId="d9738f4059b37fcf" providerId="LiveId" clId="{425A13F4-D831-4D98-83AB-6690BF5EE586}" dt="2023-02-14T17:21:52.989" v="3" actId="5793"/>
        <pc:sldMkLst>
          <pc:docMk/>
          <pc:sldMk cId="0" sldId="284"/>
        </pc:sldMkLst>
        <pc:spChg chg="mod">
          <ac:chgData name="saadia shabbir" userId="d9738f4059b37fcf" providerId="LiveId" clId="{425A13F4-D831-4D98-83AB-6690BF5EE586}" dt="2023-02-14T17:21:52.989" v="3" actId="5793"/>
          <ac:spMkLst>
            <pc:docMk/>
            <pc:sldMk cId="0" sldId="284"/>
            <ac:spMk id="3" creationId="{00000000-0000-0000-0000-000000000000}"/>
          </ac:spMkLst>
        </pc:spChg>
      </pc:sldChg>
      <pc:sldChg chg="modSp">
        <pc:chgData name="saadia shabbir" userId="d9738f4059b37fcf" providerId="LiveId" clId="{425A13F4-D831-4D98-83AB-6690BF5EE586}" dt="2023-02-14T17:22:14.018" v="4" actId="6549"/>
        <pc:sldMkLst>
          <pc:docMk/>
          <pc:sldMk cId="0" sldId="290"/>
        </pc:sldMkLst>
        <pc:spChg chg="mod">
          <ac:chgData name="saadia shabbir" userId="d9738f4059b37fcf" providerId="LiveId" clId="{425A13F4-D831-4D98-83AB-6690BF5EE586}" dt="2023-02-14T17:22:14.018" v="4" actId="6549"/>
          <ac:spMkLst>
            <pc:docMk/>
            <pc:sldMk cId="0" sldId="290"/>
            <ac:spMk id="5" creationId="{00000000-0000-0000-0000-000000000000}"/>
          </ac:spMkLst>
        </pc:spChg>
      </pc:sldChg>
      <pc:sldChg chg="del">
        <pc:chgData name="saadia shabbir" userId="d9738f4059b37fcf" providerId="LiveId" clId="{425A13F4-D831-4D98-83AB-6690BF5EE586}" dt="2023-02-21T17:22:52.502" v="8" actId="47"/>
        <pc:sldMkLst>
          <pc:docMk/>
          <pc:sldMk cId="3353652975" sldId="313"/>
        </pc:sldMkLst>
      </pc:sldChg>
      <pc:sldChg chg="modSp add del">
        <pc:chgData name="saadia shabbir" userId="d9738f4059b37fcf" providerId="LiveId" clId="{425A13F4-D831-4D98-83AB-6690BF5EE586}" dt="2023-02-21T17:27:09.584" v="31" actId="47"/>
        <pc:sldMkLst>
          <pc:docMk/>
          <pc:sldMk cId="0" sldId="314"/>
        </pc:sldMkLst>
        <pc:spChg chg="mod">
          <ac:chgData name="saadia shabbir" userId="d9738f4059b37fcf" providerId="LiveId" clId="{425A13F4-D831-4D98-83AB-6690BF5EE586}" dt="2023-02-21T17:23:25.209" v="23" actId="20577"/>
          <ac:spMkLst>
            <pc:docMk/>
            <pc:sldMk cId="0" sldId="314"/>
            <ac:spMk id="3" creationId="{381EEC66-B9C2-470E-BD1F-B413AF467F06}"/>
          </ac:spMkLst>
        </pc:spChg>
      </pc:sldChg>
      <pc:sldChg chg="modSp">
        <pc:chgData name="saadia shabbir" userId="d9738f4059b37fcf" providerId="LiveId" clId="{425A13F4-D831-4D98-83AB-6690BF5EE586}" dt="2023-02-21T17:16:43.011" v="7" actId="27636"/>
        <pc:sldMkLst>
          <pc:docMk/>
          <pc:sldMk cId="1075419067" sldId="321"/>
        </pc:sldMkLst>
        <pc:spChg chg="mod">
          <ac:chgData name="saadia shabbir" userId="d9738f4059b37fcf" providerId="LiveId" clId="{425A13F4-D831-4D98-83AB-6690BF5EE586}" dt="2023-02-21T17:16:43.011" v="7" actId="27636"/>
          <ac:spMkLst>
            <pc:docMk/>
            <pc:sldMk cId="1075419067" sldId="321"/>
            <ac:spMk id="3" creationId="{A28A8017-62FC-4E73-B539-64FE9E707B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632AF-44B6-477D-95A6-DF6FD076082C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5F37D-04D9-4401-88E7-F5A6575549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6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B157197-7D92-4122-9F39-97C903C60D97}" type="datetimeFigureOut">
              <a:rPr lang="en-US" smtClean="0"/>
              <a:pPr/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59B5EEA-355B-4A59-A57D-8993CB2F0B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lbayan.a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fsu.edu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.pk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engineering lecture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Web terminologies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URL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URL: Uniform Resource Locator</a:t>
            </a:r>
            <a:endParaRPr lang="en-US" dirty="0"/>
          </a:p>
          <a:p>
            <a:r>
              <a:rPr lang="en-US" dirty="0"/>
              <a:t>It stands for the address of a website.</a:t>
            </a:r>
          </a:p>
          <a:p>
            <a:pPr lvl="1"/>
            <a:r>
              <a:rPr lang="en-US" dirty="0" err="1"/>
              <a:t>Example:The</a:t>
            </a:r>
            <a:r>
              <a:rPr lang="en-US" dirty="0"/>
              <a:t> URL of </a:t>
            </a:r>
            <a:r>
              <a:rPr lang="en-US" dirty="0" err="1"/>
              <a:t>Albayan</a:t>
            </a:r>
            <a:r>
              <a:rPr lang="en-US" dirty="0"/>
              <a:t> newspaper is</a:t>
            </a:r>
          </a:p>
          <a:p>
            <a:pPr lvl="2"/>
            <a:r>
              <a:rPr lang="en-US" dirty="0">
                <a:hlinkClick r:id="rId2"/>
              </a:rPr>
              <a:t>http://www.albayan.ae</a:t>
            </a:r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and </a:t>
            </a:r>
            <a:r>
              <a:rPr lang="en-US" dirty="0" err="1"/>
              <a:t>ip</a:t>
            </a:r>
            <a:r>
              <a:rPr lang="en-US" dirty="0"/>
              <a:t>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Each Web server has a unique IP address and a domain name.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>
                <a:hlinkClick r:id="rId2"/>
              </a:rPr>
              <a:t>URL:http://www.google.com</a:t>
            </a:r>
            <a:endParaRPr lang="en-US" dirty="0"/>
          </a:p>
          <a:p>
            <a:pPr lvl="1"/>
            <a:r>
              <a:rPr lang="en-US" dirty="0"/>
              <a:t>Domain Name of the web server: google.com</a:t>
            </a:r>
          </a:p>
          <a:p>
            <a:pPr lvl="1"/>
            <a:r>
              <a:rPr lang="en-US" dirty="0"/>
              <a:t>IP Address of the web server:209:85:148:108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Parts of domain name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381000" y="914401"/>
            <a:ext cx="8458200" cy="506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838200" y="1143000"/>
            <a:ext cx="3962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5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code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219200"/>
            <a:ext cx="82296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201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code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219200"/>
            <a:ext cx="82296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983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6" y="597492"/>
            <a:ext cx="46983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60" dirty="0">
                <a:solidFill>
                  <a:srgbClr val="F45E61"/>
                </a:solidFill>
                <a:latin typeface="Times New Roman"/>
                <a:cs typeface="Times New Roman"/>
              </a:rPr>
              <a:t>How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200" dirty="0">
                <a:solidFill>
                  <a:srgbClr val="F45E61"/>
                </a:solidFill>
                <a:latin typeface="Times New Roman"/>
                <a:cs typeface="Times New Roman"/>
              </a:rPr>
              <a:t>Does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35" dirty="0">
                <a:solidFill>
                  <a:srgbClr val="F45E61"/>
                </a:solidFill>
                <a:latin typeface="Times New Roman"/>
                <a:cs typeface="Times New Roman"/>
              </a:rPr>
              <a:t>the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0" dirty="0">
                <a:solidFill>
                  <a:srgbClr val="F45E61"/>
                </a:solidFill>
                <a:latin typeface="Times New Roman"/>
                <a:cs typeface="Times New Roman"/>
              </a:rPr>
              <a:t>Web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5" dirty="0">
                <a:solidFill>
                  <a:srgbClr val="F45E61"/>
                </a:solidFill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273" y="1621807"/>
            <a:ext cx="548068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1.	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type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address(URL)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address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bar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501" y="2149500"/>
            <a:ext cx="8952865" cy="4428913"/>
            <a:chOff x="90500" y="1612124"/>
            <a:chExt cx="8952865" cy="3321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25" y="1621650"/>
              <a:ext cx="8933400" cy="3302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5262" y="1616887"/>
              <a:ext cx="8943340" cy="3312160"/>
            </a:xfrm>
            <a:custGeom>
              <a:avLst/>
              <a:gdLst/>
              <a:ahLst/>
              <a:cxnLst/>
              <a:rect l="l" t="t" r="r" b="b"/>
              <a:pathLst>
                <a:path w="8943340" h="3312160">
                  <a:moveTo>
                    <a:pt x="0" y="0"/>
                  </a:moveTo>
                  <a:lnTo>
                    <a:pt x="8942925" y="0"/>
                  </a:lnTo>
                  <a:lnTo>
                    <a:pt x="8942925" y="3312125"/>
                  </a:lnTo>
                  <a:lnTo>
                    <a:pt x="0" y="33121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002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686912"/>
            <a:ext cx="46983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60" dirty="0">
                <a:solidFill>
                  <a:srgbClr val="F45E61"/>
                </a:solidFill>
                <a:latin typeface="Times New Roman"/>
                <a:cs typeface="Times New Roman"/>
              </a:rPr>
              <a:t>How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200" dirty="0">
                <a:solidFill>
                  <a:srgbClr val="F45E61"/>
                </a:solidFill>
                <a:latin typeface="Times New Roman"/>
                <a:cs typeface="Times New Roman"/>
              </a:rPr>
              <a:t>Does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35" dirty="0">
                <a:solidFill>
                  <a:srgbClr val="F45E61"/>
                </a:solidFill>
                <a:latin typeface="Times New Roman"/>
                <a:cs typeface="Times New Roman"/>
              </a:rPr>
              <a:t>the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0" dirty="0">
                <a:solidFill>
                  <a:srgbClr val="F45E61"/>
                </a:solidFill>
                <a:latin typeface="Times New Roman"/>
                <a:cs typeface="Times New Roman"/>
              </a:rPr>
              <a:t>Web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5" dirty="0">
                <a:solidFill>
                  <a:srgbClr val="F45E61"/>
                </a:solidFill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621807"/>
            <a:ext cx="7800340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2.	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computer(client)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performs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5E686C"/>
                </a:solidFill>
                <a:latin typeface="Tahoma"/>
                <a:cs typeface="Tahoma"/>
              </a:rPr>
              <a:t>DNS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lookup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website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has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unique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code,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IP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address,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phone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number.</a:t>
            </a:r>
            <a:endParaRPr sz="180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DNS,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Domain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Name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Servers,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phone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books.</a:t>
            </a:r>
            <a:endParaRPr sz="180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5E686C"/>
                </a:solidFill>
                <a:latin typeface="Tahoma"/>
                <a:cs typeface="Tahoma"/>
              </a:rPr>
              <a:t>DNS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servers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connect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server.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2275" y="3886233"/>
            <a:ext cx="1619399" cy="26574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50176" y="3476633"/>
            <a:ext cx="4565015" cy="3337560"/>
            <a:chOff x="1050175" y="2607475"/>
            <a:chExt cx="4565015" cy="25031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175" y="2607475"/>
              <a:ext cx="2502675" cy="25026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02824" y="3024199"/>
              <a:ext cx="2107565" cy="814705"/>
            </a:xfrm>
            <a:custGeom>
              <a:avLst/>
              <a:gdLst/>
              <a:ahLst/>
              <a:cxnLst/>
              <a:rect l="l" t="t" r="r" b="b"/>
              <a:pathLst>
                <a:path w="2107565" h="814704">
                  <a:moveTo>
                    <a:pt x="25452" y="610874"/>
                  </a:moveTo>
                  <a:lnTo>
                    <a:pt x="0" y="610874"/>
                  </a:lnTo>
                  <a:lnTo>
                    <a:pt x="0" y="203624"/>
                  </a:lnTo>
                  <a:lnTo>
                    <a:pt x="25452" y="203624"/>
                  </a:lnTo>
                  <a:lnTo>
                    <a:pt x="25452" y="610874"/>
                  </a:lnTo>
                  <a:close/>
                </a:path>
                <a:path w="2107565" h="814704">
                  <a:moveTo>
                    <a:pt x="101812" y="610874"/>
                  </a:moveTo>
                  <a:lnTo>
                    <a:pt x="50906" y="610874"/>
                  </a:lnTo>
                  <a:lnTo>
                    <a:pt x="50906" y="203624"/>
                  </a:lnTo>
                  <a:lnTo>
                    <a:pt x="101812" y="203624"/>
                  </a:lnTo>
                  <a:lnTo>
                    <a:pt x="101812" y="610874"/>
                  </a:lnTo>
                  <a:close/>
                </a:path>
                <a:path w="2107565" h="814704">
                  <a:moveTo>
                    <a:pt x="1700249" y="814499"/>
                  </a:moveTo>
                  <a:lnTo>
                    <a:pt x="1700249" y="610874"/>
                  </a:lnTo>
                  <a:lnTo>
                    <a:pt x="127265" y="610874"/>
                  </a:lnTo>
                  <a:lnTo>
                    <a:pt x="127265" y="203624"/>
                  </a:lnTo>
                  <a:lnTo>
                    <a:pt x="1700249" y="203624"/>
                  </a:lnTo>
                  <a:lnTo>
                    <a:pt x="1700249" y="0"/>
                  </a:lnTo>
                  <a:lnTo>
                    <a:pt x="2107499" y="407249"/>
                  </a:lnTo>
                  <a:lnTo>
                    <a:pt x="1700249" y="8144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2824" y="3024199"/>
              <a:ext cx="2107565" cy="814705"/>
            </a:xfrm>
            <a:custGeom>
              <a:avLst/>
              <a:gdLst/>
              <a:ahLst/>
              <a:cxnLst/>
              <a:rect l="l" t="t" r="r" b="b"/>
              <a:pathLst>
                <a:path w="2107565" h="814704">
                  <a:moveTo>
                    <a:pt x="0" y="203624"/>
                  </a:moveTo>
                  <a:lnTo>
                    <a:pt x="25452" y="203624"/>
                  </a:lnTo>
                  <a:lnTo>
                    <a:pt x="25452" y="610874"/>
                  </a:lnTo>
                  <a:lnTo>
                    <a:pt x="0" y="610874"/>
                  </a:lnTo>
                  <a:lnTo>
                    <a:pt x="0" y="203624"/>
                  </a:lnTo>
                  <a:close/>
                </a:path>
                <a:path w="2107565" h="814704">
                  <a:moveTo>
                    <a:pt x="50906" y="203624"/>
                  </a:moveTo>
                  <a:lnTo>
                    <a:pt x="101812" y="203624"/>
                  </a:lnTo>
                  <a:lnTo>
                    <a:pt x="101812" y="610874"/>
                  </a:lnTo>
                  <a:lnTo>
                    <a:pt x="50906" y="610874"/>
                  </a:lnTo>
                  <a:lnTo>
                    <a:pt x="50906" y="203624"/>
                  </a:lnTo>
                  <a:close/>
                </a:path>
                <a:path w="2107565" h="814704">
                  <a:moveTo>
                    <a:pt x="127265" y="203624"/>
                  </a:moveTo>
                  <a:lnTo>
                    <a:pt x="1700249" y="203624"/>
                  </a:lnTo>
                  <a:lnTo>
                    <a:pt x="1700249" y="0"/>
                  </a:lnTo>
                  <a:lnTo>
                    <a:pt x="2107499" y="407249"/>
                  </a:lnTo>
                  <a:lnTo>
                    <a:pt x="1700249" y="814499"/>
                  </a:lnTo>
                  <a:lnTo>
                    <a:pt x="1700249" y="610874"/>
                  </a:lnTo>
                  <a:lnTo>
                    <a:pt x="127265" y="610874"/>
                  </a:lnTo>
                  <a:lnTo>
                    <a:pt x="127265" y="2036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59701" y="4823941"/>
            <a:ext cx="7359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45E61"/>
                </a:solidFill>
                <a:latin typeface="Arial"/>
                <a:cs typeface="Arial"/>
              </a:rPr>
              <a:t>DNS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" dirty="0">
                <a:solidFill>
                  <a:srgbClr val="F45E61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3116" y="4409151"/>
            <a:ext cx="10433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  <a:hlinkClick r:id="rId4"/>
              </a:rPr>
              <a:t>www.fsu.edu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26637" y="5315116"/>
            <a:ext cx="2117090" cy="1098973"/>
            <a:chOff x="3426637" y="3986337"/>
            <a:chExt cx="2117090" cy="824230"/>
          </a:xfrm>
        </p:grpSpPr>
        <p:sp>
          <p:nvSpPr>
            <p:cNvPr id="12" name="object 12"/>
            <p:cNvSpPr/>
            <p:nvPr/>
          </p:nvSpPr>
          <p:spPr>
            <a:xfrm>
              <a:off x="3431399" y="3991099"/>
              <a:ext cx="2107565" cy="814705"/>
            </a:xfrm>
            <a:custGeom>
              <a:avLst/>
              <a:gdLst/>
              <a:ahLst/>
              <a:cxnLst/>
              <a:rect l="l" t="t" r="r" b="b"/>
              <a:pathLst>
                <a:path w="2107565" h="814704">
                  <a:moveTo>
                    <a:pt x="2107499" y="610874"/>
                  </a:moveTo>
                  <a:lnTo>
                    <a:pt x="2082046" y="610874"/>
                  </a:lnTo>
                  <a:lnTo>
                    <a:pt x="2082046" y="203624"/>
                  </a:lnTo>
                  <a:lnTo>
                    <a:pt x="2107499" y="203624"/>
                  </a:lnTo>
                  <a:lnTo>
                    <a:pt x="2107499" y="610874"/>
                  </a:lnTo>
                  <a:close/>
                </a:path>
                <a:path w="2107565" h="814704">
                  <a:moveTo>
                    <a:pt x="2056593" y="610874"/>
                  </a:moveTo>
                  <a:lnTo>
                    <a:pt x="2005687" y="610874"/>
                  </a:lnTo>
                  <a:lnTo>
                    <a:pt x="2005687" y="203624"/>
                  </a:lnTo>
                  <a:lnTo>
                    <a:pt x="2056593" y="203624"/>
                  </a:lnTo>
                  <a:lnTo>
                    <a:pt x="2056593" y="610874"/>
                  </a:lnTo>
                  <a:close/>
                </a:path>
                <a:path w="2107565" h="814704">
                  <a:moveTo>
                    <a:pt x="407249" y="814499"/>
                  </a:moveTo>
                  <a:lnTo>
                    <a:pt x="0" y="407249"/>
                  </a:lnTo>
                  <a:lnTo>
                    <a:pt x="407249" y="0"/>
                  </a:lnTo>
                  <a:lnTo>
                    <a:pt x="407249" y="203624"/>
                  </a:lnTo>
                  <a:lnTo>
                    <a:pt x="1980234" y="203624"/>
                  </a:lnTo>
                  <a:lnTo>
                    <a:pt x="1980234" y="610874"/>
                  </a:lnTo>
                  <a:lnTo>
                    <a:pt x="407249" y="610874"/>
                  </a:lnTo>
                  <a:lnTo>
                    <a:pt x="407249" y="8144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31399" y="3991099"/>
              <a:ext cx="2107565" cy="814705"/>
            </a:xfrm>
            <a:custGeom>
              <a:avLst/>
              <a:gdLst/>
              <a:ahLst/>
              <a:cxnLst/>
              <a:rect l="l" t="t" r="r" b="b"/>
              <a:pathLst>
                <a:path w="2107565" h="814704">
                  <a:moveTo>
                    <a:pt x="2107499" y="203624"/>
                  </a:moveTo>
                  <a:lnTo>
                    <a:pt x="2082046" y="203624"/>
                  </a:lnTo>
                  <a:lnTo>
                    <a:pt x="2082046" y="610874"/>
                  </a:lnTo>
                  <a:lnTo>
                    <a:pt x="2107499" y="610874"/>
                  </a:lnTo>
                  <a:lnTo>
                    <a:pt x="2107499" y="203624"/>
                  </a:lnTo>
                  <a:close/>
                </a:path>
                <a:path w="2107565" h="814704">
                  <a:moveTo>
                    <a:pt x="2056593" y="203624"/>
                  </a:moveTo>
                  <a:lnTo>
                    <a:pt x="2005687" y="203624"/>
                  </a:lnTo>
                  <a:lnTo>
                    <a:pt x="2005687" y="610874"/>
                  </a:lnTo>
                  <a:lnTo>
                    <a:pt x="2056593" y="610874"/>
                  </a:lnTo>
                  <a:lnTo>
                    <a:pt x="2056593" y="203624"/>
                  </a:lnTo>
                  <a:close/>
                </a:path>
                <a:path w="2107565" h="814704">
                  <a:moveTo>
                    <a:pt x="1980234" y="203624"/>
                  </a:moveTo>
                  <a:lnTo>
                    <a:pt x="407249" y="203624"/>
                  </a:lnTo>
                  <a:lnTo>
                    <a:pt x="407249" y="0"/>
                  </a:lnTo>
                  <a:lnTo>
                    <a:pt x="0" y="407249"/>
                  </a:lnTo>
                  <a:lnTo>
                    <a:pt x="407249" y="814499"/>
                  </a:lnTo>
                  <a:lnTo>
                    <a:pt x="407249" y="610874"/>
                  </a:lnTo>
                  <a:lnTo>
                    <a:pt x="1980234" y="610874"/>
                  </a:lnTo>
                  <a:lnTo>
                    <a:pt x="1980234" y="2036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08050" y="5698351"/>
            <a:ext cx="1261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146.201.111.62</a:t>
            </a:r>
            <a:endParaRPr sz="1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3802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686912"/>
            <a:ext cx="46983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60" dirty="0">
                <a:solidFill>
                  <a:srgbClr val="F45E61"/>
                </a:solidFill>
                <a:latin typeface="Times New Roman"/>
                <a:cs typeface="Times New Roman"/>
              </a:rPr>
              <a:t>How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200" dirty="0">
                <a:solidFill>
                  <a:srgbClr val="F45E61"/>
                </a:solidFill>
                <a:latin typeface="Times New Roman"/>
                <a:cs typeface="Times New Roman"/>
              </a:rPr>
              <a:t>Does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35" dirty="0">
                <a:solidFill>
                  <a:srgbClr val="F45E61"/>
                </a:solidFill>
                <a:latin typeface="Times New Roman"/>
                <a:cs typeface="Times New Roman"/>
              </a:rPr>
              <a:t>the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0" dirty="0">
                <a:solidFill>
                  <a:srgbClr val="F45E61"/>
                </a:solidFill>
                <a:latin typeface="Times New Roman"/>
                <a:cs typeface="Times New Roman"/>
              </a:rPr>
              <a:t>Web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5" dirty="0">
                <a:solidFill>
                  <a:srgbClr val="F45E61"/>
                </a:solidFill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6" y="1621807"/>
            <a:ext cx="82137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3.	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computer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IP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address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find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server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requests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7058" y="4394132"/>
            <a:ext cx="1772285" cy="448841"/>
          </a:xfrm>
          <a:prstGeom prst="rect">
            <a:avLst/>
          </a:prstGeom>
          <a:solidFill>
            <a:srgbClr val="6FA8DC"/>
          </a:solidFill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3479"/>
              </a:lnSpc>
            </a:pPr>
            <a:r>
              <a:rPr sz="3000" spc="-15" dirty="0">
                <a:solidFill>
                  <a:srgbClr val="5E686C"/>
                </a:solidFill>
                <a:latin typeface="Tahoma"/>
                <a:cs typeface="Tahoma"/>
              </a:rPr>
              <a:t>ndex.html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3717" y="4394132"/>
            <a:ext cx="1695450" cy="448841"/>
          </a:xfrm>
          <a:prstGeom prst="rect">
            <a:avLst/>
          </a:prstGeom>
          <a:solidFill>
            <a:srgbClr val="EA9999"/>
          </a:solidFill>
        </p:spPr>
        <p:txBody>
          <a:bodyPr vert="horz" wrap="square" lIns="0" tIns="0" rIns="0" bIns="0" rtlCol="0">
            <a:spAutoFit/>
          </a:bodyPr>
          <a:lstStyle/>
          <a:p>
            <a:pPr marL="165100">
              <a:lnSpc>
                <a:spcPts val="3479"/>
              </a:lnSpc>
            </a:pPr>
            <a:r>
              <a:rPr sz="3000" spc="25" dirty="0">
                <a:solidFill>
                  <a:srgbClr val="5E686C"/>
                </a:solidFill>
                <a:latin typeface="Tahoma"/>
                <a:cs typeface="Tahoma"/>
              </a:rPr>
              <a:t>tudents/i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4479" y="4394132"/>
            <a:ext cx="2487295" cy="448841"/>
          </a:xfrm>
          <a:prstGeom prst="rect">
            <a:avLst/>
          </a:prstGeom>
          <a:solidFill>
            <a:srgbClr val="F1C131"/>
          </a:solidFill>
        </p:spPr>
        <p:txBody>
          <a:bodyPr vert="horz" wrap="square" lIns="0" tIns="0" rIns="0" bIns="0" rtlCol="0">
            <a:spAutoFit/>
          </a:bodyPr>
          <a:lstStyle/>
          <a:p>
            <a:pPr marL="291465">
              <a:lnSpc>
                <a:spcPts val="3479"/>
              </a:lnSpc>
            </a:pPr>
            <a:r>
              <a:rPr sz="3000" spc="-40" dirty="0">
                <a:solidFill>
                  <a:srgbClr val="5E686C"/>
                </a:solidFill>
                <a:latin typeface="Tahoma"/>
                <a:cs typeface="Tahoma"/>
              </a:rPr>
              <a:t>ww.fsu.edu/s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7867" y="4394132"/>
            <a:ext cx="1391920" cy="448841"/>
          </a:xfrm>
          <a:prstGeom prst="rect">
            <a:avLst/>
          </a:prstGeom>
          <a:solidFill>
            <a:srgbClr val="6AA84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9"/>
              </a:lnSpc>
            </a:pPr>
            <a:r>
              <a:rPr sz="3000" spc="-10" dirty="0">
                <a:solidFill>
                  <a:srgbClr val="5E686C"/>
                </a:solidFill>
                <a:latin typeface="Tahoma"/>
                <a:cs typeface="Tahoma"/>
                <a:hlinkClick r:id="rId2"/>
              </a:rPr>
              <a:t>http://w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6050" y="3757618"/>
            <a:ext cx="745490" cy="4591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Request </a:t>
            </a:r>
            <a:r>
              <a:rPr sz="1400" b="1" spc="-37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Protocol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3359" y="5005450"/>
            <a:ext cx="1426845" cy="4591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4790" marR="5080" indent="-212725">
              <a:lnSpc>
                <a:spcPts val="1650"/>
              </a:lnSpc>
              <a:spcBef>
                <a:spcPts val="180"/>
              </a:spcBef>
            </a:pPr>
            <a:r>
              <a:rPr sz="1400" b="1" spc="-5" dirty="0">
                <a:solidFill>
                  <a:srgbClr val="BE9000"/>
                </a:solidFill>
                <a:latin typeface="Arial"/>
                <a:cs typeface="Arial"/>
              </a:rPr>
              <a:t>Domain</a:t>
            </a:r>
            <a:r>
              <a:rPr sz="1400" b="1" spc="-5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BE9000"/>
                </a:solidFill>
                <a:latin typeface="Arial"/>
                <a:cs typeface="Arial"/>
              </a:rPr>
              <a:t>Name</a:t>
            </a:r>
            <a:r>
              <a:rPr sz="1400" b="1" spc="-4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BE9000"/>
                </a:solidFill>
                <a:latin typeface="Arial"/>
                <a:cs typeface="Arial"/>
              </a:rPr>
              <a:t>of </a:t>
            </a:r>
            <a:r>
              <a:rPr sz="1400" b="1" spc="-37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BE9000"/>
                </a:solidFill>
                <a:latin typeface="Arial"/>
                <a:cs typeface="Arial"/>
              </a:rPr>
              <a:t>Web</a:t>
            </a:r>
            <a:r>
              <a:rPr sz="1400" b="1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BE9000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8875" y="3954484"/>
            <a:ext cx="5683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990000"/>
                </a:solidFill>
                <a:latin typeface="Arial"/>
                <a:cs typeface="Arial"/>
              </a:rPr>
              <a:t>Folder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7626" y="5005449"/>
            <a:ext cx="8642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B5394"/>
                </a:solidFill>
                <a:latin typeface="Arial"/>
                <a:cs typeface="Arial"/>
              </a:rPr>
              <a:t>File</a:t>
            </a:r>
            <a:r>
              <a:rPr sz="1400" b="1" spc="-80" dirty="0">
                <a:solidFill>
                  <a:srgbClr val="0B5394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B5394"/>
                </a:solidFill>
                <a:latin typeface="Arial"/>
                <a:cs typeface="Arial"/>
              </a:rPr>
              <a:t>Name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37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686912"/>
            <a:ext cx="46983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60" dirty="0">
                <a:solidFill>
                  <a:srgbClr val="F45E61"/>
                </a:solidFill>
                <a:latin typeface="Times New Roman"/>
                <a:cs typeface="Times New Roman"/>
              </a:rPr>
              <a:t>How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200" dirty="0">
                <a:solidFill>
                  <a:srgbClr val="F45E61"/>
                </a:solidFill>
                <a:latin typeface="Times New Roman"/>
                <a:cs typeface="Times New Roman"/>
              </a:rPr>
              <a:t>Does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35" dirty="0">
                <a:solidFill>
                  <a:srgbClr val="F45E61"/>
                </a:solidFill>
                <a:latin typeface="Times New Roman"/>
                <a:cs typeface="Times New Roman"/>
              </a:rPr>
              <a:t>the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0" dirty="0">
                <a:solidFill>
                  <a:srgbClr val="F45E61"/>
                </a:solidFill>
                <a:latin typeface="Times New Roman"/>
                <a:cs typeface="Times New Roman"/>
              </a:rPr>
              <a:t>Web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5" dirty="0">
                <a:solidFill>
                  <a:srgbClr val="F45E61"/>
                </a:solidFill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621807"/>
            <a:ext cx="7780020" cy="2594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4.	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server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processes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request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responds: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requested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unavailable</a:t>
            </a:r>
            <a:endParaRPr sz="180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Redirect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client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another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endParaRPr sz="180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Respond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endParaRPr sz="1800">
              <a:latin typeface="Tahoma"/>
              <a:cs typeface="Tahoma"/>
            </a:endParaRPr>
          </a:p>
          <a:p>
            <a:pPr marL="469900" indent="-307975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Run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program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decides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what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respond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response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typically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includes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potentially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media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files.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5798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44767"/>
            <a:ext cx="9144000" cy="4213860"/>
            <a:chOff x="0" y="1983575"/>
            <a:chExt cx="9144000" cy="3160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00" y="1993100"/>
              <a:ext cx="8933400" cy="3038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537" y="1988337"/>
              <a:ext cx="8943340" cy="3048000"/>
            </a:xfrm>
            <a:custGeom>
              <a:avLst/>
              <a:gdLst/>
              <a:ahLst/>
              <a:cxnLst/>
              <a:rect l="l" t="t" r="r" b="b"/>
              <a:pathLst>
                <a:path w="8943340" h="3048000">
                  <a:moveTo>
                    <a:pt x="0" y="0"/>
                  </a:moveTo>
                  <a:lnTo>
                    <a:pt x="8942925" y="0"/>
                  </a:lnTo>
                  <a:lnTo>
                    <a:pt x="8942925" y="3047824"/>
                  </a:lnTo>
                  <a:lnTo>
                    <a:pt x="0" y="3047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4726" y="597492"/>
            <a:ext cx="46983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60" dirty="0">
                <a:solidFill>
                  <a:srgbClr val="F45E61"/>
                </a:solidFill>
                <a:latin typeface="Times New Roman"/>
                <a:cs typeface="Times New Roman"/>
              </a:rPr>
              <a:t>How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200" dirty="0">
                <a:solidFill>
                  <a:srgbClr val="F45E61"/>
                </a:solidFill>
                <a:latin typeface="Times New Roman"/>
                <a:cs typeface="Times New Roman"/>
              </a:rPr>
              <a:t>Does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35" dirty="0">
                <a:solidFill>
                  <a:srgbClr val="F45E61"/>
                </a:solidFill>
                <a:latin typeface="Times New Roman"/>
                <a:cs typeface="Times New Roman"/>
              </a:rPr>
              <a:t>the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0" dirty="0">
                <a:solidFill>
                  <a:srgbClr val="F45E61"/>
                </a:solidFill>
                <a:latin typeface="Times New Roman"/>
                <a:cs typeface="Times New Roman"/>
              </a:rPr>
              <a:t>Web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5" dirty="0">
                <a:solidFill>
                  <a:srgbClr val="F45E61"/>
                </a:solidFill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568467"/>
            <a:ext cx="7409180" cy="64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5.	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displays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interpreting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response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 assembling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different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files.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may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slightly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differently.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4405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system(DNS)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hard for us to remember IP Address i.e. 209:85:148:108 but it is easier for us to remember Domain name  such as google.com</a:t>
            </a:r>
          </a:p>
          <a:p>
            <a:r>
              <a:rPr lang="en-US" dirty="0"/>
              <a:t>DNS helps in this! You don’t have to memorize all IP Addresses of your favorite websites!</a:t>
            </a:r>
          </a:p>
          <a:p>
            <a:r>
              <a:rPr lang="en-US" dirty="0"/>
              <a:t>DNS  links a unique IP Address with the domain name you remember and type into a web browser.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DNS Server links google.com to the IP Address 209:85:148:108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Website is a collection of various pages written in HTML with an address 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http://www.google.com.pk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page available on the Website is called a web page and first page of any web site is called home page/landing page for that site.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structure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28800"/>
            <a:ext cx="8001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725291-FD5F-4C3D-8E81-52283919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696BC2-1DA5-44F5-84DA-41C82BE8C9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Static</a:t>
            </a:r>
          </a:p>
          <a:p>
            <a:r>
              <a:rPr lang="en-GB" dirty="0"/>
              <a:t>Dynamic</a:t>
            </a:r>
          </a:p>
          <a:p>
            <a:r>
              <a:rPr lang="en-GB" dirty="0"/>
              <a:t>Front end</a:t>
            </a:r>
          </a:p>
          <a:p>
            <a:r>
              <a:rPr lang="en-GB" dirty="0"/>
              <a:t>Back end</a:t>
            </a:r>
          </a:p>
        </p:txBody>
      </p:sp>
    </p:spTree>
    <p:extLst>
      <p:ext uri="{BB962C8B-B14F-4D97-AF65-F5344CB8AC3E}">
        <p14:creationId xmlns:p14="http://schemas.microsoft.com/office/powerpoint/2010/main" val="328152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</a:t>
            </a:r>
            <a:r>
              <a:rPr lang="en-GB" dirty="0"/>
              <a:t>Static website is the basic type of website that is easy to create. </a:t>
            </a:r>
          </a:p>
          <a:p>
            <a:pPr algn="just"/>
            <a:r>
              <a:rPr lang="en-GB" dirty="0"/>
              <a:t>You don't need the knowledge of web programming and database design to create a static website.</a:t>
            </a:r>
          </a:p>
          <a:p>
            <a:pPr algn="just"/>
            <a:r>
              <a:rPr lang="en-GB" dirty="0"/>
              <a:t> Its web pages are coded in HTML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Static websites-pages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219200"/>
            <a:ext cx="82296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Static website pages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914400"/>
            <a:ext cx="86868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GB" dirty="0"/>
              <a:t>Dynamic website is a collection of dynamic web pages whose content changes dynamically. </a:t>
            </a:r>
          </a:p>
          <a:p>
            <a:pPr algn="just"/>
            <a:r>
              <a:rPr lang="en-GB" dirty="0" smtClean="0"/>
              <a:t>Therefore</a:t>
            </a:r>
            <a:r>
              <a:rPr lang="en-GB" dirty="0"/>
              <a:t>, when you alter or update the content of the database, the content of the website is also altered or updated.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Dynamic website uses client-side scripting or server-side scripting, or both to generate dynamic content</a:t>
            </a:r>
            <a:r>
              <a:rPr lang="en-GB" dirty="0" smtClean="0"/>
              <a:t>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Dynamic websites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 cstate="print"/>
          <a:srcRect b="31318"/>
          <a:stretch/>
        </p:blipFill>
        <p:spPr bwMode="auto">
          <a:xfrm>
            <a:off x="304800" y="1219200"/>
            <a:ext cx="8305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website features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914400"/>
            <a:ext cx="8610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547785-2685-42CE-B426-3900DB05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vs dynamic website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D67FFA4-7FC6-4D33-91CB-BD904936EDC5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97564213"/>
              </p:ext>
            </p:extLst>
          </p:nvPr>
        </p:nvGraphicFramePr>
        <p:xfrm>
          <a:off x="152400" y="1417638"/>
          <a:ext cx="8534400" cy="4413701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xmlns="" val="1416379066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xmlns="" val="1629108473"/>
                    </a:ext>
                  </a:extLst>
                </a:gridCol>
              </a:tblGrid>
              <a:tr h="681204"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Prebuilt content is same every time the page is loaded.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Content is generated quickly and changes regularly.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1758354"/>
                  </a:ext>
                </a:extLst>
              </a:tr>
              <a:tr h="796758"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uses the </a:t>
                      </a:r>
                      <a:r>
                        <a:rPr lang="en-GB" sz="17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HTML </a:t>
                      </a:r>
                      <a:r>
                        <a:rPr lang="en-GB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code for developing a website.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uses the server side languages such as </a:t>
                      </a:r>
                      <a:r>
                        <a:rPr lang="en-GB" sz="17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PHP, JSP, and ASP.NET </a:t>
                      </a:r>
                      <a:r>
                        <a:rPr lang="en-GB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etc. for developing a website.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86964003"/>
                  </a:ext>
                </a:extLst>
              </a:tr>
              <a:tr h="681204"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sends exactly the same response for every request.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may generate different HTML for each of the request.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23476680"/>
                  </a:ext>
                </a:extLst>
              </a:tr>
              <a:tr h="1197771"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content is only changed when someone publishes and updates the file (sends it to the web server).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page contains "server-side" code which allows the server to generate the unique content when the page is loaded.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13241816"/>
                  </a:ext>
                </a:extLst>
              </a:tr>
              <a:tr h="934846"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Flexibility is the main advantage of static website.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GB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Content Management System (CMS) is the main advantage of dynamic website.</a:t>
                      </a:r>
                    </a:p>
                  </a:txBody>
                  <a:tcPr marL="70718" marR="70718" marT="70718" marB="7071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223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66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lang="en-US" dirty="0" err="1"/>
              <a:t>vs</a:t>
            </a:r>
            <a:r>
              <a:rPr lang="en-US" dirty="0"/>
              <a:t> dynamic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95400"/>
            <a:ext cx="7696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9F44B3-6C9A-4A1B-9AE7-29BF898A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8367"/>
            <a:ext cx="8229600" cy="1143000"/>
          </a:xfrm>
        </p:spPr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F3537CB1-CA1E-4D33-90E3-ED6B1753D04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6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DCDD4A-5BD7-4B97-BFC2-DBF689CF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Front end and backend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AB715AD-6DA3-4D50-B289-7C9C7EE950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4894"/>
          <a:stretch/>
        </p:blipFill>
        <p:spPr>
          <a:xfrm>
            <a:off x="528918" y="1676400"/>
            <a:ext cx="8305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9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BFDEA0-1A7C-41E2-A4B2-FE60BCC9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Essentials of front end vs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7DB908-1F6D-4AE8-95F1-7DD7D6C3BCC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Front end is referred as client side. Whereas back end is referred as server side of application.</a:t>
            </a:r>
          </a:p>
          <a:p>
            <a:r>
              <a:rPr lang="en-GB" dirty="0"/>
              <a:t>Back end web development includes languages such as java,python,php and back end includes languages such as html CSS and JavaScript</a:t>
            </a:r>
          </a:p>
        </p:txBody>
      </p:sp>
    </p:spTree>
    <p:extLst>
      <p:ext uri="{BB962C8B-B14F-4D97-AF65-F5344CB8AC3E}">
        <p14:creationId xmlns:p14="http://schemas.microsoft.com/office/powerpoint/2010/main" val="21377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265642-C7A3-4B51-8BB3-79A951A6B5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Static is better or dynamic for your websites</a:t>
            </a:r>
          </a:p>
        </p:txBody>
      </p:sp>
    </p:spTree>
    <p:extLst>
      <p:ext uri="{BB962C8B-B14F-4D97-AF65-F5344CB8AC3E}">
        <p14:creationId xmlns:p14="http://schemas.microsoft.com/office/powerpoint/2010/main" val="167133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static right for your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Static websites are better choice when you are</a:t>
            </a:r>
          </a:p>
          <a:p>
            <a:pPr lvl="1"/>
            <a:r>
              <a:rPr lang="en-US" dirty="0"/>
              <a:t>Limited in budget and are dealing with 20 pages or less</a:t>
            </a:r>
          </a:p>
          <a:p>
            <a:pPr lvl="1"/>
            <a:r>
              <a:rPr lang="en-US" dirty="0"/>
              <a:t> are planning to add new pages occasionally</a:t>
            </a:r>
          </a:p>
          <a:p>
            <a:pPr lvl="1"/>
            <a:r>
              <a:rPr lang="en-US" dirty="0"/>
              <a:t> need portable and physical web page files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dynamic  right for your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Dynamic  websites are better choice when you are</a:t>
            </a:r>
          </a:p>
          <a:p>
            <a:pPr lvl="1"/>
            <a:r>
              <a:rPr lang="en-US" dirty="0"/>
              <a:t>When you need custom programming to accommodate your business needs</a:t>
            </a:r>
          </a:p>
          <a:p>
            <a:pPr lvl="1"/>
            <a:r>
              <a:rPr lang="en-US" dirty="0"/>
              <a:t> need to add or edit web pages( content) within browser</a:t>
            </a:r>
          </a:p>
          <a:p>
            <a:pPr lvl="1"/>
            <a:r>
              <a:rPr lang="en-US" dirty="0"/>
              <a:t> need web pages that display and update records from your information systems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90B749-4900-451E-8B37-9A476DA7F7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Web hosting</a:t>
            </a:r>
          </a:p>
        </p:txBody>
      </p:sp>
    </p:spTree>
    <p:extLst>
      <p:ext uri="{BB962C8B-B14F-4D97-AF65-F5344CB8AC3E}">
        <p14:creationId xmlns:p14="http://schemas.microsoft.com/office/powerpoint/2010/main" val="261465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11AB61-B1E2-4BDD-8B81-DE968F01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hosting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8A8017-62FC-4E73-B539-64FE9E707B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Web hosting is a service that allows organizations and individuals to post a website or web page onto the Internet. </a:t>
            </a:r>
          </a:p>
          <a:p>
            <a:r>
              <a:rPr lang="en-GB" dirty="0"/>
              <a:t>A web host, or web hosting service provider, is a business that provides the technologies and services needed for the website or webpage to be viewed in the Internet. </a:t>
            </a:r>
          </a:p>
          <a:p>
            <a:r>
              <a:rPr lang="en-GB" dirty="0"/>
              <a:t>Websites are hosted, or stored, on special computers called servers.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541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hosting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 A company who will either:</a:t>
            </a:r>
            <a:endParaRPr lang="en-US" dirty="0"/>
          </a:p>
          <a:p>
            <a:pPr lvl="1"/>
            <a:r>
              <a:rPr lang="en-US" dirty="0"/>
              <a:t>Rent you space on one of their web servers </a:t>
            </a:r>
          </a:p>
          <a:p>
            <a:pPr lvl="1"/>
            <a:r>
              <a:rPr lang="en-US" dirty="0"/>
              <a:t>Rent you an entire server </a:t>
            </a:r>
          </a:p>
          <a:p>
            <a:pPr lvl="1"/>
            <a:r>
              <a:rPr lang="en-US" dirty="0"/>
              <a:t>Rent you space on a shared server that you can use like a dedicated server </a:t>
            </a:r>
          </a:p>
          <a:p>
            <a:pPr lvl="1"/>
            <a:r>
              <a:rPr lang="en-US" dirty="0"/>
              <a:t>Connect your own server to their Internet Connection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Hosting Platforms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pPr marL="365760" indent="-256032">
              <a:buFont typeface="Wingdings 3"/>
              <a:buChar char=""/>
              <a:defRPr/>
            </a:pPr>
            <a:r>
              <a:rPr lang="en-US" sz="2400" b="1" dirty="0"/>
              <a:t>Windows Hosting Servers</a:t>
            </a:r>
            <a:r>
              <a:rPr lang="en-US" sz="2400" dirty="0"/>
              <a:t> : If you have Windows  then you will find many hosting servers for  Windows and you can buy space from these servers. </a:t>
            </a:r>
          </a:p>
          <a:p>
            <a:pPr marL="365760" indent="-256032">
              <a:buFont typeface="Wingdings 3"/>
              <a:buChar char=""/>
              <a:defRPr/>
            </a:pPr>
            <a:endParaRPr lang="en-US" sz="2400" dirty="0"/>
          </a:p>
          <a:p>
            <a:pPr marL="621792" lvl="1">
              <a:spcBef>
                <a:spcPts val="324"/>
              </a:spcBef>
              <a:buFont typeface="Verdana"/>
              <a:buChar char="◦"/>
              <a:defRPr/>
            </a:pPr>
            <a:r>
              <a:rPr lang="en-US" sz="2000" dirty="0"/>
              <a:t>Normally Windows hosting server are more expensive because of lot of software licensing costs are involved with these servers.</a:t>
            </a:r>
          </a:p>
          <a:p>
            <a:pPr marL="365760" indent="-256032">
              <a:buFont typeface="Wingdings 3"/>
              <a:buChar char=""/>
              <a:defRPr/>
            </a:pPr>
            <a:endParaRPr lang="en-US" sz="2400" dirty="0"/>
          </a:p>
          <a:p>
            <a:pPr marL="365760" indent="-256032">
              <a:buFont typeface="Wingdings 3"/>
              <a:buChar char=""/>
              <a:defRPr/>
            </a:pPr>
            <a:r>
              <a:rPr lang="en-US" sz="2400" b="1" dirty="0"/>
              <a:t>Linux Hosting Servers</a:t>
            </a:r>
            <a:r>
              <a:rPr lang="en-US" sz="2400" dirty="0"/>
              <a:t>: If you want to go for Linux then opportunities are unlimited and you will have to pay less then what you will pay for Windows Hosting Server. </a:t>
            </a:r>
          </a:p>
          <a:p>
            <a:pPr marL="365760" indent="-256032">
              <a:buFont typeface="Wingdings 3"/>
              <a:buChar char=""/>
              <a:defRPr/>
            </a:pPr>
            <a:endParaRPr lang="en-US" sz="2400" dirty="0"/>
          </a:p>
          <a:p>
            <a:pPr marL="621792" lvl="1">
              <a:spcBef>
                <a:spcPts val="324"/>
              </a:spcBef>
              <a:buFont typeface="Verdana"/>
              <a:buChar char="◦"/>
              <a:defRPr/>
            </a:pPr>
            <a:r>
              <a:rPr lang="en-US" sz="2000" dirty="0"/>
              <a:t>There are many ISPs who provide Hosting Servers with different flavors of Unix.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host service providers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Some specific types of hosting provided by web host service providers</a:t>
            </a:r>
          </a:p>
          <a:p>
            <a:pPr lvl="1"/>
            <a:r>
              <a:rPr lang="en-US" dirty="0"/>
              <a:t>File hosting service</a:t>
            </a:r>
          </a:p>
          <a:p>
            <a:pPr lvl="1"/>
            <a:r>
              <a:rPr lang="en-US" dirty="0"/>
              <a:t>Image hosting service</a:t>
            </a:r>
          </a:p>
          <a:p>
            <a:pPr lvl="1"/>
            <a:r>
              <a:rPr lang="en-US" dirty="0"/>
              <a:t>Video hosting service</a:t>
            </a:r>
          </a:p>
          <a:p>
            <a:pPr lvl="1"/>
            <a:r>
              <a:rPr lang="en-US" dirty="0"/>
              <a:t>Blog hosting service</a:t>
            </a:r>
          </a:p>
          <a:p>
            <a:pPr lvl="1"/>
            <a:r>
              <a:rPr lang="en-US" dirty="0"/>
              <a:t>Shop cart software</a:t>
            </a:r>
          </a:p>
          <a:p>
            <a:pPr lvl="1"/>
            <a:r>
              <a:rPr lang="en-US" dirty="0"/>
              <a:t>Email hosting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3B69E5-4B7E-44F1-9DDA-0F0895EF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 of hosting providers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11A3E85D-C2B9-4FE9-A0C1-ECABB0167B4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00" y="1905001"/>
            <a:ext cx="8077200" cy="354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0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b="1" dirty="0"/>
              <a:t>What type of web Hosting Package?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  You can get FREE web hosting.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Or you can PAY: The average small business pays £10 - £50 a month, depending on features, web space, and data transfer “bandwidth” required.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Hosting Components 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When you buy a Web server space then you should do price comparison between different service providers based on the following components: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DC7E9-ED2B-471D-A491-3C28717D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365125"/>
            <a:ext cx="7686674" cy="80803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  <a:t>1.Having backups for your site</a:t>
            </a:r>
            <a:b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DE73CF-0445-4DB5-9AC9-A5196AB845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Backups are essential for a website. Even with all the security measures in the world, your website will face some kind of crash, failure, virus, or hack that will take your website down, or worse</a:t>
            </a:r>
          </a:p>
          <a:p>
            <a:endParaRPr lang="en-US" dirty="0"/>
          </a:p>
          <a:p>
            <a:r>
              <a:rPr lang="en-US" dirty="0"/>
              <a:t>That’s where a good backup policy comes in handy because you can always revert back to a working website</a:t>
            </a:r>
          </a:p>
        </p:txBody>
      </p:sp>
    </p:spTree>
    <p:extLst>
      <p:ext uri="{BB962C8B-B14F-4D97-AF65-F5344CB8AC3E}">
        <p14:creationId xmlns:p14="http://schemas.microsoft.com/office/powerpoint/2010/main" val="120561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44DCA6-CB22-4185-A9ED-D42A2DA4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815700"/>
            <a:ext cx="7686674" cy="703279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  <a:t>2.The quality of customer support (live chat or telephone)</a:t>
            </a:r>
            <a:b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232D93-A514-4D85-BACD-A30D11D5E2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8663" y="1829630"/>
            <a:ext cx="7686674" cy="4824413"/>
          </a:xfrm>
        </p:spPr>
        <p:txBody>
          <a:bodyPr>
            <a:normAutofit/>
          </a:bodyPr>
          <a:lstStyle/>
          <a:p>
            <a:r>
              <a:rPr lang="en-US" dirty="0"/>
              <a:t>There will be times when you’re faced with a server issue that you just can’t solve by yourself. This where a good customer support team will be essential.</a:t>
            </a:r>
          </a:p>
          <a:p>
            <a:endParaRPr lang="en-US" dirty="0"/>
          </a:p>
          <a:p>
            <a:r>
              <a:rPr lang="en-US" dirty="0"/>
              <a:t>Ideally, you would want to settle with a hosting provider that gives you good and responsive support either via live chat or telephone. That way, you can immediately resolve your website issues.</a:t>
            </a:r>
          </a:p>
        </p:txBody>
      </p:sp>
    </p:spTree>
    <p:extLst>
      <p:ext uri="{BB962C8B-B14F-4D97-AF65-F5344CB8AC3E}">
        <p14:creationId xmlns:p14="http://schemas.microsoft.com/office/powerpoint/2010/main" val="31890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EA16225-9F37-47AD-B3D0-DE2DC079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  <a:t>3.Disc Space</a:t>
            </a:r>
            <a:endParaRPr lang="en-US" dirty="0"/>
          </a:p>
        </p:txBody>
      </p:sp>
      <p:sp>
        <p:nvSpPr>
          <p:cNvPr id="636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28650" y="1927274"/>
            <a:ext cx="7029450" cy="4079826"/>
          </a:xfrm>
        </p:spPr>
        <p:txBody>
          <a:bodyPr>
            <a:normAutofit/>
          </a:bodyPr>
          <a:lstStyle/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r>
              <a:rPr lang="en-US" dirty="0"/>
              <a:t>A small or medium web site will need between 10 and 100MB of disk space. </a:t>
            </a:r>
          </a:p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endParaRPr lang="en-US" dirty="0"/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r>
              <a:rPr lang="en-US" dirty="0"/>
              <a:t>If you plan to keep lot of audio and Video on your web site then you need plan to buy more space. </a:t>
            </a:r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endParaRPr lang="en-US" dirty="0"/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r>
              <a:rPr lang="en-US" dirty="0"/>
              <a:t>Before buying server space you should check the options available to expand your disc space if you need it in future.</a:t>
            </a:r>
          </a:p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381EEC66-B9C2-470E-BD1F-B413AF46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  <a:t>4.Speeds</a:t>
            </a:r>
            <a:endParaRPr lang="en-US" dirty="0"/>
          </a:p>
        </p:txBody>
      </p:sp>
      <p:sp>
        <p:nvSpPr>
          <p:cNvPr id="6379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48175" y="1690689"/>
            <a:ext cx="8167175" cy="5019601"/>
          </a:xfrm>
        </p:spPr>
        <p:txBody>
          <a:bodyPr>
            <a:normAutofit/>
          </a:bodyPr>
          <a:lstStyle/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r>
              <a:rPr lang="en-US" sz="2400" b="1" dirty="0"/>
              <a:t>Processing Speed</a:t>
            </a:r>
            <a:r>
              <a:rPr lang="en-US" sz="2400" dirty="0"/>
              <a:t>: If you are buying space on a shared machine then you can not guess how much speed will be given to you. </a:t>
            </a:r>
          </a:p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endParaRPr lang="en-US" sz="2400" dirty="0"/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r>
              <a:rPr lang="en-US" sz="2000" dirty="0"/>
              <a:t>In that case only way is to see other hosted sites with the same service provider to know about their hosting quality. </a:t>
            </a:r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381EEC66-B9C2-470E-BD1F-B413AF46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A203E"/>
                </a:solidFill>
                <a:effectLst/>
                <a:latin typeface="proxima-nova"/>
              </a:rPr>
              <a:t>5.Speeds</a:t>
            </a:r>
            <a:endParaRPr lang="en-US" dirty="0"/>
          </a:p>
        </p:txBody>
      </p:sp>
      <p:sp>
        <p:nvSpPr>
          <p:cNvPr id="6379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48175" y="1690689"/>
            <a:ext cx="8167175" cy="5019601"/>
          </a:xfrm>
        </p:spPr>
        <p:txBody>
          <a:bodyPr>
            <a:normAutofit/>
          </a:bodyPr>
          <a:lstStyle/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endParaRPr lang="en-US" sz="2400" dirty="0"/>
          </a:p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r>
              <a:rPr lang="en-US" sz="2400" b="1" dirty="0"/>
              <a:t>Connection Speed</a:t>
            </a:r>
            <a:r>
              <a:rPr lang="en-US" sz="2400" dirty="0"/>
              <a:t>: Now a days very fast connection speed is available from most of the service providers. </a:t>
            </a:r>
          </a:p>
          <a:p>
            <a:pPr marL="365760" indent="-256032">
              <a:lnSpc>
                <a:spcPct val="80000"/>
              </a:lnSpc>
              <a:buFont typeface="Wingdings 3"/>
              <a:buChar char=""/>
              <a:defRPr/>
            </a:pPr>
            <a:endParaRPr lang="en-US" sz="2400" dirty="0"/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r>
              <a:rPr lang="en-US" sz="2000" dirty="0"/>
              <a:t>So choose a service provider who is giving better connection speed in terms of bits per second. </a:t>
            </a:r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endParaRPr lang="en-US" sz="2000" dirty="0"/>
          </a:p>
          <a:p>
            <a:pPr marL="621792" lvl="1">
              <a:lnSpc>
                <a:spcPct val="80000"/>
              </a:lnSpc>
              <a:spcBef>
                <a:spcPts val="324"/>
              </a:spcBef>
              <a:buFont typeface="Verdana"/>
              <a:buChar char="◦"/>
              <a:defRPr/>
            </a:pPr>
            <a:r>
              <a:rPr lang="en-US" sz="2000" dirty="0"/>
              <a:t>You can have connection speed ranging from 64Kb per second to 2.488Gb per second or more??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1483</TotalTime>
  <Words>1227</Words>
  <Application>Microsoft Office PowerPoint</Application>
  <PresentationFormat>On-screen Show (4:3)</PresentationFormat>
  <Paragraphs>167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Origin</vt:lpstr>
      <vt:lpstr>Web engineering lecture 2</vt:lpstr>
      <vt:lpstr>PowerPoint Presentation</vt:lpstr>
      <vt:lpstr>URL</vt:lpstr>
      <vt:lpstr>Domain name and ip address</vt:lpstr>
      <vt:lpstr>Parts of domain name</vt:lpstr>
      <vt:lpstr>Organization code</vt:lpstr>
      <vt:lpstr>Country code</vt:lpstr>
      <vt:lpstr>PowerPoint Presentation</vt:lpstr>
      <vt:lpstr>How Does the Web Work</vt:lpstr>
      <vt:lpstr>How Does the Web Work</vt:lpstr>
      <vt:lpstr>How Does the Web Work</vt:lpstr>
      <vt:lpstr>PowerPoint Presentation</vt:lpstr>
      <vt:lpstr>Domain name system(DNS)</vt:lpstr>
      <vt:lpstr>Website </vt:lpstr>
      <vt:lpstr>Website structure</vt:lpstr>
      <vt:lpstr>Types of websites</vt:lpstr>
      <vt:lpstr>Static website</vt:lpstr>
      <vt:lpstr>Static websites-pages </vt:lpstr>
      <vt:lpstr>Static website pages</vt:lpstr>
      <vt:lpstr>Dynamic website</vt:lpstr>
      <vt:lpstr>Dynamic website</vt:lpstr>
      <vt:lpstr>Dynamic websites</vt:lpstr>
      <vt:lpstr>Dynamic website features</vt:lpstr>
      <vt:lpstr>Static vs dynamic website</vt:lpstr>
      <vt:lpstr>Static vs dynamic</vt:lpstr>
      <vt:lpstr>PowerPoint Presentation</vt:lpstr>
      <vt:lpstr>Front end and backend</vt:lpstr>
      <vt:lpstr>Essentials of front end vs backend</vt:lpstr>
      <vt:lpstr>PowerPoint Presentation</vt:lpstr>
      <vt:lpstr>Is static right for your organization</vt:lpstr>
      <vt:lpstr>Is dynamic  right for your organization</vt:lpstr>
      <vt:lpstr>PowerPoint Presentation</vt:lpstr>
      <vt:lpstr>Web hosting </vt:lpstr>
      <vt:lpstr>Web hosting </vt:lpstr>
      <vt:lpstr>Hosting Platforms</vt:lpstr>
      <vt:lpstr>Web host service providers </vt:lpstr>
      <vt:lpstr>Features of hosting providers</vt:lpstr>
      <vt:lpstr> What type of web Hosting Package?</vt:lpstr>
      <vt:lpstr>Hosting Components </vt:lpstr>
      <vt:lpstr>1.Having backups for your site </vt:lpstr>
      <vt:lpstr>2.The quality of customer support (live chat or telephone) </vt:lpstr>
      <vt:lpstr>3.Disc Space</vt:lpstr>
      <vt:lpstr>4.Speeds</vt:lpstr>
      <vt:lpstr>5.Speeds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engineering lecture 2</dc:title>
  <dc:creator>saadia</dc:creator>
  <cp:lastModifiedBy>Sadi Shabbit</cp:lastModifiedBy>
  <cp:revision>26</cp:revision>
  <dcterms:created xsi:type="dcterms:W3CDTF">2022-02-22T20:54:18Z</dcterms:created>
  <dcterms:modified xsi:type="dcterms:W3CDTF">2024-09-17T18:44:16Z</dcterms:modified>
</cp:coreProperties>
</file>