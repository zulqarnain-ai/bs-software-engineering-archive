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0"/>
  </p:notesMasterIdLst>
  <p:handoutMasterIdLst>
    <p:handoutMasterId r:id="rId51"/>
  </p:handoutMasterIdLst>
  <p:sldIdLst>
    <p:sldId id="323" r:id="rId2"/>
    <p:sldId id="324" r:id="rId3"/>
    <p:sldId id="259" r:id="rId4"/>
    <p:sldId id="262" r:id="rId5"/>
    <p:sldId id="263" r:id="rId6"/>
    <p:sldId id="264" r:id="rId7"/>
    <p:sldId id="265" r:id="rId8"/>
    <p:sldId id="266" r:id="rId9"/>
    <p:sldId id="355" r:id="rId10"/>
    <p:sldId id="356" r:id="rId11"/>
    <p:sldId id="357" r:id="rId12"/>
    <p:sldId id="358" r:id="rId13"/>
    <p:sldId id="365" r:id="rId14"/>
    <p:sldId id="337" r:id="rId15"/>
    <p:sldId id="338" r:id="rId16"/>
    <p:sldId id="339" r:id="rId17"/>
    <p:sldId id="269" r:id="rId18"/>
    <p:sldId id="343" r:id="rId19"/>
    <p:sldId id="344" r:id="rId20"/>
    <p:sldId id="364" r:id="rId21"/>
    <p:sldId id="293" r:id="rId22"/>
    <p:sldId id="294" r:id="rId23"/>
    <p:sldId id="359" r:id="rId24"/>
    <p:sldId id="295" r:id="rId25"/>
    <p:sldId id="361" r:id="rId26"/>
    <p:sldId id="360" r:id="rId27"/>
    <p:sldId id="349" r:id="rId28"/>
    <p:sldId id="350" r:id="rId29"/>
    <p:sldId id="270" r:id="rId30"/>
    <p:sldId id="272" r:id="rId31"/>
    <p:sldId id="273" r:id="rId32"/>
    <p:sldId id="276" r:id="rId33"/>
    <p:sldId id="351" r:id="rId34"/>
    <p:sldId id="280" r:id="rId35"/>
    <p:sldId id="281" r:id="rId36"/>
    <p:sldId id="282" r:id="rId37"/>
    <p:sldId id="333" r:id="rId38"/>
    <p:sldId id="345" r:id="rId39"/>
    <p:sldId id="346" r:id="rId40"/>
    <p:sldId id="347" r:id="rId41"/>
    <p:sldId id="348" r:id="rId42"/>
    <p:sldId id="277" r:id="rId43"/>
    <p:sldId id="285" r:id="rId44"/>
    <p:sldId id="362" r:id="rId45"/>
    <p:sldId id="334" r:id="rId46"/>
    <p:sldId id="297" r:id="rId47"/>
    <p:sldId id="299" r:id="rId48"/>
    <p:sldId id="354" r:id="rId4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8000"/>
    <a:srgbClr val="FF99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16" autoAdjust="0"/>
  </p:normalViewPr>
  <p:slideViewPr>
    <p:cSldViewPr>
      <p:cViewPr varScale="1">
        <p:scale>
          <a:sx n="70" d="100"/>
          <a:sy n="70" d="100"/>
        </p:scale>
        <p:origin x="13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1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4590A59-F059-4A65-A8E4-42544DF50B1D}" type="datetimeFigureOut">
              <a:rPr lang="en-US"/>
              <a:pPr>
                <a:defRPr/>
              </a:pPr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5E8F598-A7E0-471B-A870-248BFAC30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1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95F356-EE84-4525-ACDE-38135ED59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53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44A7D8-DA39-43D2-B274-BC755565EE0F}" type="slidenum">
              <a:rPr lang="en-US" altLang="en-US" sz="1200" smtClean="0"/>
              <a:pPr/>
              <a:t>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11426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C62DB3-3313-40E7-BED2-76DD52CD7331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135237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318C0BF-E2F2-4623-86AB-F68AA74FF60D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481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Primitive: Original; primary; radical; </a:t>
            </a:r>
            <a:r>
              <a:rPr lang="en-US" altLang="en-US" b="1" smtClean="0"/>
              <a:t>not</a:t>
            </a:r>
            <a:r>
              <a:rPr lang="en-US" altLang="en-US" smtClean="0"/>
              <a:t> </a:t>
            </a:r>
            <a:r>
              <a:rPr lang="en-US" altLang="en-US" b="1" smtClean="0"/>
              <a:t>derived from another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F73C5A-1936-4BBA-BDC3-556504A6D1AB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11082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A5783B4-66BB-445F-8515-2F909C9F3F8D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889755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4F9B34-CC87-4477-A8B7-73A820CDE071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523364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E03BC9-FBB8-43AF-9CB6-37EC0AD6E610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17428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FD1BB4-7516-49B7-9D93-3D9944E1B4C3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7014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E92DBD-EC41-478E-9890-B895814A82B4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8563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A58A46A-E4A3-4B4B-81B1-7EB4220D8E0D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687627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EB4FEC-181F-4CD9-BC1E-21405C426D3C}" type="slidenum">
              <a:rPr lang="en-US" altLang="en-US" sz="1200" smtClean="0"/>
              <a:pPr/>
              <a:t>21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771921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6CF4572-EC1B-4FE0-9DFF-CD82DBB5D0BE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13248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EAB8B9B-255D-49CB-89A7-85AA4BB1A757}" type="slidenum">
              <a:rPr lang="en-US" altLang="en-US" sz="1200" smtClean="0"/>
              <a:pPr/>
              <a:t>23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96318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BDBF97-7D54-43E3-A80D-E2AE11FC09C3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3841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B93FAF-24E7-4F25-89F8-59E889280BD3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939746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5EE38C4-D55C-4D78-AA5C-46DC5EA40118}" type="slidenum">
              <a:rPr lang="en-US" altLang="en-US" sz="1200" smtClean="0"/>
              <a:pPr/>
              <a:t>31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61800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28EE1FC-C148-4AB0-A44C-D9D1D9401914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984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4B36E42-638A-48F5-9B56-C1040EF459BA}" type="slidenum">
              <a:rPr lang="en-US" altLang="en-US" sz="1200" smtClean="0"/>
              <a:pPr/>
              <a:t>34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405202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D75641-28D5-4FB2-BAFF-9884B1BC84C1}" type="slidenum">
              <a:rPr lang="en-US" altLang="en-US" sz="1200" smtClean="0"/>
              <a:pPr/>
              <a:t>39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025769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F3D925-9D11-4AEE-8AB2-1C4045E89601}" type="slidenum">
              <a:rPr lang="en-US" altLang="en-US" sz="1200" smtClean="0"/>
              <a:pPr/>
              <a:t>41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070380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E55F1D-9D38-48B4-9BCE-F6BC378BA35F}" type="slidenum">
              <a:rPr lang="en-US" altLang="en-US" sz="1200" smtClean="0"/>
              <a:pPr/>
              <a:t>44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316098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A282C9-1068-4A47-A219-0ABF645D69A5}" type="slidenum">
              <a:rPr lang="en-US" altLang="en-US" sz="1200" smtClean="0"/>
              <a:pPr/>
              <a:t>46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05367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33890D-0933-4B3E-90F1-E5C072BA0D98}" type="slidenum">
              <a:rPr lang="en-US" altLang="en-US" sz="1200" smtClean="0"/>
              <a:pPr/>
              <a:t>47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38710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4C8B24E-F4EC-400F-8CF0-0BF1321F9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0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EE56B-9A06-4905-A33D-D4AC4C51A4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9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D79A9-916A-40B4-8F0D-E16F5B9662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35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9D75C-3ACD-425D-907F-8EA508E8A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9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C8962-600C-4E80-9CCC-774F156AEC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60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229F7-8F69-4FA9-86D3-7EA974AB0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97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CC566-06A3-44FA-8487-3DBD802248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4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81A1A-8017-4113-9782-0FB606E59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14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E1E91-70BD-4695-82E7-A87E32C6D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8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BB3B7-00E4-4B62-84CF-010DA1C6D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90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7C838-5D02-4B6F-81B0-8F80DB23B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3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Lecture 2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Object-Oriented Programming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EBE3A51E-62FB-4653-A639-F961CA50FD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0" r:id="rId2"/>
    <p:sldLayoutId id="2147484165" r:id="rId3"/>
    <p:sldLayoutId id="2147484166" r:id="rId4"/>
    <p:sldLayoutId id="2147484167" r:id="rId5"/>
    <p:sldLayoutId id="2147484168" r:id="rId6"/>
    <p:sldLayoutId id="2147484161" r:id="rId7"/>
    <p:sldLayoutId id="2147484169" r:id="rId8"/>
    <p:sldLayoutId id="2147484170" r:id="rId9"/>
    <p:sldLayoutId id="2147484162" r:id="rId10"/>
    <p:sldLayoutId id="214748416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art.com/en/unicode/category/S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152400" y="1600200"/>
            <a:ext cx="8915400" cy="1830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 </a:t>
            </a:r>
            <a:br>
              <a:rPr lang="en-US" dirty="0" smtClean="0"/>
            </a:br>
            <a:r>
              <a:rPr lang="en-US" dirty="0" smtClean="0"/>
              <a:t>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696200" cy="4525962"/>
          </a:xfrm>
        </p:spPr>
        <p:txBody>
          <a:bodyPr/>
          <a:lstStyle/>
          <a:p>
            <a:pPr eaLnBrk="1" hangingPunct="1"/>
            <a:r>
              <a:rPr lang="en-US" altLang="en-US" smtClean="0"/>
              <a:t>Value, Variable and Data Type</a:t>
            </a:r>
          </a:p>
          <a:p>
            <a:pPr eaLnBrk="1" hangingPunct="1"/>
            <a:r>
              <a:rPr lang="en-US" altLang="en-US" smtClean="0"/>
              <a:t>Type Conversion</a:t>
            </a:r>
          </a:p>
          <a:p>
            <a:pPr eaLnBrk="1" hangingPunct="1"/>
            <a:r>
              <a:rPr lang="en-US" altLang="en-US" sz="2800" smtClean="0"/>
              <a:t>Arithmetic Expression Evaluation</a:t>
            </a:r>
          </a:p>
          <a:p>
            <a:pPr eaLnBrk="1" hangingPunct="1"/>
            <a:r>
              <a:rPr lang="en-US" altLang="en-US" smtClean="0"/>
              <a:t>Scope of variable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2057400"/>
            <a:ext cx="6248400" cy="3652838"/>
          </a:xfrm>
          <a:noFill/>
        </p:spPr>
      </p:pic>
      <p:sp>
        <p:nvSpPr>
          <p:cNvPr id="61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Simplistic View of a Computer</a:t>
            </a:r>
          </a:p>
        </p:txBody>
      </p:sp>
      <p:sp>
        <p:nvSpPr>
          <p:cNvPr id="13316" name="Text Box 20"/>
          <p:cNvSpPr txBox="1">
            <a:spLocks noChangeArrowheads="1"/>
          </p:cNvSpPr>
          <p:nvPr/>
        </p:nvSpPr>
        <p:spPr bwMode="auto">
          <a:xfrm>
            <a:off x="6934200" y="2743200"/>
            <a:ext cx="2057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Each location is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 byte of memory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1 byte = 8 bits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Each bit is carrying 1 or 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 store a value inside a computer a ‘variable’ is used. </a:t>
            </a:r>
          </a:p>
          <a:p>
            <a:pPr eaLnBrk="1" hangingPunct="1"/>
            <a:r>
              <a:rPr lang="en-US" altLang="en-US" smtClean="0"/>
              <a:t>A variable is a space in the memory to store a value.</a:t>
            </a:r>
          </a:p>
          <a:p>
            <a:pPr eaLnBrk="1" hangingPunct="1"/>
            <a:r>
              <a:rPr lang="en-US" altLang="en-US" smtClean="0"/>
              <a:t>This space is reserved until the variable is required.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i="1" smtClean="0"/>
              <a:t>A combination of "vary + able" which means its value can be changed.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Variable has three important characteristics: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How much memory do a variable need.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/>
              <a:t>This information is determined by a type.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Name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How to differentiate a variable with another variable of the same type.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/>
              <a:t>Name refers to the memory location assigned to this variable.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What is the value?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/>
              <a:t>The actual value contained by a variable. 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What Makes a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3657600"/>
            <a:ext cx="3581400" cy="68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>
                <a:solidFill>
                  <a:srgbClr val="008000"/>
                </a:solidFill>
              </a:rPr>
              <a:t>                            =</a:t>
            </a:r>
          </a:p>
        </p:txBody>
      </p:sp>
      <p:sp>
        <p:nvSpPr>
          <p:cNvPr id="112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An Example of a Variable</a:t>
            </a:r>
          </a:p>
        </p:txBody>
      </p:sp>
      <p:sp>
        <p:nvSpPr>
          <p:cNvPr id="16388" name="Oval 11"/>
          <p:cNvSpPr>
            <a:spLocks noChangeArrowheads="1"/>
          </p:cNvSpPr>
          <p:nvPr/>
        </p:nvSpPr>
        <p:spPr bwMode="auto">
          <a:xfrm>
            <a:off x="5257800" y="35814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35</a:t>
            </a:r>
          </a:p>
        </p:txBody>
      </p:sp>
      <p:sp>
        <p:nvSpPr>
          <p:cNvPr id="16389" name="Oval 6"/>
          <p:cNvSpPr>
            <a:spLocks noChangeArrowheads="1"/>
          </p:cNvSpPr>
          <p:nvPr/>
        </p:nvSpPr>
        <p:spPr bwMode="auto">
          <a:xfrm>
            <a:off x="3124200" y="3581400"/>
            <a:ext cx="19050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temperature</a:t>
            </a:r>
          </a:p>
        </p:txBody>
      </p:sp>
      <p:sp>
        <p:nvSpPr>
          <p:cNvPr id="16390" name="Oval 4"/>
          <p:cNvSpPr>
            <a:spLocks noChangeArrowheads="1"/>
          </p:cNvSpPr>
          <p:nvPr/>
        </p:nvSpPr>
        <p:spPr bwMode="auto">
          <a:xfrm>
            <a:off x="2438400" y="3581400"/>
            <a:ext cx="6096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int</a:t>
            </a:r>
          </a:p>
        </p:txBody>
      </p:sp>
      <p:sp>
        <p:nvSpPr>
          <p:cNvPr id="16391" name="Text Box 5"/>
          <p:cNvSpPr txBox="1">
            <a:spLocks noChangeArrowheads="1"/>
          </p:cNvSpPr>
          <p:nvPr/>
        </p:nvSpPr>
        <p:spPr bwMode="auto">
          <a:xfrm>
            <a:off x="304800" y="2667000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Type of the variable is integer (written as “int” in Java)</a:t>
            </a:r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>
            <a:off x="2438400" y="31242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Text Box 8"/>
          <p:cNvSpPr txBox="1">
            <a:spLocks noChangeArrowheads="1"/>
          </p:cNvSpPr>
          <p:nvPr/>
        </p:nvSpPr>
        <p:spPr bwMode="auto">
          <a:xfrm>
            <a:off x="441325" y="4384675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A name of the variable</a:t>
            </a:r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V="1">
            <a:off x="3048000" y="4038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Line 12"/>
          <p:cNvSpPr>
            <a:spLocks noChangeShapeType="1"/>
          </p:cNvSpPr>
          <p:nvPr/>
        </p:nvSpPr>
        <p:spPr bwMode="auto">
          <a:xfrm flipH="1" flipV="1">
            <a:off x="5486400" y="41148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Text Box 13"/>
          <p:cNvSpPr txBox="1">
            <a:spLocks noChangeArrowheads="1"/>
          </p:cNvSpPr>
          <p:nvPr/>
        </p:nvSpPr>
        <p:spPr bwMode="auto">
          <a:xfrm>
            <a:off x="4784725" y="4918075"/>
            <a:ext cx="3910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An initial value of the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9"/>
          <p:cNvSpPr>
            <a:spLocks noGrp="1" noChangeArrowheads="1"/>
          </p:cNvSpPr>
          <p:nvPr>
            <p:ph idx="1"/>
          </p:nvPr>
        </p:nvSpPr>
        <p:spPr>
          <a:xfrm>
            <a:off x="228600" y="2057400"/>
            <a:ext cx="3581400" cy="68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smtClean="0"/>
              <a:t>int temperature =35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Example of a Variable </a:t>
            </a:r>
            <a:br>
              <a:rPr lang="en-US" sz="4000" smtClean="0"/>
            </a:br>
            <a:r>
              <a:rPr lang="en-US" sz="4000" smtClean="0"/>
              <a:t>(Memory View)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4648200" y="25146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00000000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5562600" y="25146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0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4648200" y="27432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00000000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562600" y="27432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1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4648200" y="29718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00000000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5562600" y="29718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2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4648200" y="32004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00100011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562600" y="32004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3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4648200" y="3429000"/>
            <a:ext cx="8382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5562600" y="34290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4</a:t>
            </a: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4648200" y="3657600"/>
            <a:ext cx="8382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5562600" y="36576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5</a:t>
            </a: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5486400" y="38862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4648200" y="38862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AutoShape 18"/>
          <p:cNvSpPr>
            <a:spLocks/>
          </p:cNvSpPr>
          <p:nvPr/>
        </p:nvSpPr>
        <p:spPr bwMode="auto">
          <a:xfrm>
            <a:off x="4114800" y="2590800"/>
            <a:ext cx="304800" cy="838200"/>
          </a:xfrm>
          <a:prstGeom prst="leftBracket">
            <a:avLst>
              <a:gd name="adj" fmla="val 2291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27" name="Text Box 24"/>
          <p:cNvSpPr txBox="1">
            <a:spLocks noChangeArrowheads="1"/>
          </p:cNvSpPr>
          <p:nvPr/>
        </p:nvSpPr>
        <p:spPr bwMode="auto">
          <a:xfrm>
            <a:off x="1219200" y="2667000"/>
            <a:ext cx="2798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Locations 0 – 3 are collectively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called as ‘temperature’</a:t>
            </a:r>
          </a:p>
        </p:txBody>
      </p:sp>
      <p:sp>
        <p:nvSpPr>
          <p:cNvPr id="17428" name="Text Box 25"/>
          <p:cNvSpPr txBox="1">
            <a:spLocks noChangeArrowheads="1"/>
          </p:cNvSpPr>
          <p:nvPr/>
        </p:nvSpPr>
        <p:spPr bwMode="auto">
          <a:xfrm>
            <a:off x="1066800" y="3581400"/>
            <a:ext cx="3227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100011 is the binary equivalent of 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mtClean="0"/>
              <a:t>Lets change the value of ‘temperature’.</a:t>
            </a: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Changing the Value of Variable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04800" y="2819400"/>
            <a:ext cx="3103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temperature   =    45902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629400" y="37338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00000000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7543800" y="37338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0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6629400" y="39624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00000000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543800" y="39624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1</a:t>
            </a: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6629400" y="41910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10110011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7543800" y="41910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2</a:t>
            </a: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6629400" y="4419600"/>
            <a:ext cx="838200" cy="228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01001110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7543800" y="44196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3</a:t>
            </a:r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6629400" y="4648200"/>
            <a:ext cx="8382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7543800" y="46482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4</a:t>
            </a:r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6629400" y="4876800"/>
            <a:ext cx="838200" cy="228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7543800" y="4876800"/>
            <a:ext cx="8429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Location 5</a:t>
            </a:r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7467600" y="51054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Line 18"/>
          <p:cNvSpPr>
            <a:spLocks noChangeShapeType="1"/>
          </p:cNvSpPr>
          <p:nvPr/>
        </p:nvSpPr>
        <p:spPr bwMode="auto">
          <a:xfrm>
            <a:off x="6629400" y="51054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5" name="AutoShape 19"/>
          <p:cNvSpPr>
            <a:spLocks/>
          </p:cNvSpPr>
          <p:nvPr/>
        </p:nvSpPr>
        <p:spPr bwMode="auto">
          <a:xfrm>
            <a:off x="6096000" y="3810000"/>
            <a:ext cx="304800" cy="838200"/>
          </a:xfrm>
          <a:prstGeom prst="leftBracket">
            <a:avLst>
              <a:gd name="adj" fmla="val 2291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76" name="Text Box 20"/>
          <p:cNvSpPr txBox="1">
            <a:spLocks noChangeArrowheads="1"/>
          </p:cNvSpPr>
          <p:nvPr/>
        </p:nvSpPr>
        <p:spPr bwMode="auto">
          <a:xfrm>
            <a:off x="3200400" y="3886200"/>
            <a:ext cx="2798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Locations 0 – 3 are collectively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called as ‘temperature’</a:t>
            </a:r>
          </a:p>
        </p:txBody>
      </p:sp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1828800" y="4953000"/>
            <a:ext cx="464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10110011</a:t>
            </a:r>
            <a:r>
              <a:rPr lang="en-US" sz="1600" dirty="0"/>
              <a:t>01001110  is the binary equivalent of 45902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rot="16200000" flipH="1">
            <a:off x="1677987" y="4497388"/>
            <a:ext cx="301625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81000" y="40386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900" dirty="0"/>
              <a:t>Location  </a:t>
            </a:r>
            <a:r>
              <a:rPr lang="en-US" sz="1100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are three types of variables:</a:t>
            </a:r>
            <a:endParaRPr lang="en-US" altLang="en-US" i="1" smtClean="0"/>
          </a:p>
          <a:p>
            <a:pPr lvl="1"/>
            <a:r>
              <a:rPr lang="en-US" altLang="en-US" i="1" smtClean="0"/>
              <a:t>local variable</a:t>
            </a:r>
          </a:p>
          <a:p>
            <a:pPr lvl="2" eaLnBrk="1" hangingPunct="1"/>
            <a:r>
              <a:rPr lang="en-US" altLang="en-US" smtClean="0"/>
              <a:t>A variable which is declared inside the method is called local variable. </a:t>
            </a:r>
            <a:endParaRPr lang="en-US" altLang="en-US" i="1" smtClean="0"/>
          </a:p>
          <a:p>
            <a:pPr lvl="1"/>
            <a:r>
              <a:rPr lang="en-US" altLang="en-US" i="1" smtClean="0"/>
              <a:t>instance variable</a:t>
            </a:r>
          </a:p>
          <a:p>
            <a:pPr lvl="2" eaLnBrk="1" hangingPunct="1"/>
            <a:r>
              <a:rPr lang="en-US" altLang="en-US" smtClean="0"/>
              <a:t>A variable which is declared inside the class but outside the method, is called instance variable . It is not declared as static.</a:t>
            </a:r>
            <a:endParaRPr lang="en-US" altLang="en-US" i="1" smtClean="0"/>
          </a:p>
          <a:p>
            <a:pPr lvl="1"/>
            <a:r>
              <a:rPr lang="en-US" altLang="en-US" i="1" smtClean="0"/>
              <a:t>static variable</a:t>
            </a:r>
          </a:p>
          <a:p>
            <a:pPr lvl="2" eaLnBrk="1" hangingPunct="1"/>
            <a:r>
              <a:rPr lang="en-US" altLang="en-US" smtClean="0"/>
              <a:t>A variable that is declared as static is called static variable. It cannot be local.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Types of Variables</a:t>
            </a:r>
            <a:endParaRPr lang="en-US" dirty="0"/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C88BBE7-D52C-4CC9-8FF6-5F1BB5D00C94}" type="slidenum">
              <a:rPr lang="en-US" altLang="en-US" sz="1000" smtClean="0"/>
              <a:pPr/>
              <a:t>9</a:t>
            </a:fld>
            <a:endParaRPr lang="en-US" altLang="en-US" sz="10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4724400" cy="4525962"/>
          </a:xfrm>
        </p:spPr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b="1" dirty="0"/>
              <a:t>class</a:t>
            </a:r>
            <a:r>
              <a:rPr lang="en-US" sz="2400" dirty="0"/>
              <a:t> A{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b="1" dirty="0" err="1"/>
              <a:t>int</a:t>
            </a:r>
            <a:r>
              <a:rPr lang="en-US" sz="2400" dirty="0"/>
              <a:t> data=50;</a:t>
            </a:r>
            <a:r>
              <a:rPr lang="en-US" sz="2400" dirty="0">
                <a:solidFill>
                  <a:srgbClr val="92D050"/>
                </a:solidFill>
              </a:rPr>
              <a:t>//instance variable</a:t>
            </a:r>
            <a:r>
              <a:rPr lang="en-US" sz="2400" dirty="0"/>
              <a:t>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b="1" dirty="0"/>
              <a:t>static</a:t>
            </a:r>
            <a:r>
              <a:rPr lang="en-US" sz="2400" dirty="0"/>
              <a:t> </a:t>
            </a:r>
            <a:r>
              <a:rPr lang="en-US" sz="2400" b="1" dirty="0" err="1"/>
              <a:t>int</a:t>
            </a:r>
            <a:r>
              <a:rPr lang="en-US" sz="2400" dirty="0"/>
              <a:t> m=100;</a:t>
            </a:r>
            <a:r>
              <a:rPr lang="en-US" sz="2400" dirty="0">
                <a:solidFill>
                  <a:srgbClr val="92D050"/>
                </a:solidFill>
              </a:rPr>
              <a:t>//static variable</a:t>
            </a:r>
            <a:r>
              <a:rPr lang="en-US" sz="2400" dirty="0"/>
              <a:t>  </a:t>
            </a:r>
            <a:endParaRPr lang="en-US" sz="2400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b="1" dirty="0" smtClean="0"/>
              <a:t>void</a:t>
            </a:r>
            <a:r>
              <a:rPr lang="en-US" sz="2400" dirty="0" smtClean="0"/>
              <a:t> method(){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b="1" dirty="0" err="1" smtClean="0"/>
              <a:t>int</a:t>
            </a:r>
            <a:r>
              <a:rPr lang="en-US" sz="2400" dirty="0"/>
              <a:t> n=90;</a:t>
            </a:r>
            <a:r>
              <a:rPr lang="en-US" sz="2400" dirty="0">
                <a:solidFill>
                  <a:srgbClr val="92D050"/>
                </a:solidFill>
              </a:rPr>
              <a:t>//local variable</a:t>
            </a:r>
            <a:r>
              <a:rPr lang="en-US" sz="2400" dirty="0"/>
              <a:t>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/>
              <a:t>}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sz="2400" dirty="0"/>
              <a:t>}//end of class  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Types of </a:t>
            </a:r>
            <a:r>
              <a:rPr lang="en-US" dirty="0" smtClean="0"/>
              <a:t>Variables (Example)</a:t>
            </a:r>
            <a:endParaRPr lang="en-US" dirty="0"/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E7CE7D8-B5C7-4465-B8DD-E6F12A2A7D33}" type="slidenum">
              <a:rPr lang="en-US" altLang="en-US" sz="1000" smtClean="0"/>
              <a:pPr/>
              <a:t>10</a:t>
            </a:fld>
            <a:endParaRPr lang="en-US" altLang="en-US" sz="1000" smtClean="0"/>
          </a:p>
        </p:txBody>
      </p:sp>
      <p:pic>
        <p:nvPicPr>
          <p:cNvPr id="2253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2743200"/>
            <a:ext cx="453548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Data types represent the different values to be stored in the variable. </a:t>
            </a:r>
          </a:p>
          <a:p>
            <a:r>
              <a:rPr lang="en-US" altLang="en-US" smtClean="0"/>
              <a:t>In java, there are two types of data types:</a:t>
            </a:r>
            <a:endParaRPr lang="en-US" altLang="en-US" i="1" smtClean="0"/>
          </a:p>
          <a:p>
            <a:pPr lvl="1"/>
            <a:r>
              <a:rPr lang="en-US" altLang="en-US" smtClean="0"/>
              <a:t>Primitive data types</a:t>
            </a:r>
          </a:p>
          <a:p>
            <a:pPr lvl="1"/>
            <a:r>
              <a:rPr lang="en-US" altLang="en-US" smtClean="0"/>
              <a:t>Non-primitive data types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Data Types in Java</a:t>
            </a:r>
            <a:endParaRPr lang="en-US" dirty="0"/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F681D04-2D2D-4783-B30F-120615A49D88}" type="slidenum">
              <a:rPr lang="en-US" altLang="en-US" sz="1000" smtClean="0"/>
              <a:pPr/>
              <a:t>11</a:t>
            </a:fld>
            <a:endParaRPr lang="en-US" altLang="en-US" sz="10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Types in Java</a:t>
            </a: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5B07D4F-A616-4D2F-964C-34A20D5E7A23}" type="slidenum">
              <a:rPr lang="en-US" altLang="en-US" sz="1000" smtClean="0"/>
              <a:pPr/>
              <a:t>12</a:t>
            </a:fld>
            <a:endParaRPr lang="en-US" altLang="en-US" sz="1000" smtClean="0"/>
          </a:p>
        </p:txBody>
      </p:sp>
      <p:pic>
        <p:nvPicPr>
          <p:cNvPr id="26628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524000"/>
            <a:ext cx="8037513" cy="444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Primitive data types: </a:t>
            </a:r>
            <a:r>
              <a:rPr lang="en-GB" dirty="0"/>
              <a:t>The predefined data types provided by </a:t>
            </a:r>
            <a:r>
              <a:rPr lang="en-GB" dirty="0" smtClean="0"/>
              <a:t>Java </a:t>
            </a:r>
            <a:r>
              <a:rPr lang="en-GB" dirty="0"/>
              <a:t>language are known as primitive data types. Primitive data types are also known as in-built data types.</a:t>
            </a:r>
          </a:p>
          <a:p>
            <a:r>
              <a:rPr lang="en-GB" b="1" dirty="0"/>
              <a:t>Non-primitive data types:</a:t>
            </a:r>
            <a:r>
              <a:rPr lang="en-GB" dirty="0"/>
              <a:t> The data types that are derived from primitive data types of </a:t>
            </a:r>
            <a:r>
              <a:rPr lang="en-GB"/>
              <a:t>the </a:t>
            </a:r>
            <a:r>
              <a:rPr lang="en-GB" smtClean="0"/>
              <a:t>Java </a:t>
            </a:r>
            <a:r>
              <a:rPr lang="en-GB" dirty="0"/>
              <a:t>language are known as non-primitive data types. It is also known as derived data types or reference data types.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Lecture 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Object-Oriented Programming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EE56B-9A06-4905-A33D-D4AC4C51A46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1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mtClean="0"/>
              <a:t>Among other advantages a ‘type’ binds the memory to a variable name. </a:t>
            </a:r>
          </a:p>
          <a:p>
            <a:r>
              <a:rPr lang="en-US" altLang="en-US" i="1" smtClean="0">
                <a:solidFill>
                  <a:srgbClr val="FF0000"/>
                </a:solidFill>
              </a:rPr>
              <a:t>Java is more strictly typed</a:t>
            </a:r>
            <a:r>
              <a:rPr lang="en-US" altLang="en-US" i="1" smtClean="0"/>
              <a:t> than either language.</a:t>
            </a:r>
          </a:p>
          <a:p>
            <a:pPr lvl="1"/>
            <a:r>
              <a:rPr lang="en-US" altLang="en-US" i="1" smtClean="0"/>
              <a:t>For example, in C/C++ you can assign a floating-point value to an integer. In Java, you cannot.</a:t>
            </a:r>
          </a:p>
          <a:p>
            <a:pPr lvl="1"/>
            <a:r>
              <a:rPr lang="en-US" altLang="en-US" i="1" smtClean="0"/>
              <a:t>Also, in C there is not necessarily strong type-checking between a parameter and an argument. In Java, there is.</a:t>
            </a:r>
            <a:endParaRPr lang="en-US" altLang="en-US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Type of a Variable</a:t>
            </a:r>
          </a:p>
        </p:txBody>
      </p:sp>
      <p:pic>
        <p:nvPicPr>
          <p:cNvPr id="2867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572000"/>
            <a:ext cx="2743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Box 6"/>
          <p:cNvSpPr txBox="1">
            <a:spLocks noChangeArrowheads="1"/>
          </p:cNvSpPr>
          <p:nvPr/>
        </p:nvSpPr>
        <p:spPr bwMode="auto">
          <a:xfrm>
            <a:off x="2057400" y="419100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Java</a:t>
            </a:r>
          </a:p>
        </p:txBody>
      </p:sp>
      <p:sp>
        <p:nvSpPr>
          <p:cNvPr id="28678" name="TextBox 7"/>
          <p:cNvSpPr txBox="1">
            <a:spLocks noChangeArrowheads="1"/>
          </p:cNvSpPr>
          <p:nvPr/>
        </p:nvSpPr>
        <p:spPr bwMode="auto">
          <a:xfrm>
            <a:off x="7391400" y="4191000"/>
            <a:ext cx="757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C++</a:t>
            </a:r>
          </a:p>
        </p:txBody>
      </p:sp>
      <p:pic>
        <p:nvPicPr>
          <p:cNvPr id="2867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0010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By default, The type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/>
              <a:t> is of 4 bytes (32 bits)</a:t>
            </a:r>
          </a:p>
          <a:p>
            <a:pPr eaLnBrk="1" hangingPunct="1">
              <a:defRPr/>
            </a:pPr>
            <a:r>
              <a:rPr lang="en-US" dirty="0" smtClean="0"/>
              <a:t>Therefore, it can hold maximum of 2,147,483,647 value (</a:t>
            </a:r>
            <a:r>
              <a:rPr lang="en-US" dirty="0"/>
              <a:t>2</a:t>
            </a:r>
            <a:r>
              <a:rPr lang="en-US" baseline="30000" dirty="0"/>
              <a:t>31</a:t>
            </a:r>
            <a:r>
              <a:rPr lang="en-US" dirty="0"/>
              <a:t>-1</a:t>
            </a:r>
            <a:r>
              <a:rPr lang="en-US" dirty="0" smtClean="0"/>
              <a:t>). </a:t>
            </a:r>
          </a:p>
          <a:p>
            <a:pPr eaLnBrk="1" hangingPunct="1">
              <a:defRPr/>
            </a:pPr>
            <a:r>
              <a:rPr lang="en-US" dirty="0" smtClean="0"/>
              <a:t>It can also hold values in negative down to</a:t>
            </a:r>
          </a:p>
          <a:p>
            <a:pPr eaLnBrk="1" hangingPunct="1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 	-2,147,483,648 (</a:t>
            </a:r>
            <a:r>
              <a:rPr lang="en-US" dirty="0"/>
              <a:t>-2</a:t>
            </a:r>
            <a:r>
              <a:rPr lang="en-US" baseline="30000" dirty="0"/>
              <a:t>31</a:t>
            </a:r>
            <a:r>
              <a:rPr lang="en-US" dirty="0" smtClean="0"/>
              <a:t>).</a:t>
            </a:r>
          </a:p>
          <a:p>
            <a:pPr eaLnBrk="1" hangingPunct="1">
              <a:defRPr/>
            </a:pPr>
            <a:r>
              <a:rPr lang="en-US" dirty="0"/>
              <a:t>In Java SE 8 and later, you can use the </a:t>
            </a:r>
            <a:r>
              <a:rPr lang="en-US" dirty="0" err="1"/>
              <a:t>int</a:t>
            </a:r>
            <a:r>
              <a:rPr lang="en-US" dirty="0"/>
              <a:t> data type to represent an unsigned 32-bit </a:t>
            </a:r>
            <a:r>
              <a:rPr lang="en-US" dirty="0" smtClean="0"/>
              <a:t>integer 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(‘0’ – ‘2</a:t>
            </a:r>
            <a:r>
              <a:rPr lang="en-US" baseline="30000" dirty="0" smtClean="0"/>
              <a:t>31</a:t>
            </a:r>
            <a:r>
              <a:rPr lang="en-US" dirty="0" smtClean="0"/>
              <a:t>-1’)</a:t>
            </a:r>
            <a:endParaRPr lang="en-US" dirty="0"/>
          </a:p>
          <a:p>
            <a:pPr eaLnBrk="1" hangingPunct="1">
              <a:defRPr/>
            </a:pPr>
            <a:r>
              <a:rPr lang="en-US" dirty="0"/>
              <a:t>Static methods like </a:t>
            </a:r>
            <a:r>
              <a:rPr lang="en-US" sz="2000" dirty="0" err="1" smtClean="0"/>
              <a:t>compareUnsigned</a:t>
            </a:r>
            <a:r>
              <a:rPr lang="en-US" sz="2000" dirty="0" smtClean="0"/>
              <a:t>, </a:t>
            </a:r>
            <a:r>
              <a:rPr lang="en-US" sz="2000" dirty="0" err="1" smtClean="0"/>
              <a:t>divideUnsigned</a:t>
            </a:r>
            <a:r>
              <a:rPr lang="en-US" sz="2000" dirty="0" smtClean="0"/>
              <a:t> </a:t>
            </a:r>
            <a:r>
              <a:rPr lang="en-US" sz="2000" dirty="0" err="1" smtClean="0"/>
              <a:t>etc</a:t>
            </a:r>
            <a:r>
              <a:rPr lang="en-US" dirty="0"/>
              <a:t> have been added to the Integer class to support the arithmetic operations for unsigned </a:t>
            </a:r>
            <a:r>
              <a:rPr lang="en-US" dirty="0" smtClean="0"/>
              <a:t>integers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Int</a:t>
            </a:r>
            <a:r>
              <a:rPr lang="en-US" dirty="0" smtClean="0"/>
              <a:t> Data type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>
                <a:solidFill>
                  <a:srgbClr val="FF0000"/>
                </a:solidFill>
              </a:rPr>
              <a:t>int</a:t>
            </a:r>
            <a:r>
              <a:rPr lang="en-US" altLang="en-US" sz="2800" smtClean="0"/>
              <a:t> cannot hold a real value.</a:t>
            </a:r>
          </a:p>
          <a:p>
            <a:pPr eaLnBrk="1" hangingPunct="1"/>
            <a:r>
              <a:rPr lang="en-US" altLang="en-US" sz="2800" smtClean="0"/>
              <a:t>Therefore, a type “</a:t>
            </a:r>
            <a:r>
              <a:rPr lang="en-US" altLang="en-US" sz="2800" smtClean="0">
                <a:solidFill>
                  <a:srgbClr val="FF0000"/>
                </a:solidFill>
              </a:rPr>
              <a:t>double</a:t>
            </a:r>
            <a:r>
              <a:rPr lang="en-US" altLang="en-US" sz="2800" smtClean="0"/>
              <a:t>” is used to hold real values. </a:t>
            </a:r>
          </a:p>
          <a:p>
            <a:pPr eaLnBrk="1" hangingPunct="1"/>
            <a:r>
              <a:rPr lang="en-US" altLang="en-US" sz="2800" smtClean="0"/>
              <a:t>Double takes 8 bytes of memory instead of 4 bytes of a double. </a:t>
            </a:r>
          </a:p>
          <a:p>
            <a:pPr eaLnBrk="1" hangingPunct="1"/>
            <a:r>
              <a:rPr lang="en-US" altLang="en-US" sz="2800" smtClean="0"/>
              <a:t>Out of the 8 bytes in a double 4 bytes are used to hold the value before the decimal point and 4 bytes for the value after the decimal point. </a:t>
            </a:r>
          </a:p>
          <a:p>
            <a:pPr eaLnBrk="1" hangingPunct="1"/>
            <a:endParaRPr lang="en-US" altLang="en-US" sz="28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Double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7200" y="1981200"/>
            <a:ext cx="2195513" cy="3989388"/>
          </a:xfrm>
          <a:noFill/>
        </p:spPr>
      </p:pic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382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Relative Comparison of int and double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1219200" y="1905000"/>
            <a:ext cx="2811463" cy="181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int numPeople = 2;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Reserves 32 bits (4 bytes)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and sets the value stored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in that space to 2. The 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‘numPeople’ is associated with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this space. </a:t>
            </a:r>
          </a:p>
        </p:txBody>
      </p:sp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1203325" y="3871913"/>
            <a:ext cx="2840038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double bill = 32.45;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Reserves 64 bits (8 bytes)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and sets the value stored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in that space to 32.45. The 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‘bill’ is associated with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this space.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4525963"/>
          </a:xfrm>
        </p:spPr>
        <p:txBody>
          <a:bodyPr/>
          <a:lstStyle/>
          <a:p>
            <a:r>
              <a:rPr lang="en-US" altLang="en-US" smtClean="0"/>
              <a:t>In Java, the data type used to store characters is </a:t>
            </a:r>
            <a:r>
              <a:rPr lang="en-US" altLang="en-US" b="1" smtClean="0"/>
              <a:t>char. </a:t>
            </a:r>
          </a:p>
          <a:p>
            <a:r>
              <a:rPr lang="en-US" altLang="en-US" smtClean="0"/>
              <a:t>However char in Java is not the same as char in C or C++. </a:t>
            </a:r>
          </a:p>
          <a:p>
            <a:pPr lvl="1"/>
            <a:r>
              <a:rPr lang="en-US" altLang="en-US" sz="2000" smtClean="0"/>
              <a:t>In C/C++, char is an integer type that is 8 bits wide. </a:t>
            </a:r>
          </a:p>
          <a:p>
            <a:pPr lvl="1"/>
            <a:r>
              <a:rPr lang="en-US" altLang="en-US" sz="2000" smtClean="0"/>
              <a:t>This is not the case in Java. Instead, Java uses Unicode to represent characters. </a:t>
            </a:r>
          </a:p>
          <a:p>
            <a:pPr lvl="1"/>
            <a:r>
              <a:rPr lang="en-US" altLang="en-US" sz="2000" i="1" smtClean="0">
                <a:solidFill>
                  <a:srgbClr val="FF0000"/>
                </a:solidFill>
              </a:rPr>
              <a:t>Unicode</a:t>
            </a:r>
            <a:r>
              <a:rPr lang="en-US" altLang="en-US" sz="2000" i="1" smtClean="0"/>
              <a:t> defines a fully international character set that can represent all of </a:t>
            </a:r>
            <a:r>
              <a:rPr lang="en-US" altLang="en-US" sz="2000" smtClean="0"/>
              <a:t>the characters found in all human languages.</a:t>
            </a:r>
          </a:p>
          <a:p>
            <a:pPr lvl="1"/>
            <a:r>
              <a:rPr lang="en-US" altLang="en-US" sz="2000" smtClean="0"/>
              <a:t>It is a unification of dozens of character sets, such as Latin, Greek, Arabic, Cyrillic, Hebrew, Katakana, Hangul, and many more.</a:t>
            </a:r>
          </a:p>
          <a:p>
            <a:pPr lvl="1"/>
            <a:r>
              <a:rPr lang="en-US" altLang="en-US" sz="2000" smtClean="0"/>
              <a:t>For this purpose, it requires 16 bits. Thus, in Java </a:t>
            </a:r>
            <a:r>
              <a:rPr lang="en-US" altLang="en-US" sz="2000" b="1" smtClean="0"/>
              <a:t>char is a 16-bit type.</a:t>
            </a:r>
            <a:endParaRPr lang="en-US" altLang="en-US" sz="200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Char Data Type</a:t>
            </a:r>
            <a:endParaRPr lang="en-US" dirty="0"/>
          </a:p>
        </p:txBody>
      </p:sp>
      <p:sp>
        <p:nvSpPr>
          <p:cNvPr id="35844" name="TextBox 1"/>
          <p:cNvSpPr txBox="1">
            <a:spLocks noChangeArrowheads="1"/>
          </p:cNvSpPr>
          <p:nvPr/>
        </p:nvSpPr>
        <p:spPr bwMode="auto">
          <a:xfrm>
            <a:off x="3581400" y="6172200"/>
            <a:ext cx="533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solidFill>
                  <a:srgbClr val="00B0F0"/>
                </a:solidFill>
                <a:hlinkClick r:id="rId3"/>
              </a:rPr>
              <a:t>https://www.compart.com/en/unicode/category/So</a:t>
            </a:r>
            <a:r>
              <a:rPr lang="en-US" altLang="en-US" sz="2000">
                <a:solidFill>
                  <a:srgbClr val="00B0F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Java has a simple type, called boolean, for logical values.</a:t>
            </a:r>
          </a:p>
          <a:p>
            <a:r>
              <a:rPr lang="en-US" altLang="en-US" smtClean="0"/>
              <a:t>It can have only one of two possible values, true or false. </a:t>
            </a:r>
          </a:p>
          <a:p>
            <a:r>
              <a:rPr lang="en-US" altLang="en-US" smtClean="0"/>
              <a:t>This is the type returned by all relational operators, suchas </a:t>
            </a:r>
            <a:r>
              <a:rPr lang="en-US" altLang="en-US" b="1" smtClean="0"/>
              <a:t>a &lt; b</a:t>
            </a:r>
            <a:r>
              <a:rPr lang="en-US" altLang="en-US" smtClean="0"/>
              <a:t>.</a:t>
            </a:r>
          </a:p>
          <a:p>
            <a:r>
              <a:rPr lang="en-US" altLang="en-US" smtClean="0"/>
              <a:t>boolean is also the type </a:t>
            </a:r>
            <a:r>
              <a:rPr lang="en-US" altLang="en-US" i="1" smtClean="0"/>
              <a:t>required by the conditional expressions that govern the </a:t>
            </a:r>
            <a:r>
              <a:rPr lang="en-US" altLang="en-US" smtClean="0"/>
              <a:t>control statements such as </a:t>
            </a:r>
            <a:r>
              <a:rPr lang="en-US" altLang="en-US" smtClean="0">
                <a:solidFill>
                  <a:srgbClr val="FF0000"/>
                </a:solidFill>
              </a:rPr>
              <a:t>if</a:t>
            </a:r>
            <a:r>
              <a:rPr lang="en-US" altLang="en-US" smtClean="0"/>
              <a:t> and </a:t>
            </a:r>
            <a:r>
              <a:rPr lang="en-US" altLang="en-US" smtClean="0">
                <a:solidFill>
                  <a:srgbClr val="FF0000"/>
                </a:solidFill>
              </a:rPr>
              <a:t>for</a:t>
            </a:r>
            <a:r>
              <a:rPr lang="en-US" altLang="en-US" smtClean="0"/>
              <a:t>.</a:t>
            </a:r>
          </a:p>
          <a:p>
            <a:r>
              <a:rPr lang="en-US" altLang="en-US" smtClean="0">
                <a:solidFill>
                  <a:srgbClr val="FF0000"/>
                </a:solidFill>
              </a:rPr>
              <a:t>How much memory will be required to store a Boolean variable??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Boolean Data Type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9763" y="1731963"/>
            <a:ext cx="7864475" cy="4379912"/>
          </a:xfrm>
        </p:spPr>
      </p:pic>
      <p:sp>
        <p:nvSpPr>
          <p:cNvPr id="1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Simple Types in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Java can perform conversion automatically</a:t>
            </a:r>
          </a:p>
          <a:p>
            <a:pPr eaLnBrk="1" hangingPunct="1"/>
            <a:r>
              <a:rPr lang="en-US" altLang="en-US" smtClean="0"/>
              <a:t>Depends upon type compatibility</a:t>
            </a:r>
          </a:p>
          <a:p>
            <a:pPr eaLnBrk="1" hangingPunct="1"/>
            <a:r>
              <a:rPr lang="en-US" altLang="en-US" smtClean="0">
                <a:solidFill>
                  <a:srgbClr val="FF0000"/>
                </a:solidFill>
              </a:rPr>
              <a:t>int</a:t>
            </a:r>
            <a:r>
              <a:rPr lang="en-US" altLang="en-US" smtClean="0"/>
              <a:t> value can be assigned to </a:t>
            </a:r>
            <a:r>
              <a:rPr lang="en-US" altLang="en-US" smtClean="0">
                <a:solidFill>
                  <a:srgbClr val="FF0000"/>
                </a:solidFill>
              </a:rPr>
              <a:t>long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Not all type conversions implicitly allowed.</a:t>
            </a:r>
          </a:p>
          <a:p>
            <a:pPr eaLnBrk="1" hangingPunct="1"/>
            <a:r>
              <a:rPr lang="en-US" altLang="en-US" smtClean="0"/>
              <a:t>Cant assign a long value to int. </a:t>
            </a:r>
          </a:p>
          <a:p>
            <a:pPr eaLnBrk="1" hangingPunct="1"/>
            <a:r>
              <a:rPr lang="en-US" altLang="en-US" smtClean="0"/>
              <a:t>Solution</a:t>
            </a:r>
          </a:p>
          <a:p>
            <a:pPr lvl="1" eaLnBrk="1" hangingPunct="1"/>
            <a:r>
              <a:rPr lang="en-US" altLang="en-US" smtClean="0">
                <a:solidFill>
                  <a:srgbClr val="FF0000"/>
                </a:solidFill>
              </a:rPr>
              <a:t>Casting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Type Conversion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Widening conversion</a:t>
            </a:r>
          </a:p>
          <a:p>
            <a:pPr lvl="1" eaLnBrk="1" hangingPunct="1"/>
            <a:r>
              <a:rPr lang="en-US" altLang="en-US" smtClean="0"/>
              <a:t>Narrow data types are converted into broad data type with out loss of information</a:t>
            </a:r>
          </a:p>
          <a:p>
            <a:pPr lvl="2" eaLnBrk="1" hangingPunct="1"/>
            <a:r>
              <a:rPr lang="en-US" altLang="en-US" smtClean="0"/>
              <a:t>Both types are compatible.</a:t>
            </a:r>
          </a:p>
          <a:p>
            <a:pPr lvl="3" eaLnBrk="1" hangingPunct="1"/>
            <a:r>
              <a:rPr lang="en-US" altLang="en-US" smtClean="0"/>
              <a:t>Numeric types are not compatible with Boolean and char</a:t>
            </a:r>
          </a:p>
          <a:p>
            <a:pPr lvl="2" eaLnBrk="1" hangingPunct="1"/>
            <a:r>
              <a:rPr lang="en-US" altLang="en-US" smtClean="0"/>
              <a:t>Destination type is larger than source type.</a:t>
            </a:r>
          </a:p>
          <a:p>
            <a:pPr lvl="1" eaLnBrk="1" hangingPunct="1"/>
            <a:r>
              <a:rPr lang="en-US" altLang="en-US" smtClean="0"/>
              <a:t>Example</a:t>
            </a:r>
          </a:p>
          <a:p>
            <a:pPr lvl="2" eaLnBrk="1" hangingPunct="1"/>
            <a:r>
              <a:rPr lang="en-US" altLang="en-US" smtClean="0"/>
              <a:t>byte </a:t>
            </a:r>
            <a:r>
              <a:rPr lang="en-US" altLang="en-US" smtClean="0">
                <a:sym typeface="Wingdings" panose="05000000000000000000" pitchFamily="2" charset="2"/>
              </a:rPr>
              <a:t> int</a:t>
            </a:r>
          </a:p>
          <a:p>
            <a:pPr lvl="2" eaLnBrk="1" hangingPunct="1"/>
            <a:r>
              <a:rPr lang="en-US" altLang="en-US" smtClean="0">
                <a:sym typeface="Wingdings" panose="05000000000000000000" pitchFamily="2" charset="2"/>
              </a:rPr>
              <a:t>int  long</a:t>
            </a:r>
            <a:endParaRPr lang="en-US" altLang="en-US" smtClean="0"/>
          </a:p>
          <a:p>
            <a:pPr lvl="1" eaLnBrk="1" hangingPunct="1"/>
            <a:endParaRPr lang="en-US" altLang="en-US" smtClean="0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Type Conversion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b="1" smtClean="0"/>
              <a:t>class</a:t>
            </a:r>
            <a:r>
              <a:rPr lang="en-US" altLang="en-US" smtClean="0"/>
              <a:t> Simple{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b="1" smtClean="0"/>
              <a:t>public</a:t>
            </a:r>
            <a:r>
              <a:rPr lang="en-US" altLang="en-US" smtClean="0"/>
              <a:t> </a:t>
            </a:r>
            <a:r>
              <a:rPr lang="en-US" altLang="en-US" b="1" smtClean="0"/>
              <a:t>static</a:t>
            </a:r>
            <a:r>
              <a:rPr lang="en-US" altLang="en-US" smtClean="0"/>
              <a:t> </a:t>
            </a:r>
            <a:r>
              <a:rPr lang="en-US" altLang="en-US" b="1" smtClean="0"/>
              <a:t>void</a:t>
            </a:r>
            <a:r>
              <a:rPr lang="en-US" altLang="en-US" smtClean="0"/>
              <a:t> main(String[] args){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b="1" smtClean="0"/>
              <a:t>int</a:t>
            </a:r>
            <a:r>
              <a:rPr lang="en-US" altLang="en-US" smtClean="0"/>
              <a:t> a=10;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b="1" smtClean="0"/>
              <a:t>float</a:t>
            </a:r>
            <a:r>
              <a:rPr lang="en-US" altLang="en-US" smtClean="0"/>
              <a:t> f=a;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System.out.println(a);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System.out.println(f);  </a:t>
            </a:r>
          </a:p>
          <a:p>
            <a:pPr marL="107950" indent="0">
              <a:buFont typeface="Wingdings 3" panose="05040102010807070707" pitchFamily="18" charset="2"/>
              <a:buNone/>
            </a:pPr>
            <a:r>
              <a:rPr lang="en-US" altLang="en-US" smtClean="0"/>
              <a:t>}}  </a:t>
            </a:r>
          </a:p>
          <a:p>
            <a:pPr marL="107950" indent="0">
              <a:buFont typeface="Wingdings 3" panose="05040102010807070707" pitchFamily="18" charset="2"/>
              <a:buNone/>
            </a:pPr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Widening Conversion (Example)</a:t>
            </a:r>
            <a:endParaRPr lang="en-US" dirty="0"/>
          </a:p>
        </p:txBody>
      </p:sp>
      <p:sp>
        <p:nvSpPr>
          <p:cNvPr id="471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6F4B14-51D2-4899-95BB-3700718F393E}" type="slidenum">
              <a:rPr lang="en-US" altLang="en-US" sz="1000" smtClean="0"/>
              <a:pPr/>
              <a:t>23</a:t>
            </a:fld>
            <a:endParaRPr lang="en-US" altLang="en-US" sz="1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772400" cy="4114800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 smtClean="0"/>
              <a:t>Narrowing conversion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Broader data type is converted into narrower data type with loss of information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>
                <a:solidFill>
                  <a:srgbClr val="FF0000"/>
                </a:solidFill>
              </a:rPr>
              <a:t>Process is called casting (</a:t>
            </a:r>
            <a:r>
              <a:rPr lang="en-US" sz="2400" dirty="0" smtClean="0">
                <a:solidFill>
                  <a:srgbClr val="FF0000"/>
                </a:solidFill>
              </a:rPr>
              <a:t>explicit type conversion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endParaRPr lang="en-US" dirty="0" smtClean="0"/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Target variable = (Target-type) Source variable</a:t>
            </a:r>
          </a:p>
          <a:p>
            <a:pPr lvl="3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 smtClean="0"/>
              <a:t>byte b;</a:t>
            </a:r>
          </a:p>
          <a:p>
            <a:pPr lvl="3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a=50;</a:t>
            </a:r>
          </a:p>
          <a:p>
            <a:pPr lvl="3" eaLnBrk="1" fontAlgn="auto" hangingPunct="1">
              <a:spcAft>
                <a:spcPts val="0"/>
              </a:spcAft>
              <a:buFont typeface="Wingdings 2"/>
              <a:buChar char=""/>
              <a:defRPr/>
            </a:pPr>
            <a:r>
              <a:rPr lang="en-US" dirty="0" smtClean="0"/>
              <a:t>b=(byte)a;</a:t>
            </a:r>
          </a:p>
          <a:p>
            <a:pPr marL="914400" lvl="3" indent="0" eaLnBrk="1" fontAlgn="auto" hangingPunct="1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Truncation??????</a:t>
            </a:r>
          </a:p>
          <a:p>
            <a:pPr marL="859536" lvl="2" eaLnBrk="1" fontAlgn="auto" hangingPunct="1">
              <a:spcAft>
                <a:spcPts val="0"/>
              </a:spcAft>
              <a:buFontTx/>
              <a:buNone/>
              <a:defRPr/>
            </a:pPr>
            <a:endParaRPr lang="en-US" dirty="0" smtClean="0"/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Type Conversion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50975"/>
            <a:ext cx="6400800" cy="4525963"/>
          </a:xfrm>
        </p:spPr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dirty="0"/>
              <a:t>class</a:t>
            </a:r>
            <a:r>
              <a:rPr lang="en-US" dirty="0"/>
              <a:t> Simple{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){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dirty="0"/>
              <a:t>float</a:t>
            </a:r>
            <a:r>
              <a:rPr lang="en-US" dirty="0"/>
              <a:t> f=10.5f;  </a:t>
            </a: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sz="8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/>
              <a:t>//</a:t>
            </a:r>
            <a:r>
              <a:rPr lang="en-US" dirty="0" err="1"/>
              <a:t>int</a:t>
            </a:r>
            <a:r>
              <a:rPr lang="en-US" dirty="0"/>
              <a:t> a=f;//Compile time error  </a:t>
            </a: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sz="800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b="1" dirty="0" err="1"/>
              <a:t>int</a:t>
            </a:r>
            <a:r>
              <a:rPr lang="en-US" dirty="0"/>
              <a:t> a=(</a:t>
            </a:r>
            <a:r>
              <a:rPr lang="en-US" b="1" dirty="0" err="1"/>
              <a:t>int</a:t>
            </a:r>
            <a:r>
              <a:rPr lang="en-US" dirty="0"/>
              <a:t>)f;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(f);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err="1"/>
              <a:t>System.out.println</a:t>
            </a:r>
            <a:r>
              <a:rPr lang="en-US" dirty="0"/>
              <a:t>(a);  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/>
              <a:t>}}  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Narrowing conversion (</a:t>
            </a:r>
            <a:r>
              <a:rPr lang="en-US" dirty="0" err="1" smtClean="0"/>
              <a:t>Exp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120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A209C5-02B9-4E81-A72B-8770A9ADF823}" type="slidenum">
              <a:rPr lang="en-US" altLang="en-US" sz="1000" smtClean="0"/>
              <a:pPr/>
              <a:t>25</a:t>
            </a:fld>
            <a:endParaRPr lang="en-US" altLang="en-US" sz="1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89462"/>
          </a:xfrm>
        </p:spPr>
        <p:txBody>
          <a:bodyPr/>
          <a:lstStyle/>
          <a:p>
            <a:pPr marL="365125" lvl="1" indent="-255588">
              <a:spcBef>
                <a:spcPts val="400"/>
              </a:spcBef>
              <a:buSzPct val="68000"/>
              <a:buFont typeface="Wingdings 3" panose="05040102010807070707" pitchFamily="18" charset="2"/>
              <a:buChar char=""/>
              <a:defRPr/>
            </a:pPr>
            <a:r>
              <a:rPr lang="en-US" dirty="0" smtClean="0"/>
              <a:t>Type </a:t>
            </a:r>
            <a:r>
              <a:rPr lang="en-US" dirty="0"/>
              <a:t>conversion in expressions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dirty="0"/>
              <a:t>(f*b) + (</a:t>
            </a:r>
            <a:r>
              <a:rPr lang="en-US" dirty="0" err="1"/>
              <a:t>i</a:t>
            </a:r>
            <a:r>
              <a:rPr lang="en-US" dirty="0"/>
              <a:t>/c) –(d*s)  </a:t>
            </a:r>
            <a:r>
              <a:rPr lang="en-US" dirty="0" smtClean="0"/>
              <a:t>?????????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Type Conversion in Expressions</a:t>
            </a: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932308-C541-4074-A462-158B4C36CE10}" type="slidenum">
              <a:rPr lang="en-US" altLang="en-US" sz="1000" smtClean="0"/>
              <a:pPr/>
              <a:t>26</a:t>
            </a:fld>
            <a:endParaRPr lang="en-US" altLang="en-US" sz="1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Type Conversion in Expressions</a:t>
            </a:r>
            <a:endParaRPr lang="en-US" dirty="0"/>
          </a:p>
        </p:txBody>
      </p:sp>
      <p:pic>
        <p:nvPicPr>
          <p:cNvPr id="5427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600200"/>
            <a:ext cx="6781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334000"/>
            <a:ext cx="4876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r>
              <a:rPr lang="en-US" altLang="en-US" sz="2400" smtClean="0"/>
              <a:t>In the first subexpression, </a:t>
            </a:r>
            <a:r>
              <a:rPr lang="en-US" altLang="en-US" sz="2400" b="1" smtClean="0"/>
              <a:t>f * b, b</a:t>
            </a:r>
            <a:r>
              <a:rPr lang="en-US" altLang="en-US" sz="2400" smtClean="0"/>
              <a:t> is promoted to a </a:t>
            </a:r>
            <a:r>
              <a:rPr lang="en-US" altLang="en-US" sz="2400" b="1" smtClean="0"/>
              <a:t>float</a:t>
            </a:r>
            <a:r>
              <a:rPr lang="en-US" altLang="en-US" sz="2400" smtClean="0"/>
              <a:t> and the result of the subexpression is </a:t>
            </a:r>
            <a:r>
              <a:rPr lang="en-US" altLang="en-US" sz="2400" b="1" smtClean="0"/>
              <a:t>float</a:t>
            </a:r>
            <a:r>
              <a:rPr lang="en-US" altLang="en-US" sz="2400" smtClean="0"/>
              <a:t>.</a:t>
            </a:r>
          </a:p>
          <a:p>
            <a:r>
              <a:rPr lang="en-US" altLang="en-US" sz="2400" smtClean="0"/>
              <a:t>Next, in the subexpression </a:t>
            </a:r>
            <a:r>
              <a:rPr lang="en-US" altLang="en-US" sz="2400" b="1" smtClean="0"/>
              <a:t>i / c, c </a:t>
            </a:r>
            <a:r>
              <a:rPr lang="en-US" altLang="en-US" sz="2400" smtClean="0"/>
              <a:t>is promoted to </a:t>
            </a:r>
            <a:r>
              <a:rPr lang="en-US" altLang="en-US" sz="2400" b="1" smtClean="0"/>
              <a:t>int</a:t>
            </a:r>
            <a:r>
              <a:rPr lang="en-US" altLang="en-US" sz="2400" smtClean="0"/>
              <a:t>, and the result is of type </a:t>
            </a:r>
            <a:r>
              <a:rPr lang="en-US" altLang="en-US" sz="2400" b="1" smtClean="0"/>
              <a:t>int</a:t>
            </a:r>
            <a:r>
              <a:rPr lang="en-US" altLang="en-US" sz="2400" smtClean="0"/>
              <a:t>. Then, in </a:t>
            </a:r>
            <a:r>
              <a:rPr lang="en-US" altLang="en-US" sz="2400" b="1" smtClean="0"/>
              <a:t>d * s</a:t>
            </a:r>
            <a:r>
              <a:rPr lang="en-US" altLang="en-US" sz="2400" smtClean="0"/>
              <a:t>, the value of </a:t>
            </a:r>
            <a:r>
              <a:rPr lang="en-US" altLang="en-US" sz="2400" b="1" smtClean="0"/>
              <a:t>s</a:t>
            </a:r>
            <a:r>
              <a:rPr lang="en-US" altLang="en-US" sz="2400" smtClean="0"/>
              <a:t> is promoted to </a:t>
            </a:r>
            <a:r>
              <a:rPr lang="en-US" altLang="en-US" sz="2400" b="1" smtClean="0"/>
              <a:t>double</a:t>
            </a:r>
            <a:r>
              <a:rPr lang="en-US" altLang="en-US" sz="2400" smtClean="0"/>
              <a:t>, and the type of the subexpression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400" smtClean="0"/>
              <a:t>   is </a:t>
            </a:r>
            <a:r>
              <a:rPr lang="en-US" altLang="en-US" sz="2400" b="1" smtClean="0"/>
              <a:t>double</a:t>
            </a:r>
            <a:r>
              <a:rPr lang="en-US" altLang="en-US" sz="2400" smtClean="0"/>
              <a:t>. </a:t>
            </a:r>
          </a:p>
          <a:p>
            <a:r>
              <a:rPr lang="en-US" altLang="en-US" sz="2400" smtClean="0"/>
              <a:t>Finally, these three intermediate values, </a:t>
            </a:r>
            <a:r>
              <a:rPr lang="en-US" altLang="en-US" sz="2400" b="1" smtClean="0"/>
              <a:t>float, int, </a:t>
            </a:r>
            <a:r>
              <a:rPr lang="en-US" altLang="en-US" sz="2400" smtClean="0"/>
              <a:t>and</a:t>
            </a:r>
            <a:r>
              <a:rPr lang="en-US" altLang="en-US" sz="2400" b="1" smtClean="0"/>
              <a:t> double, </a:t>
            </a:r>
            <a:r>
              <a:rPr lang="en-US" altLang="en-US" sz="2400" smtClean="0"/>
              <a:t>are considered.</a:t>
            </a:r>
          </a:p>
          <a:p>
            <a:r>
              <a:rPr lang="en-US" altLang="en-US" sz="2400" smtClean="0"/>
              <a:t>The outcome of </a:t>
            </a:r>
            <a:r>
              <a:rPr lang="en-US" altLang="en-US" sz="2400" b="1" smtClean="0"/>
              <a:t>float</a:t>
            </a:r>
            <a:r>
              <a:rPr lang="en-US" altLang="en-US" sz="2400" smtClean="0"/>
              <a:t> plus an </a:t>
            </a:r>
            <a:r>
              <a:rPr lang="en-US" altLang="en-US" sz="2400" b="1" smtClean="0"/>
              <a:t>int</a:t>
            </a:r>
            <a:r>
              <a:rPr lang="en-US" altLang="en-US" sz="2400" smtClean="0"/>
              <a:t> is a </a:t>
            </a:r>
            <a:r>
              <a:rPr lang="en-US" altLang="en-US" sz="2400" b="1" smtClean="0"/>
              <a:t>float</a:t>
            </a:r>
            <a:r>
              <a:rPr lang="en-US" altLang="en-US" sz="2400" smtClean="0"/>
              <a:t>. Then the resultant </a:t>
            </a:r>
            <a:r>
              <a:rPr lang="en-US" altLang="en-US" sz="2400" b="1" smtClean="0"/>
              <a:t>float</a:t>
            </a:r>
            <a:r>
              <a:rPr lang="en-US" altLang="en-US" sz="2400" smtClean="0"/>
              <a:t> minus the last </a:t>
            </a:r>
            <a:r>
              <a:rPr lang="en-US" altLang="en-US" sz="2400" b="1" smtClean="0"/>
              <a:t>double</a:t>
            </a:r>
            <a:r>
              <a:rPr lang="en-US" altLang="en-US" sz="2400" smtClean="0"/>
              <a:t> is promoted to </a:t>
            </a:r>
            <a:r>
              <a:rPr lang="en-US" altLang="en-US" sz="2400" b="1" smtClean="0"/>
              <a:t>double</a:t>
            </a:r>
            <a:r>
              <a:rPr lang="en-US" altLang="en-US" sz="2400" smtClean="0"/>
              <a:t>, which is the type for the final result of the expression.</a:t>
            </a:r>
          </a:p>
          <a:p>
            <a:endParaRPr lang="en-US" altLang="en-US" sz="240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19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79248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Assignment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Mathematics the value x = x + 1 is not possible why?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Java x = x +1 is possible because “=” is an assignment operator and not an equality operator.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Assignment operator means that the contents of the right hand side is transferred to the memory location of the left hand side.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Manipulating Variables </a:t>
            </a:r>
          </a:p>
        </p:txBody>
      </p:sp>
      <p:pic>
        <p:nvPicPr>
          <p:cNvPr id="56324" name="Picture 4" descr="C:\Users\FAHAD KHAN\Desktop\java data types\math%20symbols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2400"/>
            <a:ext cx="51054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Assignment Statement</a:t>
            </a:r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3048000" y="2286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57348" name="Text Box 5"/>
          <p:cNvSpPr txBox="1">
            <a:spLocks noChangeArrowheads="1"/>
          </p:cNvSpPr>
          <p:nvPr/>
        </p:nvSpPr>
        <p:spPr bwMode="auto">
          <a:xfrm>
            <a:off x="3505200" y="2362200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57349" name="Text Box 6"/>
          <p:cNvSpPr txBox="1">
            <a:spLocks noChangeArrowheads="1"/>
          </p:cNvSpPr>
          <p:nvPr/>
        </p:nvSpPr>
        <p:spPr bwMode="auto">
          <a:xfrm>
            <a:off x="4038600" y="22860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5671</a:t>
            </a:r>
          </a:p>
        </p:txBody>
      </p:sp>
      <p:sp>
        <p:nvSpPr>
          <p:cNvPr id="57350" name="Arc 11"/>
          <p:cNvSpPr>
            <a:spLocks/>
          </p:cNvSpPr>
          <p:nvPr/>
        </p:nvSpPr>
        <p:spPr bwMode="auto">
          <a:xfrm rot="8192889">
            <a:off x="3429000" y="2514600"/>
            <a:ext cx="914400" cy="9144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1" name="Text Box 12"/>
          <p:cNvSpPr txBox="1">
            <a:spLocks noChangeArrowheads="1"/>
          </p:cNvSpPr>
          <p:nvPr/>
        </p:nvSpPr>
        <p:spPr bwMode="auto">
          <a:xfrm>
            <a:off x="685800" y="3581400"/>
            <a:ext cx="666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5671 is written at the memory location reserved for 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Constants are values which cannot be modified e.g. the value of Pi</a:t>
            </a:r>
          </a:p>
          <a:p>
            <a:pPr eaLnBrk="1" hangingPunct="1"/>
            <a:r>
              <a:rPr lang="en-US" altLang="en-US" smtClean="0"/>
              <a:t>To declare a constant in Java, we write a keyword “final” before the variable type. </a:t>
            </a:r>
          </a:p>
          <a:p>
            <a:pPr eaLnBrk="1" hangingPunct="1"/>
            <a:endParaRPr lang="en-US" altLang="en-US" smtClean="0"/>
          </a:p>
          <a:p>
            <a:pPr eaLnBrk="1" hangingPunct="1">
              <a:buFontTx/>
              <a:buNone/>
            </a:pPr>
            <a:r>
              <a:rPr lang="en-US" altLang="en-US" smtClean="0"/>
              <a:t>			final double pi = 3.14; </a:t>
            </a: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Constants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en-US" smtClean="0"/>
              <a:t>What is the result of this arithmetic expression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en-US" smtClean="0"/>
              <a:t>									</a:t>
            </a:r>
            <a:r>
              <a:rPr lang="en-US" altLang="en-US" b="1" smtClean="0"/>
              <a:t>6 + 2 * 3 / 6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altLang="en-US" b="1" smtClean="0"/>
              <a:t>7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altLang="en-US" b="1" smtClean="0"/>
              <a:t>0.5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altLang="en-US" b="1" smtClean="0"/>
              <a:t>13.0</a:t>
            </a:r>
          </a:p>
          <a:p>
            <a:pPr marL="990600" lvl="1" indent="-533400" eaLnBrk="1" hangingPunct="1">
              <a:buFontTx/>
              <a:buAutoNum type="alphaLcParenR"/>
            </a:pPr>
            <a:r>
              <a:rPr lang="en-US" altLang="en-US" b="1" smtClean="0"/>
              <a:t>4</a:t>
            </a:r>
          </a:p>
          <a:p>
            <a:pPr marL="990600" lvl="1" indent="-533400" eaLnBrk="1" hangingPunct="1">
              <a:buFontTx/>
              <a:buAutoNum type="alphaLcParenR"/>
            </a:pPr>
            <a:endParaRPr lang="en-US" altLang="en-US" b="1" smtClean="0"/>
          </a:p>
          <a:p>
            <a:pPr marL="990600" lvl="1" indent="-533400" eaLnBrk="1" hangingPunct="1">
              <a:buFontTx/>
              <a:buNone/>
            </a:pPr>
            <a:endParaRPr lang="en-US" altLang="en-US" b="1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What is the Result of this Expression?</a:t>
            </a:r>
          </a:p>
        </p:txBody>
      </p:sp>
      <p:pic>
        <p:nvPicPr>
          <p:cNvPr id="53252" name="Picture 4" descr="C:\Users\FAHAD KHAN\Desktop\java data types\variab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895600"/>
            <a:ext cx="5080000" cy="34337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Mathematical Operators</a:t>
            </a:r>
          </a:p>
          <a:p>
            <a:pPr lvl="1" eaLnBrk="1" hangingPunct="1"/>
            <a:r>
              <a:rPr lang="en-US" altLang="en-US" smtClean="0"/>
              <a:t>Common mathematical operators are available in Java for manipulating values e.g. addition(+), subtraction(-), multiplication(*), division(/), and modulus (%).</a:t>
            </a:r>
          </a:p>
          <a:p>
            <a:pPr eaLnBrk="1" hangingPunct="1"/>
            <a:r>
              <a:rPr lang="en-US" altLang="en-US" smtClean="0"/>
              <a:t>Java has many other operators also which we will study in due course. 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  <a:p>
            <a:pPr lvl="1" eaLnBrk="1" hangingPunct="1"/>
            <a:endParaRPr lang="en-US" altLang="en-US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Manipulating Values</a:t>
            </a:r>
          </a:p>
        </p:txBody>
      </p:sp>
      <p:pic>
        <p:nvPicPr>
          <p:cNvPr id="61444" name="Picture 4" descr="C:\Users\FAHAD KHAN\Desktop\java data types\5-arithmeti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4040188"/>
            <a:ext cx="34575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 evaluate an arithmetic expression two concepts needs to be understood</a:t>
            </a:r>
          </a:p>
          <a:p>
            <a:pPr lvl="1" eaLnBrk="1" hangingPunct="1"/>
            <a:r>
              <a:rPr lang="en-US" altLang="en-US" smtClean="0"/>
              <a:t>Operator Precedence</a:t>
            </a:r>
          </a:p>
          <a:p>
            <a:pPr lvl="2" eaLnBrk="1" hangingPunct="1"/>
            <a:r>
              <a:rPr lang="en-US" altLang="en-US" smtClean="0"/>
              <a:t>Operator precedence controls the order in which operations are performed </a:t>
            </a:r>
          </a:p>
          <a:p>
            <a:pPr lvl="1" eaLnBrk="1" hangingPunct="1"/>
            <a:r>
              <a:rPr lang="en-US" altLang="en-US" smtClean="0"/>
              <a:t>Operator Associativity</a:t>
            </a:r>
          </a:p>
          <a:p>
            <a:pPr lvl="2" eaLnBrk="1" hangingPunct="1"/>
            <a:r>
              <a:rPr lang="en-US" altLang="en-US" smtClean="0"/>
              <a:t>The associativity of an operator specifies the order in which operations of the same precedence are performed 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Arithmetic Expression 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en-US" smtClean="0"/>
              <a:t>Operators Precedence and Associativity for Java is following</a:t>
            </a:r>
          </a:p>
          <a:p>
            <a:pPr marL="609600" indent="-609600" eaLnBrk="1" hangingPunct="1"/>
            <a:endParaRPr lang="en-US" altLang="en-US" smtClean="0"/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/>
              <a:t>*, /, % </a:t>
            </a:r>
            <a:r>
              <a:rPr lang="en-US" altLang="en-US" smtClean="0">
                <a:sym typeface="Wingdings" panose="05000000000000000000" pitchFamily="2" charset="2"/>
              </a:rPr>
              <a:t> </a:t>
            </a:r>
            <a:r>
              <a:rPr lang="en-US" altLang="en-US" smtClean="0"/>
              <a:t>Do all multiplications, divisions and remainders from left to right. 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 smtClean="0"/>
              <a:t>+, -  </a:t>
            </a:r>
            <a:r>
              <a:rPr lang="en-US" altLang="en-US" smtClean="0">
                <a:sym typeface="Wingdings" panose="05000000000000000000" pitchFamily="2" charset="2"/>
              </a:rPr>
              <a:t> </a:t>
            </a:r>
            <a:r>
              <a:rPr lang="en-US" altLang="en-US" smtClean="0"/>
              <a:t>Do additions and subtractions from left to right. </a:t>
            </a:r>
          </a:p>
          <a:p>
            <a:pPr marL="609600" indent="-609600" eaLnBrk="1" hangingPunct="1"/>
            <a:endParaRPr lang="en-US" altLang="en-US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smtClean="0"/>
              <a:t>Operator Precedence and Associativity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smtClean="0"/>
              <a:t>				6 + 2 * 3 / 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Three operators are in this expression.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However, * and / both have the same precedence and + has lower precedence then these two.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* and / will be evaluated first but both have the same precedence level.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Therefore, operator associativity will be used here to determine the first to get evaluated i.e. left to right. 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Evaluating an Expression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Scope of variable</a:t>
            </a:r>
            <a:endParaRPr lang="en-US" dirty="0"/>
          </a:p>
        </p:txBody>
      </p:sp>
      <p:pic>
        <p:nvPicPr>
          <p:cNvPr id="64516" name="Picture 3" descr="C:\Users\FAHAD KHAN\Desktop\java data types\scope_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0"/>
            <a:ext cx="6096000" cy="457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35500"/>
          </a:xfrm>
        </p:spPr>
        <p:txBody>
          <a:bodyPr/>
          <a:lstStyle/>
          <a:p>
            <a:r>
              <a:rPr lang="en-US" altLang="en-US" sz="2300" smtClean="0"/>
              <a:t>Most other computer languages define two general categories of scopes: global and local.</a:t>
            </a:r>
          </a:p>
          <a:p>
            <a:r>
              <a:rPr lang="en-US" altLang="en-US" sz="2400" smtClean="0"/>
              <a:t>In Java, the two major scopes are those defined by a class and those defined by a method.</a:t>
            </a:r>
          </a:p>
          <a:p>
            <a:r>
              <a:rPr lang="en-US" altLang="en-US" sz="2400" smtClean="0"/>
              <a:t>The scope defined by a method begins with its opening curly brace.</a:t>
            </a:r>
            <a:endParaRPr lang="en-US" altLang="en-US" sz="2300" smtClean="0"/>
          </a:p>
          <a:p>
            <a:endParaRPr lang="en-US" altLang="en-US" sz="230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Scope of variable</a:t>
            </a:r>
            <a:endParaRPr lang="en-US" dirty="0"/>
          </a:p>
        </p:txBody>
      </p:sp>
      <p:pic>
        <p:nvPicPr>
          <p:cNvPr id="68612" name="Picture 2" descr="C:\Users\FAHAD KHAN\Desktop\java data types\scopedem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52800"/>
            <a:ext cx="6400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Output???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963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63436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4" descr="C:\Users\FAHAD KHAN\Desktop\java data types\scope_creep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648200"/>
            <a:ext cx="41910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716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2209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24200"/>
            <a:ext cx="6096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Rectangle 8"/>
          <p:cNvSpPr>
            <a:spLocks noChangeArrowheads="1"/>
          </p:cNvSpPr>
          <p:nvPr/>
        </p:nvSpPr>
        <p:spPr bwMode="auto">
          <a:xfrm>
            <a:off x="533400" y="1676400"/>
            <a:ext cx="7239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Blocks can be nested, In Java you cannot declare a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 variable to have the same name as one in an outer scope.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In this regard, Java differs from C and C++.</a:t>
            </a:r>
          </a:p>
        </p:txBody>
      </p:sp>
      <p:pic>
        <p:nvPicPr>
          <p:cNvPr id="72709" name="Picture 2" descr="C:\Users\FAHAD KHAN\Desktop\java data types\imagesCACX8MV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648200"/>
            <a:ext cx="3200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 far the variable types that we have studied are </a:t>
            </a:r>
            <a:r>
              <a:rPr lang="en-US" altLang="en-US" b="1" i="1" smtClean="0"/>
              <a:t>primitive data types</a:t>
            </a:r>
            <a:r>
              <a:rPr lang="en-US" altLang="en-US" smtClean="0"/>
              <a:t>. </a:t>
            </a:r>
          </a:p>
          <a:p>
            <a:pPr eaLnBrk="1" hangingPunct="1"/>
            <a:r>
              <a:rPr lang="en-US" altLang="en-US" smtClean="0"/>
              <a:t>Primitive data types only have a memory space for storing values. </a:t>
            </a:r>
          </a:p>
          <a:p>
            <a:pPr eaLnBrk="1" hangingPunct="1"/>
            <a:r>
              <a:rPr lang="en-US" altLang="en-US" smtClean="0"/>
              <a:t>However, Object-Oriented Programming is special because OOP has more variables than just primitive data types. 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Primitive Data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Objects are one step ahead of primitive data types. </a:t>
            </a:r>
          </a:p>
          <a:p>
            <a:pPr eaLnBrk="1" hangingPunct="1"/>
            <a:r>
              <a:rPr lang="en-US" altLang="en-US" smtClean="0"/>
              <a:t>They contain values and operations both. </a:t>
            </a:r>
          </a:p>
          <a:p>
            <a:pPr lvl="1" eaLnBrk="1" hangingPunct="1"/>
            <a:r>
              <a:rPr lang="en-US" altLang="en-US" smtClean="0"/>
              <a:t>e.g. A String object has a value as well as operations that could be performed on that value e.g. operations to find its size, operation to compare its size with another String etc.  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Objects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What will be output:</a:t>
            </a:r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		25-</a:t>
            </a:r>
            <a:r>
              <a:rPr lang="en-US" dirty="0"/>
              <a:t>((5*4)/2)-10+4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Class Participation</a:t>
            </a:r>
            <a:endParaRPr lang="en-US" dirty="0"/>
          </a:p>
        </p:txBody>
      </p:sp>
      <p:sp>
        <p:nvSpPr>
          <p:cNvPr id="7680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03E985-980A-4DCE-85A9-F55E86CC03FD}" type="slidenum">
              <a:rPr lang="en-US" altLang="en-US" sz="1000" smtClean="0"/>
              <a:pPr/>
              <a:t>44</a:t>
            </a:fld>
            <a:endParaRPr lang="en-US" altLang="en-US" sz="1000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Class Participation</a:t>
            </a:r>
            <a:endParaRPr lang="en-US" dirty="0"/>
          </a:p>
        </p:txBody>
      </p:sp>
      <p:pic>
        <p:nvPicPr>
          <p:cNvPr id="78851" name="Picture 2" descr="C:\Users\FAHAD KHAN\Desktop\java data types\8-a-rules-of-precede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52578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2" name="Picture 4" descr="http://www.set-routes.org/school/images/questions_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29000"/>
            <a:ext cx="36480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smtClean="0"/>
              <a:t>1 : What will be output?</a:t>
            </a:r>
          </a:p>
          <a:p>
            <a:pPr algn="just" eaLnBrk="1" hangingPunct="1">
              <a:buFontTx/>
              <a:buNone/>
            </a:pPr>
            <a:endParaRPr lang="en-US" altLang="en-US" smtClean="0"/>
          </a:p>
          <a:p>
            <a:pPr algn="just" eaLnBrk="1" hangingPunct="1">
              <a:buFontTx/>
              <a:buNone/>
            </a:pPr>
            <a:r>
              <a:rPr lang="en-US" altLang="en-US" smtClean="0"/>
              <a:t>	float f=65/10+38/10;</a:t>
            </a:r>
          </a:p>
          <a:p>
            <a:pPr algn="just" eaLnBrk="1" hangingPunct="1">
              <a:buFontTx/>
              <a:buNone/>
            </a:pPr>
            <a:r>
              <a:rPr lang="en-US" altLang="en-US" smtClean="0"/>
              <a:t>	System.out.println(f);</a:t>
            </a:r>
          </a:p>
          <a:p>
            <a:pPr algn="just" eaLnBrk="1" hangingPunct="1">
              <a:buFontTx/>
              <a:buNone/>
            </a:pPr>
            <a:endParaRPr lang="en-US" altLang="en-US" smtClean="0"/>
          </a:p>
          <a:p>
            <a:pPr algn="just" eaLnBrk="1" hangingPunct="1">
              <a:buFontTx/>
              <a:buNone/>
            </a:pPr>
            <a:r>
              <a:rPr lang="en-US" altLang="en-US" smtClean="0"/>
              <a:t>	float f=65.0/10+38.0/10;</a:t>
            </a:r>
          </a:p>
          <a:p>
            <a:pPr algn="just" eaLnBrk="1" hangingPunct="1">
              <a:buFontTx/>
              <a:buNone/>
            </a:pPr>
            <a:r>
              <a:rPr lang="en-US" altLang="en-US" smtClean="0"/>
              <a:t>	System.out.println(f);</a:t>
            </a:r>
          </a:p>
          <a:p>
            <a:pPr algn="just" eaLnBrk="1" hangingPunct="1">
              <a:buFontTx/>
              <a:buNone/>
            </a:pPr>
            <a:endParaRPr lang="en-US" altLang="en-US" smtClean="0"/>
          </a:p>
          <a:p>
            <a:pPr algn="just" eaLnBrk="1" hangingPunct="1">
              <a:buFontTx/>
              <a:buNone/>
            </a:pPr>
            <a:r>
              <a:rPr lang="en-US" altLang="en-US" smtClean="0"/>
              <a:t>	float f=65.0f/10+38.0f/10;</a:t>
            </a:r>
          </a:p>
          <a:p>
            <a:pPr algn="just" eaLnBrk="1" hangingPunct="1">
              <a:buFontTx/>
              <a:buNone/>
            </a:pPr>
            <a:r>
              <a:rPr lang="en-US" altLang="en-US" smtClean="0"/>
              <a:t>	System.out.println(f);</a:t>
            </a:r>
          </a:p>
          <a:p>
            <a:pPr algn="just" eaLnBrk="1" hangingPunct="1">
              <a:buFontTx/>
              <a:buNone/>
            </a:pPr>
            <a:endParaRPr lang="en-US" altLang="en-US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Class Participation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2:  What will be the output?</a:t>
            </a:r>
          </a:p>
          <a:p>
            <a:pPr eaLnBrk="1" hangingPunct="1">
              <a:buFontTx/>
              <a:buNone/>
            </a:pPr>
            <a:endParaRPr lang="en-US" altLang="en-US" smtClean="0"/>
          </a:p>
          <a:p>
            <a:pPr lvl="1" eaLnBrk="1" hangingPunct="1">
              <a:buFontTx/>
              <a:buNone/>
            </a:pPr>
            <a:r>
              <a:rPr lang="en-US" altLang="en-US" smtClean="0"/>
              <a:t>int i=638;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byte b=(byte)i;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System.out.println(b);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Class Participation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24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24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86019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86020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F9452E3-0A3A-461B-AEA7-23F710EF4D2A}" type="slidenum">
              <a:rPr lang="en-US" altLang="en-US" sz="1400" smtClean="0">
                <a:solidFill>
                  <a:schemeClr val="bg1"/>
                </a:solidFill>
                <a:ea typeface="ヒラギノ角ゴ ProN W3" pitchFamily="-109" charset="-128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400" smtClean="0">
              <a:solidFill>
                <a:schemeClr val="bg1"/>
              </a:solidFill>
              <a:ea typeface="ヒラギノ角ゴ ProN W3" pitchFamily="-109" charset="-128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5552</TotalTime>
  <Words>1723</Words>
  <Application>Microsoft Office PowerPoint</Application>
  <PresentationFormat>On-screen Show (4:3)</PresentationFormat>
  <Paragraphs>328</Paragraphs>
  <Slides>48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Arial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ヒラギノ角ゴ ProN W3</vt:lpstr>
      <vt:lpstr>Concourse</vt:lpstr>
      <vt:lpstr>Object Oriented  Programming</vt:lpstr>
      <vt:lpstr>Topics To Be Covered Today</vt:lpstr>
      <vt:lpstr>Simplistic View of a Computer</vt:lpstr>
      <vt:lpstr>Variable</vt:lpstr>
      <vt:lpstr>What Makes a Variable</vt:lpstr>
      <vt:lpstr>An Example of a Variable</vt:lpstr>
      <vt:lpstr>Example of a Variable  (Memory View)</vt:lpstr>
      <vt:lpstr>Changing the Value of Variable</vt:lpstr>
      <vt:lpstr>Types of Variables</vt:lpstr>
      <vt:lpstr>Types of Variables (Example)</vt:lpstr>
      <vt:lpstr>Data Types in Java</vt:lpstr>
      <vt:lpstr>Data Types in Java</vt:lpstr>
      <vt:lpstr>PowerPoint Presentation</vt:lpstr>
      <vt:lpstr>Type of a Variable</vt:lpstr>
      <vt:lpstr>Int Data type</vt:lpstr>
      <vt:lpstr>Double </vt:lpstr>
      <vt:lpstr>Relative Comparison of int and double</vt:lpstr>
      <vt:lpstr>Char Data Type</vt:lpstr>
      <vt:lpstr>Boolean Data Type</vt:lpstr>
      <vt:lpstr>Simple Types in Java</vt:lpstr>
      <vt:lpstr>Type Conversion</vt:lpstr>
      <vt:lpstr>Type Conversion (cont.)</vt:lpstr>
      <vt:lpstr>Widening Conversion (Example)</vt:lpstr>
      <vt:lpstr>Type Conversion (cont.)</vt:lpstr>
      <vt:lpstr>Narrowing conversion (Exp)</vt:lpstr>
      <vt:lpstr>Type Conversion in Expressions</vt:lpstr>
      <vt:lpstr>Type Conversion in Expressions</vt:lpstr>
      <vt:lpstr>Description</vt:lpstr>
      <vt:lpstr>Manipulating Variables </vt:lpstr>
      <vt:lpstr>Assignment Statement</vt:lpstr>
      <vt:lpstr>Constants</vt:lpstr>
      <vt:lpstr>What is the Result of this Expression?</vt:lpstr>
      <vt:lpstr>Manipulating Values</vt:lpstr>
      <vt:lpstr>Arithmetic Expression Evaluation</vt:lpstr>
      <vt:lpstr>Operator Precedence and Associativity</vt:lpstr>
      <vt:lpstr>Evaluating an Expression</vt:lpstr>
      <vt:lpstr>Scope of variable</vt:lpstr>
      <vt:lpstr>Scope of variable</vt:lpstr>
      <vt:lpstr>Output???</vt:lpstr>
      <vt:lpstr>Output</vt:lpstr>
      <vt:lpstr>Another Example</vt:lpstr>
      <vt:lpstr>Primitive Data Types</vt:lpstr>
      <vt:lpstr>Objects</vt:lpstr>
      <vt:lpstr>Class Participation</vt:lpstr>
      <vt:lpstr>Class Participation</vt:lpstr>
      <vt:lpstr>Class Participation</vt:lpstr>
      <vt:lpstr>Class Participation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WinDows7</dc:creator>
  <cp:lastModifiedBy>Microsoft account</cp:lastModifiedBy>
  <cp:revision>138</cp:revision>
  <dcterms:created xsi:type="dcterms:W3CDTF">1601-01-01T00:00:00Z</dcterms:created>
  <dcterms:modified xsi:type="dcterms:W3CDTF">2022-11-09T07:37:51Z</dcterms:modified>
</cp:coreProperties>
</file>