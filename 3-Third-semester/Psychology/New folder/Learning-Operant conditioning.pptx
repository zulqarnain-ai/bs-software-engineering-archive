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8" r:id="rId12"/>
    <p:sldId id="270" r:id="rId13"/>
    <p:sldId id="295" r:id="rId14"/>
    <p:sldId id="269" r:id="rId15"/>
    <p:sldId id="271" r:id="rId16"/>
    <p:sldId id="272" r:id="rId17"/>
    <p:sldId id="273" r:id="rId18"/>
    <p:sldId id="274" r:id="rId19"/>
    <p:sldId id="275" r:id="rId20"/>
    <p:sldId id="267" r:id="rId21"/>
    <p:sldId id="276" r:id="rId22"/>
    <p:sldId id="277" r:id="rId23"/>
    <p:sldId id="278" r:id="rId24"/>
    <p:sldId id="279" r:id="rId25"/>
    <p:sldId id="280" r:id="rId26"/>
    <p:sldId id="281" r:id="rId27"/>
    <p:sldId id="296" r:id="rId28"/>
    <p:sldId id="282" r:id="rId29"/>
    <p:sldId id="297" r:id="rId30"/>
    <p:sldId id="283" r:id="rId31"/>
    <p:sldId id="284" r:id="rId32"/>
    <p:sldId id="285" r:id="rId33"/>
    <p:sldId id="286" r:id="rId34"/>
    <p:sldId id="287" r:id="rId35"/>
    <p:sldId id="288" r:id="rId36"/>
    <p:sldId id="289" r:id="rId37"/>
    <p:sldId id="290" r:id="rId38"/>
    <p:sldId id="298" r:id="rId39"/>
    <p:sldId id="291" r:id="rId40"/>
    <p:sldId id="292" r:id="rId41"/>
    <p:sldId id="293" r:id="rId42"/>
    <p:sldId id="29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75F4C0A2-17FF-48BE-AD39-DB014E6E9A17}" type="datetimeFigureOut">
              <a:rPr lang="en-US" smtClean="0"/>
              <a:t>5/3/2023</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04F4211-E19F-49F8-B2C9-E6EAC7554562}"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7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F4C0A2-17FF-48BE-AD39-DB014E6E9A17}"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2956199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5F4C0A2-17FF-48BE-AD39-DB014E6E9A17}"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F4211-E19F-49F8-B2C9-E6EAC7554562}"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0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5F4C0A2-17FF-48BE-AD39-DB014E6E9A17}" type="datetimeFigureOut">
              <a:rPr lang="en-US" smtClean="0"/>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3304348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5F4C0A2-17FF-48BE-AD39-DB014E6E9A17}" type="datetimeFigureOut">
              <a:rPr lang="en-US" smtClean="0"/>
              <a:t>5/3/2023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290383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5F4C0A2-17FF-48BE-AD39-DB014E6E9A17}" type="datetimeFigureOut">
              <a:rPr lang="en-US" smtClean="0"/>
              <a:t>5/3/2023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3195650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4C0A2-17FF-48BE-AD39-DB014E6E9A17}" type="datetimeFigureOut">
              <a:rPr lang="en-US" smtClean="0"/>
              <a:t>5/3/2023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1942014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smtClean="0"/>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5F4C0A2-17FF-48BE-AD39-DB014E6E9A17}" type="datetimeFigureOut">
              <a:rPr lang="en-US" smtClean="0"/>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4019946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5F4C0A2-17FF-48BE-AD39-DB014E6E9A17}" type="datetimeFigureOut">
              <a:rPr lang="en-US" smtClean="0"/>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4055714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F4C0A2-17FF-48BE-AD39-DB014E6E9A17}"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1513931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F4C0A2-17FF-48BE-AD39-DB014E6E9A17}"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4F4211-E19F-49F8-B2C9-E6EAC7554562}" type="slidenum">
              <a:rPr lang="en-US" smtClean="0"/>
              <a:t>‹#›</a:t>
            </a:fld>
            <a:endParaRPr lang="en-US"/>
          </a:p>
        </p:txBody>
      </p:sp>
    </p:spTree>
    <p:extLst>
      <p:ext uri="{BB962C8B-B14F-4D97-AF65-F5344CB8AC3E}">
        <p14:creationId xmlns:p14="http://schemas.microsoft.com/office/powerpoint/2010/main" val="1078624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75F4C0A2-17FF-48BE-AD39-DB014E6E9A17}" type="datetimeFigureOut">
              <a:rPr lang="en-US" smtClean="0"/>
              <a:t>5/3/2023</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704F4211-E19F-49F8-B2C9-E6EAC7554562}" type="slidenum">
              <a:rPr lang="en-US" smtClean="0"/>
              <a:t>‹#›</a:t>
            </a:fld>
            <a:endParaRPr lang="en-US"/>
          </a:p>
        </p:txBody>
      </p:sp>
    </p:spTree>
    <p:extLst>
      <p:ext uri="{BB962C8B-B14F-4D97-AF65-F5344CB8AC3E}">
        <p14:creationId xmlns:p14="http://schemas.microsoft.com/office/powerpoint/2010/main" val="366542424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Learning </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Tree>
    <p:extLst>
      <p:ext uri="{BB962C8B-B14F-4D97-AF65-F5344CB8AC3E}">
        <p14:creationId xmlns:p14="http://schemas.microsoft.com/office/powerpoint/2010/main" val="663642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Layout </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907655283"/>
              </p:ext>
            </p:extLst>
          </p:nvPr>
        </p:nvGraphicFramePr>
        <p:xfrm>
          <a:off x="1222433" y="1875412"/>
          <a:ext cx="9716654" cy="3506018"/>
        </p:xfrm>
        <a:graphic>
          <a:graphicData uri="http://schemas.openxmlformats.org/drawingml/2006/table">
            <a:tbl>
              <a:tblPr/>
              <a:tblGrid>
                <a:gridCol w="8720273">
                  <a:extLst>
                    <a:ext uri="{9D8B030D-6E8A-4147-A177-3AD203B41FA5}">
                      <a16:colId xmlns:a16="http://schemas.microsoft.com/office/drawing/2014/main" val="1541107958"/>
                    </a:ext>
                  </a:extLst>
                </a:gridCol>
                <a:gridCol w="996381">
                  <a:extLst>
                    <a:ext uri="{9D8B030D-6E8A-4147-A177-3AD203B41FA5}">
                      <a16:colId xmlns:a16="http://schemas.microsoft.com/office/drawing/2014/main" val="3807945800"/>
                    </a:ext>
                  </a:extLst>
                </a:gridCol>
              </a:tblGrid>
              <a:tr h="1163351">
                <a:tc>
                  <a:txBody>
                    <a:bodyPr/>
                    <a:lstStyle/>
                    <a:p>
                      <a:pPr marL="285750" marR="0" indent="-285750">
                        <a:lnSpc>
                          <a:spcPct val="107000"/>
                        </a:lnSpc>
                        <a:spcBef>
                          <a:spcPts val="0"/>
                        </a:spcBef>
                        <a:spcAft>
                          <a:spcPts val="0"/>
                        </a:spcAft>
                        <a:buFont typeface="Arial" panose="020B0604020202020204" pitchFamily="34" charset="0"/>
                        <a:buChar char="•"/>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Thorndike’s Law of Effect </a:t>
                      </a: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285750" marR="0" indent="-285750">
                        <a:lnSpc>
                          <a:spcPct val="107000"/>
                        </a:lnSpc>
                        <a:spcBef>
                          <a:spcPts val="0"/>
                        </a:spcBef>
                        <a:spcAft>
                          <a:spcPts val="0"/>
                        </a:spcAft>
                        <a:buFont typeface="Arial" panose="020B0604020202020204" pitchFamily="34" charset="0"/>
                        <a:buChar char="•"/>
                      </a:pP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Basics of Operant </a:t>
                      </a: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Conditioning </a:t>
                      </a:r>
                    </a:p>
                    <a:p>
                      <a:pPr marL="285750" marR="0" indent="-285750">
                        <a:lnSpc>
                          <a:spcPct val="107000"/>
                        </a:lnSpc>
                        <a:spcBef>
                          <a:spcPts val="0"/>
                        </a:spcBef>
                        <a:spcAft>
                          <a:spcPts val="0"/>
                        </a:spcAft>
                        <a:buFont typeface="Arial" panose="020B0604020202020204" pitchFamily="34" charset="0"/>
                        <a:buChar char="•"/>
                      </a:pP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Reinforcement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and Punishment </a:t>
                      </a:r>
                      <a:endPar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nSpc>
                          <a:spcPct val="107000"/>
                        </a:lnSpc>
                        <a:spcBef>
                          <a:spcPts val="0"/>
                        </a:spcBef>
                        <a:spcAft>
                          <a:spcPts val="800"/>
                        </a:spcAft>
                      </a:pPr>
                      <a:r>
                        <a:rPr lang="en-US" sz="1600">
                          <a:effectLst/>
                          <a:latin typeface="Times New Roman" panose="02020603050405020304" pitchFamily="18" charset="0"/>
                          <a:ea typeface="Calibri" panose="020F0502020204030204" pitchFamily="34" charset="0"/>
                          <a:cs typeface="Times New Roman" panose="02020603050405020304" pitchFamily="18" charset="0"/>
                        </a:rPr>
                        <a:t> </a:t>
                      </a:r>
                    </a:p>
                  </a:txBody>
                  <a:tcPr marL="0" marR="0" marT="0" marB="0" anchor="ctr">
                    <a:lnL>
                      <a:noFill/>
                    </a:lnL>
                    <a:lnR>
                      <a:noFill/>
                    </a:lnR>
                    <a:lnT>
                      <a:noFill/>
                    </a:lnT>
                    <a:lnB>
                      <a:noFill/>
                    </a:lnB>
                  </a:tcPr>
                </a:tc>
                <a:extLst>
                  <a:ext uri="{0D108BD9-81ED-4DB2-BD59-A6C34878D82A}">
                    <a16:rowId xmlns:a16="http://schemas.microsoft.com/office/drawing/2014/main" val="1003728489"/>
                  </a:ext>
                </a:extLst>
              </a:tr>
              <a:tr h="2331966">
                <a:tc gridSpan="2">
                  <a:txBody>
                    <a:bodyPr/>
                    <a:lstStyle/>
                    <a:p>
                      <a:pPr marL="285750" marR="0" indent="-285750">
                        <a:lnSpc>
                          <a:spcPct val="107000"/>
                        </a:lnSpc>
                        <a:spcBef>
                          <a:spcPts val="0"/>
                        </a:spcBef>
                        <a:spcAft>
                          <a:spcPts val="0"/>
                        </a:spcAft>
                        <a:buFont typeface="Arial" panose="020B0604020202020204" pitchFamily="34" charset="0"/>
                        <a:buChar char="•"/>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Comparing classical and operant </a:t>
                      </a: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conditioning </a:t>
                      </a:r>
                    </a:p>
                    <a:p>
                      <a:pPr marL="285750" marR="0" indent="-285750">
                        <a:lnSpc>
                          <a:spcPct val="107000"/>
                        </a:lnSpc>
                        <a:spcBef>
                          <a:spcPts val="0"/>
                        </a:spcBef>
                        <a:spcAft>
                          <a:spcPts val="0"/>
                        </a:spcAft>
                        <a:buFont typeface="Arial" panose="020B0604020202020204" pitchFamily="34" charset="0"/>
                        <a:buChar char="•"/>
                      </a:pP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Latent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Learning </a:t>
                      </a:r>
                      <a:endPar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Arial" panose="020B0604020202020204" pitchFamily="34" charset="0"/>
                        <a:buChar char="•"/>
                      </a:pPr>
                      <a:r>
                        <a:rPr lang="en-US" sz="24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Observational </a:t>
                      </a: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Learning: Learning Through Imitation </a:t>
                      </a:r>
                      <a:endPar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a:noFill/>
                    </a:lnL>
                    <a:lnR>
                      <a:noFill/>
                    </a:lnR>
                    <a:lnT>
                      <a:noFill/>
                    </a:lnT>
                    <a:lnB>
                      <a:noFill/>
                    </a:lnB>
                  </a:tcPr>
                </a:tc>
                <a:tc hMerge="1">
                  <a:txBody>
                    <a:bodyPr/>
                    <a:lstStyle/>
                    <a:p>
                      <a:endParaRPr lang="en-US"/>
                    </a:p>
                  </a:txBody>
                  <a:tcPr/>
                </a:tc>
                <a:extLst>
                  <a:ext uri="{0D108BD9-81ED-4DB2-BD59-A6C34878D82A}">
                    <a16:rowId xmlns:a16="http://schemas.microsoft.com/office/drawing/2014/main" val="2759972046"/>
                  </a:ext>
                </a:extLst>
              </a:tr>
            </a:tbl>
          </a:graphicData>
        </a:graphic>
      </p:graphicFrame>
    </p:spTree>
    <p:extLst>
      <p:ext uri="{BB962C8B-B14F-4D97-AF65-F5344CB8AC3E}">
        <p14:creationId xmlns:p14="http://schemas.microsoft.com/office/powerpoint/2010/main" val="815764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 you like receiving these statements?</a:t>
            </a:r>
            <a:endParaRPr lang="en-US" dirty="0"/>
          </a:p>
        </p:txBody>
      </p:sp>
      <p:sp>
        <p:nvSpPr>
          <p:cNvPr id="3" name="Content Placeholder 2"/>
          <p:cNvSpPr>
            <a:spLocks noGrp="1"/>
          </p:cNvSpPr>
          <p:nvPr>
            <p:ph idx="1"/>
          </p:nvPr>
        </p:nvSpPr>
        <p:spPr/>
        <p:txBody>
          <a:bodyPr/>
          <a:lstStyle/>
          <a:p>
            <a:r>
              <a:rPr lang="en-US" dirty="0" smtClean="0"/>
              <a:t>Very good . . . What a clever idea . . . Fantastic . . . I agree . . . Thank you . . .</a:t>
            </a:r>
          </a:p>
          <a:p>
            <a:r>
              <a:rPr lang="en-US" dirty="0" smtClean="0"/>
              <a:t>Excellent . . . Super . . . Right on . . . This is the best paper you’ve ever written;</a:t>
            </a:r>
          </a:p>
          <a:p>
            <a:r>
              <a:rPr lang="en-US" dirty="0" smtClean="0"/>
              <a:t>you get an A . . . You are really getting the hang of it . . . I’m impressed . . .</a:t>
            </a:r>
          </a:p>
          <a:p>
            <a:r>
              <a:rPr lang="en-US" dirty="0" smtClean="0"/>
              <a:t>You’re getting a raise . . . Have a cookie . . . You look great</a:t>
            </a:r>
            <a:endParaRPr lang="en-US" dirty="0"/>
          </a:p>
        </p:txBody>
      </p:sp>
    </p:spTree>
    <p:extLst>
      <p:ext uri="{BB962C8B-B14F-4D97-AF65-F5344CB8AC3E}">
        <p14:creationId xmlns:p14="http://schemas.microsoft.com/office/powerpoint/2010/main" val="1689707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Operant Conditioning </a:t>
            </a:r>
            <a:endParaRPr lang="en-US" dirty="0"/>
          </a:p>
        </p:txBody>
      </p:sp>
      <p:sp>
        <p:nvSpPr>
          <p:cNvPr id="3" name="Content Placeholder 2"/>
          <p:cNvSpPr>
            <a:spLocks noGrp="1"/>
          </p:cNvSpPr>
          <p:nvPr>
            <p:ph idx="1"/>
          </p:nvPr>
        </p:nvSpPr>
        <p:spPr/>
        <p:txBody>
          <a:bodyPr/>
          <a:lstStyle/>
          <a:p>
            <a:r>
              <a:rPr lang="en-US" dirty="0"/>
              <a:t>T</a:t>
            </a:r>
            <a:r>
              <a:rPr lang="en-US" dirty="0" smtClean="0"/>
              <a:t>o bring about powerful changes in behavior and to teach the most complex tasks. </a:t>
            </a:r>
          </a:p>
          <a:p>
            <a:r>
              <a:rPr lang="en-US" dirty="0" smtClean="0"/>
              <a:t>This is operant conditioning </a:t>
            </a:r>
            <a:endParaRPr lang="en-US" dirty="0"/>
          </a:p>
          <a:p>
            <a:r>
              <a:rPr lang="en-US" dirty="0" smtClean="0"/>
              <a:t>Operant conditioning is the basis for many of the most important kinds of human, and animal, learning</a:t>
            </a:r>
            <a:endParaRPr lang="en-US" dirty="0"/>
          </a:p>
        </p:txBody>
      </p:sp>
    </p:spTree>
    <p:extLst>
      <p:ext uri="{BB962C8B-B14F-4D97-AF65-F5344CB8AC3E}">
        <p14:creationId xmlns:p14="http://schemas.microsoft.com/office/powerpoint/2010/main" val="337783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Operant Conditioning </a:t>
            </a:r>
            <a:endParaRPr lang="en-US" dirty="0"/>
          </a:p>
        </p:txBody>
      </p:sp>
      <p:sp>
        <p:nvSpPr>
          <p:cNvPr id="3" name="Content Placeholder 2"/>
          <p:cNvSpPr>
            <a:spLocks noGrp="1"/>
          </p:cNvSpPr>
          <p:nvPr>
            <p:ph idx="1"/>
          </p:nvPr>
        </p:nvSpPr>
        <p:spPr/>
        <p:txBody>
          <a:bodyPr/>
          <a:lstStyle/>
          <a:p>
            <a:r>
              <a:rPr lang="en-US" dirty="0" smtClean="0"/>
              <a:t>Operant conditioning is learning in which a voluntary response is strengthened or weakened, depending on its favorable or unfavorable consequences. </a:t>
            </a:r>
          </a:p>
          <a:p>
            <a:r>
              <a:rPr lang="en-US" dirty="0" smtClean="0"/>
              <a:t>When we say that a response has been strengthened or weakened, we mean that it has been made more or less likely to recur regularly</a:t>
            </a:r>
            <a:endParaRPr lang="en-US" dirty="0"/>
          </a:p>
        </p:txBody>
      </p:sp>
    </p:spTree>
    <p:extLst>
      <p:ext uri="{BB962C8B-B14F-4D97-AF65-F5344CB8AC3E}">
        <p14:creationId xmlns:p14="http://schemas.microsoft.com/office/powerpoint/2010/main" val="1190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Operant Conditioning </a:t>
            </a:r>
            <a:endParaRPr lang="en-US" dirty="0"/>
          </a:p>
        </p:txBody>
      </p:sp>
      <p:sp>
        <p:nvSpPr>
          <p:cNvPr id="3" name="Content Placeholder 2"/>
          <p:cNvSpPr>
            <a:spLocks noGrp="1"/>
          </p:cNvSpPr>
          <p:nvPr>
            <p:ph idx="1"/>
          </p:nvPr>
        </p:nvSpPr>
        <p:spPr/>
        <p:txBody>
          <a:bodyPr>
            <a:normAutofit/>
          </a:bodyPr>
          <a:lstStyle/>
          <a:p>
            <a:r>
              <a:rPr lang="en-US" dirty="0" smtClean="0"/>
              <a:t>Unlike classical conditioning, in which the original behaviors are the natural, biological responses to the presence of a stimulus such as food, water, or pain, operant conditioning applies to voluntary responses, which an organism performs deliberately to produce a desirable outcome. </a:t>
            </a:r>
          </a:p>
          <a:p>
            <a:r>
              <a:rPr lang="en-US" dirty="0" smtClean="0"/>
              <a:t>The term operant emphasizes this point: </a:t>
            </a:r>
          </a:p>
          <a:p>
            <a:pPr lvl="1"/>
            <a:r>
              <a:rPr lang="en-US" dirty="0" smtClean="0"/>
              <a:t>The organism operates on its environment to produce a desirable result. </a:t>
            </a:r>
          </a:p>
          <a:p>
            <a:r>
              <a:rPr lang="en-US" dirty="0" smtClean="0"/>
              <a:t>Operant conditioning is at work when we learn that toiling industriously can bring about a raise or that studying hard results in good grades.</a:t>
            </a:r>
          </a:p>
          <a:p>
            <a:r>
              <a:rPr lang="en-US" dirty="0" smtClean="0"/>
              <a:t>Similar to classical conditioning, the basis for understanding operant conditioning was laid by work with animals.</a:t>
            </a:r>
            <a:endParaRPr lang="en-US" dirty="0"/>
          </a:p>
        </p:txBody>
      </p:sp>
    </p:spTree>
    <p:extLst>
      <p:ext uri="{BB962C8B-B14F-4D97-AF65-F5344CB8AC3E}">
        <p14:creationId xmlns:p14="http://schemas.microsoft.com/office/powerpoint/2010/main" val="2130962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Thorndike effect </a:t>
            </a:r>
            <a:endParaRPr lang="en-US" dirty="0"/>
          </a:p>
        </p:txBody>
      </p:sp>
      <p:sp>
        <p:nvSpPr>
          <p:cNvPr id="3" name="Content Placeholder 2"/>
          <p:cNvSpPr>
            <a:spLocks noGrp="1"/>
          </p:cNvSpPr>
          <p:nvPr>
            <p:ph idx="1"/>
          </p:nvPr>
        </p:nvSpPr>
        <p:spPr/>
        <p:txBody>
          <a:bodyPr/>
          <a:lstStyle/>
          <a:p>
            <a:r>
              <a:rPr lang="en-US" dirty="0" smtClean="0"/>
              <a:t>If you placed a hungry cat in a cage and then put a small piece of food outside the cage, just beyond the cat’s reach, chances are that the cat would eagerly search for a way out of the cage.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8764" y="3094181"/>
            <a:ext cx="5747994" cy="3440841"/>
          </a:xfrm>
          <a:prstGeom prst="rect">
            <a:avLst/>
          </a:prstGeom>
        </p:spPr>
      </p:pic>
    </p:spTree>
    <p:extLst>
      <p:ext uri="{BB962C8B-B14F-4D97-AF65-F5344CB8AC3E}">
        <p14:creationId xmlns:p14="http://schemas.microsoft.com/office/powerpoint/2010/main" val="605113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 </a:t>
            </a:r>
            <a:endParaRPr lang="en-US" dirty="0"/>
          </a:p>
        </p:txBody>
      </p:sp>
      <p:sp>
        <p:nvSpPr>
          <p:cNvPr id="3" name="Content Placeholder 2"/>
          <p:cNvSpPr>
            <a:spLocks noGrp="1"/>
          </p:cNvSpPr>
          <p:nvPr>
            <p:ph idx="1"/>
          </p:nvPr>
        </p:nvSpPr>
        <p:spPr/>
        <p:txBody>
          <a:bodyPr/>
          <a:lstStyle/>
          <a:p>
            <a:r>
              <a:rPr lang="en-US" dirty="0" smtClean="0"/>
              <a:t>Thorndike summarized that relationship by formulating the law of effect :</a:t>
            </a:r>
          </a:p>
          <a:p>
            <a:pPr lvl="1"/>
            <a:r>
              <a:rPr lang="en-US" b="1" u="sng" dirty="0" smtClean="0"/>
              <a:t>“Responses that lead to satisfying consequences are more likely to be repeated.”</a:t>
            </a:r>
            <a:endParaRPr lang="en-US" dirty="0" smtClean="0"/>
          </a:p>
          <a:p>
            <a:r>
              <a:rPr lang="en-US" dirty="0" smtClean="0"/>
              <a:t>Thorndike believed, over time and through experience the organism would make a direct connection between the stimulus and the response without any awareness that the connection existed.</a:t>
            </a:r>
          </a:p>
          <a:p>
            <a:endParaRPr lang="en-US" dirty="0"/>
          </a:p>
        </p:txBody>
      </p:sp>
    </p:spTree>
    <p:extLst>
      <p:ext uri="{BB962C8B-B14F-4D97-AF65-F5344CB8AC3E}">
        <p14:creationId xmlns:p14="http://schemas.microsoft.com/office/powerpoint/2010/main" val="6434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Operant Conditioning </a:t>
            </a:r>
            <a:endParaRPr lang="en-US" dirty="0"/>
          </a:p>
        </p:txBody>
      </p:sp>
      <p:sp>
        <p:nvSpPr>
          <p:cNvPr id="3" name="Content Placeholder 2"/>
          <p:cNvSpPr>
            <a:spLocks noGrp="1"/>
          </p:cNvSpPr>
          <p:nvPr>
            <p:ph idx="1"/>
          </p:nvPr>
        </p:nvSpPr>
        <p:spPr/>
        <p:txBody>
          <a:bodyPr/>
          <a:lstStyle/>
          <a:p>
            <a:r>
              <a:rPr lang="en-US" dirty="0" smtClean="0"/>
              <a:t>B. F. Skinner </a:t>
            </a:r>
          </a:p>
          <a:p>
            <a:r>
              <a:rPr lang="en-US" dirty="0" smtClean="0"/>
              <a:t>Skinner’s box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4982" y="1379610"/>
            <a:ext cx="6585527" cy="486659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250" y="3213853"/>
            <a:ext cx="3319277" cy="1496691"/>
          </a:xfrm>
          <a:prstGeom prst="rect">
            <a:avLst/>
          </a:prstGeom>
        </p:spPr>
      </p:pic>
    </p:spTree>
    <p:extLst>
      <p:ext uri="{BB962C8B-B14F-4D97-AF65-F5344CB8AC3E}">
        <p14:creationId xmlns:p14="http://schemas.microsoft.com/office/powerpoint/2010/main" val="2978898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Suppose </a:t>
            </a:r>
            <a:r>
              <a:rPr lang="en-US" u="sng" dirty="0" smtClean="0">
                <a:solidFill>
                  <a:schemeClr val="accent2">
                    <a:lumMod val="75000"/>
                  </a:schemeClr>
                </a:solidFill>
              </a:rPr>
              <a:t>you want to teach a hungry rat to press a lever </a:t>
            </a:r>
            <a:r>
              <a:rPr lang="en-US" dirty="0" smtClean="0"/>
              <a:t>that is in its box. </a:t>
            </a:r>
          </a:p>
          <a:p>
            <a:r>
              <a:rPr lang="en-US" dirty="0" smtClean="0"/>
              <a:t>At first</a:t>
            </a:r>
            <a:r>
              <a:rPr lang="en-US" dirty="0"/>
              <a:t> </a:t>
            </a:r>
            <a:r>
              <a:rPr lang="en-US" dirty="0" smtClean="0"/>
              <a:t>the rat will wander around the box, exploring the environment in a relatively random fashion. </a:t>
            </a:r>
          </a:p>
          <a:p>
            <a:r>
              <a:rPr lang="en-US" dirty="0" smtClean="0"/>
              <a:t>At some point, however, it will probably press the lever by chance, and when it does, it will receive a food pellet. </a:t>
            </a:r>
          </a:p>
          <a:p>
            <a:r>
              <a:rPr lang="en-US" dirty="0" smtClean="0"/>
              <a:t>The first time this happens, the rat will not learn the connection between pressing a lever and receiving food and will continue to explore the box. </a:t>
            </a:r>
          </a:p>
          <a:p>
            <a:r>
              <a:rPr lang="en-US" dirty="0" smtClean="0"/>
              <a:t>Sooner or later the rat will press the lever again and receive a pellet, and in time the frequency of the pressing response will increase. </a:t>
            </a:r>
          </a:p>
          <a:p>
            <a:r>
              <a:rPr lang="en-US" dirty="0" smtClean="0"/>
              <a:t>Eventually, the rat will press the lever continually until it satisfies its hunger, thereby demonstrating that it has learned that the receipt of food is contingent on pressing the lever.</a:t>
            </a:r>
            <a:endParaRPr lang="en-US" dirty="0"/>
          </a:p>
        </p:txBody>
      </p:sp>
    </p:spTree>
    <p:extLst>
      <p:ext uri="{BB962C8B-B14F-4D97-AF65-F5344CB8AC3E}">
        <p14:creationId xmlns:p14="http://schemas.microsoft.com/office/powerpoint/2010/main" val="1076475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974E-3378-4E3B-ABAD-7D0F1FD83F53}"/>
              </a:ext>
            </a:extLst>
          </p:cNvPr>
          <p:cNvSpPr>
            <a:spLocks noGrp="1"/>
          </p:cNvSpPr>
          <p:nvPr>
            <p:ph type="title"/>
          </p:nvPr>
        </p:nvSpPr>
        <p:spPr/>
        <p:txBody>
          <a:bodyPr>
            <a:normAutofit/>
          </a:bodyPr>
          <a:lstStyle/>
          <a:p>
            <a:r>
              <a:rPr lang="en-US" sz="4400" b="1" i="0" dirty="0">
                <a:solidFill>
                  <a:srgbClr val="202124"/>
                </a:solidFill>
                <a:effectLst/>
                <a:latin typeface="Times New Roman" panose="02020603050405020304" pitchFamily="18" charset="0"/>
                <a:cs typeface="Times New Roman" panose="02020603050405020304" pitchFamily="18" charset="0"/>
              </a:rPr>
              <a:t>Example of operant conditioning</a:t>
            </a:r>
            <a:endParaRPr lang="en-US" sz="4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C6FFD2-87C4-494E-A001-FB4F0EBED628}"/>
              </a:ext>
            </a:extLst>
          </p:cNvPr>
          <p:cNvSpPr>
            <a:spLocks noGrp="1"/>
          </p:cNvSpPr>
          <p:nvPr>
            <p:ph idx="1"/>
          </p:nvPr>
        </p:nvSpPr>
        <p:spPr/>
        <p:txBody>
          <a:bodyPr/>
          <a:lstStyle/>
          <a:p>
            <a:pPr algn="just"/>
            <a:r>
              <a:rPr lang="en-US" b="0" i="0" dirty="0">
                <a:solidFill>
                  <a:srgbClr val="202124"/>
                </a:solidFill>
                <a:effectLst/>
                <a:latin typeface="Times New Roman" panose="02020603050405020304" pitchFamily="18" charset="0"/>
                <a:cs typeface="Times New Roman" panose="02020603050405020304" pitchFamily="18" charset="0"/>
              </a:rPr>
              <a:t>For example, when lab rats press a lever when a green light is on, they receive a food pellet as a reward. When they press the lever when a red light is on, they receive a mild electric shock. As a result, they learn to press the lever when the green light is on and avoid the red light.</a:t>
            </a:r>
          </a:p>
          <a:p>
            <a:endParaRPr lang="en-US" dirty="0"/>
          </a:p>
        </p:txBody>
      </p:sp>
      <p:pic>
        <p:nvPicPr>
          <p:cNvPr id="4" name="Picture 2" descr="Operant Conditioning: What It Is, How It Works, and Examples - Simply  Psychology">
            <a:extLst>
              <a:ext uri="{FF2B5EF4-FFF2-40B4-BE49-F238E27FC236}">
                <a16:creationId xmlns:a16="http://schemas.microsoft.com/office/drawing/2014/main" id="{0DA67F50-2E20-4024-B54D-8290DCE4417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24375" y="3057524"/>
            <a:ext cx="3429000"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157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C450-CDC4-4126-A4FB-4D774036A758}"/>
              </a:ext>
            </a:extLst>
          </p:cNvPr>
          <p:cNvSpPr>
            <a:spLocks noGrp="1"/>
          </p:cNvSpPr>
          <p:nvPr>
            <p:ph type="title"/>
          </p:nvPr>
        </p:nvSpPr>
        <p:spPr/>
        <p:txBody>
          <a:bodyPr/>
          <a:lstStyle/>
          <a:p>
            <a:r>
              <a:rPr lang="en-US" altLang="en-US"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Reinforcement</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F8E267-A161-4662-87EE-B1FBA8DDF2E5}"/>
              </a:ext>
            </a:extLst>
          </p:cNvPr>
          <p:cNvSpPr>
            <a:spLocks noGrp="1"/>
          </p:cNvSpPr>
          <p:nvPr>
            <p:ph idx="1"/>
          </p:nvPr>
        </p:nvSpPr>
        <p:spPr/>
        <p:txBody>
          <a:bodyPr/>
          <a:lstStyle/>
          <a:p>
            <a:pPr algn="just" eaLnBrk="1" hangingPunct="1">
              <a:lnSpc>
                <a:spcPct val="80000"/>
              </a:lnSpc>
            </a:pP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A </a:t>
            </a:r>
            <a:r>
              <a:rPr lang="en-US" altLang="en-US" sz="2800" b="1" dirty="0">
                <a:latin typeface="Times New Roman" panose="02020603050405020304" pitchFamily="18" charset="0"/>
                <a:ea typeface="ＭＳ Ｐゴシック" panose="020B0600070205080204" pitchFamily="34" charset="-128"/>
                <a:cs typeface="Times New Roman" panose="02020603050405020304" pitchFamily="18" charset="0"/>
              </a:rPr>
              <a:t>reinforcer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is a condition in which the presentation or removal of a stimulus, that occurs after a response (behavior) and strengthens that response, or makes it more likely to happen again in the future.</a:t>
            </a:r>
          </a:p>
          <a:p>
            <a:pPr algn="just" eaLnBrk="1" hangingPunct="1">
              <a:lnSpc>
                <a:spcPct val="80000"/>
              </a:lnSpc>
            </a:pPr>
            <a:endPar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80000"/>
              </a:lnSpc>
            </a:pPr>
            <a:r>
              <a:rPr lang="en-US" altLang="en-US" sz="2800" b="1" u="sng" dirty="0">
                <a:latin typeface="Times New Roman" panose="02020603050405020304" pitchFamily="18" charset="0"/>
                <a:ea typeface="ＭＳ Ｐゴシック" panose="020B0600070205080204" pitchFamily="34" charset="-128"/>
                <a:cs typeface="Times New Roman" panose="02020603050405020304" pitchFamily="18" charset="0"/>
              </a:rPr>
              <a:t>Positive Reinforcement:</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A stimulus presented after a response that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increases the probability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of that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response happening again.</a:t>
            </a:r>
          </a:p>
          <a:p>
            <a:pPr algn="just" eaLnBrk="1" hangingPunct="1">
              <a:lnSpc>
                <a:spcPct val="80000"/>
              </a:lnSpc>
            </a:pPr>
            <a:endPar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endParaRPr>
          </a:p>
          <a:p>
            <a:pPr lvl="1" algn="just" eaLnBrk="1" hangingPunct="1">
              <a:lnSpc>
                <a:spcPct val="80000"/>
              </a:lnSpc>
            </a:pPr>
            <a:r>
              <a:rPr lang="en-US" altLang="en-US" sz="2300" dirty="0">
                <a:latin typeface="Times New Roman" panose="02020603050405020304" pitchFamily="18" charset="0"/>
                <a:ea typeface="ＭＳ Ｐゴシック" panose="020B0600070205080204" pitchFamily="34" charset="-128"/>
                <a:cs typeface="Times New Roman" panose="02020603050405020304" pitchFamily="18" charset="0"/>
              </a:rPr>
              <a:t>Ex: </a:t>
            </a:r>
            <a:r>
              <a:rPr lang="en-US" altLang="en-US" sz="2300" b="1" i="1" dirty="0">
                <a:latin typeface="Times New Roman" panose="02020603050405020304" pitchFamily="18" charset="0"/>
                <a:ea typeface="ＭＳ Ｐゴシック" panose="020B0600070205080204" pitchFamily="34" charset="-128"/>
                <a:cs typeface="Times New Roman" panose="02020603050405020304" pitchFamily="18" charset="0"/>
              </a:rPr>
              <a:t>Getting paid for good grades</a:t>
            </a:r>
          </a:p>
          <a:p>
            <a:endParaRPr lang="en-US" dirty="0"/>
          </a:p>
        </p:txBody>
      </p:sp>
    </p:spTree>
    <p:extLst>
      <p:ext uri="{BB962C8B-B14F-4D97-AF65-F5344CB8AC3E}">
        <p14:creationId xmlns:p14="http://schemas.microsoft.com/office/powerpoint/2010/main" val="4119967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Reinforcement </a:t>
            </a:r>
            <a:endParaRPr lang="en-US" dirty="0"/>
          </a:p>
        </p:txBody>
      </p:sp>
      <p:sp>
        <p:nvSpPr>
          <p:cNvPr id="3" name="Content Placeholder 2"/>
          <p:cNvSpPr>
            <a:spLocks noGrp="1"/>
          </p:cNvSpPr>
          <p:nvPr>
            <p:ph idx="1"/>
          </p:nvPr>
        </p:nvSpPr>
        <p:spPr/>
        <p:txBody>
          <a:bodyPr>
            <a:normAutofit/>
          </a:bodyPr>
          <a:lstStyle/>
          <a:p>
            <a:r>
              <a:rPr lang="en-US" b="1" u="sng" dirty="0" smtClean="0"/>
              <a:t>Reinforcement is the process by which a stimulus increases the probability that a preceding behavior will be repeated. </a:t>
            </a:r>
          </a:p>
          <a:p>
            <a:r>
              <a:rPr lang="en-US" dirty="0" smtClean="0"/>
              <a:t>In other words, pressing the lever is more likely to occur again because of the stimulus of food.</a:t>
            </a:r>
          </a:p>
          <a:p>
            <a:r>
              <a:rPr lang="en-US" dirty="0" smtClean="0"/>
              <a:t>In a situation such as this one, the food is called a reinforce.</a:t>
            </a:r>
          </a:p>
          <a:p>
            <a:r>
              <a:rPr lang="en-US" dirty="0" smtClean="0"/>
              <a:t>A </a:t>
            </a:r>
            <a:r>
              <a:rPr lang="en-US" dirty="0" err="1" smtClean="0"/>
              <a:t>reinforcer</a:t>
            </a:r>
            <a:r>
              <a:rPr lang="en-US" dirty="0" smtClean="0"/>
              <a:t> is any stimulus that increases the probability that a preceding behavior will occur again.</a:t>
            </a:r>
          </a:p>
          <a:p>
            <a:r>
              <a:rPr lang="en-US" dirty="0" smtClean="0"/>
              <a:t>Hence, food is a </a:t>
            </a:r>
            <a:r>
              <a:rPr lang="en-US" dirty="0" err="1" smtClean="0"/>
              <a:t>reinforcer</a:t>
            </a:r>
            <a:r>
              <a:rPr lang="en-US" dirty="0" smtClean="0"/>
              <a:t>, because it increases the probability that the behavior of pressing (formally referred to as the r e </a:t>
            </a:r>
            <a:r>
              <a:rPr lang="en-US" dirty="0" err="1" smtClean="0"/>
              <a:t>sponse</a:t>
            </a:r>
            <a:r>
              <a:rPr lang="en-US" dirty="0" smtClean="0"/>
              <a:t> of pressing) will take place.</a:t>
            </a:r>
            <a:endParaRPr lang="en-US" dirty="0"/>
          </a:p>
        </p:txBody>
      </p:sp>
    </p:spTree>
    <p:extLst>
      <p:ext uri="{BB962C8B-B14F-4D97-AF65-F5344CB8AC3E}">
        <p14:creationId xmlns:p14="http://schemas.microsoft.com/office/powerpoint/2010/main" val="1354267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E9339-4506-4D2A-B781-9102788E55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A51D03-393C-45E6-BE34-4B9355790EFA}"/>
              </a:ext>
            </a:extLst>
          </p:cNvPr>
          <p:cNvSpPr>
            <a:spLocks noGrp="1"/>
          </p:cNvSpPr>
          <p:nvPr>
            <p:ph idx="1"/>
          </p:nvPr>
        </p:nvSpPr>
        <p:spPr>
          <a:xfrm>
            <a:off x="1066800" y="2103120"/>
            <a:ext cx="5448300" cy="4112286"/>
          </a:xfrm>
        </p:spPr>
        <p:txBody>
          <a:bodyPr/>
          <a:lstStyle/>
          <a:p>
            <a:pPr algn="just">
              <a:spcBef>
                <a:spcPct val="50000"/>
              </a:spcBef>
              <a:buFontTx/>
              <a:buChar char="•"/>
            </a:pPr>
            <a:r>
              <a:rPr lang="en-US" altLang="en-US" sz="2000" b="1" u="sng" dirty="0">
                <a:latin typeface="Times New Roman" panose="02020603050405020304" pitchFamily="18" charset="0"/>
                <a:cs typeface="Times New Roman" panose="02020603050405020304" pitchFamily="18" charset="0"/>
              </a:rPr>
              <a:t>Reinforcer:</a:t>
            </a:r>
            <a:r>
              <a:rPr lang="en-US" altLang="en-US" sz="2000" dirty="0">
                <a:latin typeface="Times New Roman" panose="02020603050405020304" pitchFamily="18" charset="0"/>
                <a:cs typeface="Times New Roman" panose="02020603050405020304" pitchFamily="18" charset="0"/>
              </a:rPr>
              <a:t> Anything that increases the occurrence of a desired behavior.</a:t>
            </a:r>
          </a:p>
          <a:p>
            <a:pPr algn="just">
              <a:spcBef>
                <a:spcPct val="50000"/>
              </a:spcBef>
              <a:buFontTx/>
              <a:buChar char="•"/>
            </a:pPr>
            <a:r>
              <a:rPr lang="en-US" altLang="en-US" sz="2000" b="1" u="sng" dirty="0">
                <a:latin typeface="Times New Roman" panose="02020603050405020304" pitchFamily="18" charset="0"/>
                <a:cs typeface="Times New Roman" panose="02020603050405020304" pitchFamily="18" charset="0"/>
              </a:rPr>
              <a:t>Positive Reinforcement: </a:t>
            </a:r>
            <a:r>
              <a:rPr lang="en-US" altLang="en-US" sz="2000" dirty="0">
                <a:latin typeface="Times New Roman" panose="02020603050405020304" pitchFamily="18" charset="0"/>
                <a:cs typeface="Times New Roman" panose="02020603050405020304" pitchFamily="18" charset="0"/>
              </a:rPr>
              <a:t>Reinforcement by giving something.</a:t>
            </a:r>
          </a:p>
          <a:p>
            <a:pPr algn="just">
              <a:spcBef>
                <a:spcPct val="50000"/>
              </a:spcBef>
              <a:buFontTx/>
              <a:buChar char="•"/>
            </a:pPr>
            <a:r>
              <a:rPr lang="en-US" altLang="en-US" sz="2000" b="1" u="sng" dirty="0">
                <a:latin typeface="Times New Roman" panose="02020603050405020304" pitchFamily="18" charset="0"/>
                <a:cs typeface="Times New Roman" panose="02020603050405020304" pitchFamily="18" charset="0"/>
              </a:rPr>
              <a:t>Negative Reinforcement: </a:t>
            </a:r>
            <a:r>
              <a:rPr lang="en-US" altLang="en-US" sz="2000" dirty="0">
                <a:latin typeface="Times New Roman" panose="02020603050405020304" pitchFamily="18" charset="0"/>
                <a:cs typeface="Times New Roman" panose="02020603050405020304" pitchFamily="18" charset="0"/>
              </a:rPr>
              <a:t>Reinforcement by taking something away (removal)</a:t>
            </a:r>
          </a:p>
          <a:p>
            <a:pPr algn="just">
              <a:spcBef>
                <a:spcPct val="50000"/>
              </a:spcBef>
              <a:buFontTx/>
              <a:buChar char="•"/>
            </a:pPr>
            <a:r>
              <a:rPr lang="en-US" altLang="en-US" sz="2000" b="1" u="sng" dirty="0">
                <a:latin typeface="Times New Roman" panose="02020603050405020304" pitchFamily="18" charset="0"/>
                <a:cs typeface="Times New Roman" panose="02020603050405020304" pitchFamily="18" charset="0"/>
              </a:rPr>
              <a:t>Punishment:</a:t>
            </a:r>
            <a:r>
              <a:rPr lang="en-US" altLang="en-US" sz="2000" dirty="0">
                <a:latin typeface="Times New Roman" panose="02020603050405020304" pitchFamily="18" charset="0"/>
                <a:cs typeface="Times New Roman" panose="02020603050405020304" pitchFamily="18" charset="0"/>
              </a:rPr>
              <a:t> Anything that decreases the occurrence of an undesired behavior.  Usually unpleasant.</a:t>
            </a:r>
          </a:p>
          <a:p>
            <a:endParaRPr lang="en-US" dirty="0"/>
          </a:p>
        </p:txBody>
      </p:sp>
      <p:pic>
        <p:nvPicPr>
          <p:cNvPr id="5122" name="Picture 2" descr="Learn About Extinction In Operant Conditioning | Chegg.com">
            <a:extLst>
              <a:ext uri="{FF2B5EF4-FFF2-40B4-BE49-F238E27FC236}">
                <a16:creationId xmlns:a16="http://schemas.microsoft.com/office/drawing/2014/main" id="{E212C220-6AAC-4E1E-AF17-EB335C6CE8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3300" y="2014194"/>
            <a:ext cx="3924299" cy="345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501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81F54395-60DF-48EC-B968-CAE028CF0105}"/>
              </a:ext>
            </a:extLst>
          </p:cNvPr>
          <p:cNvSpPr>
            <a:spLocks noGrp="1" noChangeArrowheads="1"/>
          </p:cNvSpPr>
          <p:nvPr>
            <p:ph type="title"/>
          </p:nvPr>
        </p:nvSpPr>
        <p:spPr>
          <a:xfrm>
            <a:off x="1066800" y="375894"/>
            <a:ext cx="10058400" cy="1371600"/>
          </a:xfrm>
        </p:spPr>
        <p:txBody>
          <a:bodyPr/>
          <a:lstStyle/>
          <a:p>
            <a:pPr eaLnBrk="1" hangingPunct="1"/>
            <a:r>
              <a:rPr lang="en-US" altLang="en-US"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Negative Reinforcement</a:t>
            </a:r>
          </a:p>
        </p:txBody>
      </p:sp>
      <p:sp>
        <p:nvSpPr>
          <p:cNvPr id="58371" name="Rectangle 3">
            <a:extLst>
              <a:ext uri="{FF2B5EF4-FFF2-40B4-BE49-F238E27FC236}">
                <a16:creationId xmlns:a16="http://schemas.microsoft.com/office/drawing/2014/main" id="{6BFF3926-E144-4558-B939-DC0FBFECA2E2}"/>
              </a:ext>
            </a:extLst>
          </p:cNvPr>
          <p:cNvSpPr>
            <a:spLocks noGrp="1" noChangeArrowheads="1"/>
          </p:cNvSpPr>
          <p:nvPr>
            <p:ph idx="1"/>
          </p:nvPr>
        </p:nvSpPr>
        <p:spPr>
          <a:xfrm>
            <a:off x="666750" y="1527175"/>
            <a:ext cx="10801350" cy="4572000"/>
          </a:xfrm>
        </p:spPr>
        <p:txBody>
          <a:bodyPr>
            <a:normAutofit/>
          </a:bodyPr>
          <a:lstStyle/>
          <a:p>
            <a:pPr marL="514350" indent="-514350" algn="just"/>
            <a:r>
              <a:rPr lang="en-US" altLang="en-US" sz="2800" b="1" u="sng" dirty="0">
                <a:latin typeface="Times New Roman" panose="02020603050405020304" pitchFamily="18" charset="0"/>
                <a:ea typeface="ＭＳ Ｐゴシック" panose="020B0600070205080204" pitchFamily="34" charset="-128"/>
                <a:cs typeface="Times New Roman" panose="02020603050405020304" pitchFamily="18" charset="0"/>
              </a:rPr>
              <a:t>Negative Reinforcement:</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The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removal of an unpleasant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or averse stimulus that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increases the probability of that response happening again.</a:t>
            </a:r>
            <a:endParaRPr lang="en-US" altLang="en-US" sz="1200" b="1" i="1" dirty="0">
              <a:latin typeface="Times New Roman" panose="02020603050405020304" pitchFamily="18" charset="0"/>
              <a:ea typeface="ＭＳ Ｐゴシック" panose="020B0600070205080204" pitchFamily="34" charset="-128"/>
              <a:cs typeface="Times New Roman" panose="02020603050405020304" pitchFamily="18" charset="0"/>
            </a:endParaRPr>
          </a:p>
          <a:p>
            <a:pPr marL="514350" indent="-514350" algn="just">
              <a:buNone/>
            </a:pPr>
            <a:endParaRPr lang="en-US" altLang="en-US" sz="1200" dirty="0">
              <a:latin typeface="Times New Roman" panose="02020603050405020304" pitchFamily="18" charset="0"/>
              <a:ea typeface="ＭＳ Ｐゴシック" panose="020B0600070205080204" pitchFamily="34" charset="-128"/>
              <a:cs typeface="Times New Roman" panose="02020603050405020304" pitchFamily="18" charset="0"/>
            </a:endParaRPr>
          </a:p>
          <a:p>
            <a:pPr lvl="1" algn="just" eaLnBrk="1" hangingPunct="1"/>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Ex: Taking Panadol to get rid of a headache.</a:t>
            </a:r>
          </a:p>
          <a:p>
            <a:pPr lvl="1" algn="just" eaLnBrk="1" hangingPunct="1"/>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Ex: Putting on a seatbelt to make the annoying seatbelt buzzer stop.</a:t>
            </a:r>
          </a:p>
          <a:p>
            <a:pPr marL="514350" indent="-514350" algn="just">
              <a:buNone/>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marL="514350" indent="-514350" algn="just"/>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The word </a:t>
            </a:r>
            <a:r>
              <a:rPr lang="en-US" altLang="en-US" sz="2800" b="1" i="1" u="sng" dirty="0">
                <a:latin typeface="Times New Roman" panose="02020603050405020304" pitchFamily="18" charset="0"/>
                <a:ea typeface="ＭＳ Ｐゴシック" panose="020B0600070205080204" pitchFamily="34" charset="-128"/>
                <a:cs typeface="Times New Roman" panose="02020603050405020304" pitchFamily="18" charset="0"/>
              </a:rPr>
              <a:t>“positive”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means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add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or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apply</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a:t>
            </a:r>
            <a:r>
              <a:rPr lang="en-US" altLang="en-US" sz="2800" b="1" i="1" u="sng" dirty="0">
                <a:latin typeface="Times New Roman" panose="02020603050405020304" pitchFamily="18" charset="0"/>
                <a:ea typeface="ＭＳ Ｐゴシック" panose="020B0600070205080204" pitchFamily="34" charset="-128"/>
                <a:cs typeface="Times New Roman" panose="02020603050405020304" pitchFamily="18" charset="0"/>
              </a:rPr>
              <a:t>“negative”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is used to mean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subtract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or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remove.</a:t>
            </a:r>
          </a:p>
          <a:p>
            <a:pPr marL="514350" indent="-514350">
              <a:buNone/>
            </a:pPr>
            <a:endParaRPr lang="en-US" altLang="en-US" sz="2800" dirty="0">
              <a:ea typeface="ＭＳ Ｐゴシック" panose="020B0600070205080204" pitchFamily="34" charset="-128"/>
            </a:endParaRPr>
          </a:p>
        </p:txBody>
      </p:sp>
    </p:spTree>
    <p:extLst>
      <p:ext uri="{BB962C8B-B14F-4D97-AF65-F5344CB8AC3E}">
        <p14:creationId xmlns:p14="http://schemas.microsoft.com/office/powerpoint/2010/main" val="2490915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342324A8-C303-4F1B-AA70-1F06FA549F96}"/>
              </a:ext>
            </a:extLst>
          </p:cNvPr>
          <p:cNvSpPr>
            <a:spLocks noGrp="1" noChangeArrowheads="1"/>
          </p:cNvSpPr>
          <p:nvPr>
            <p:ph type="title"/>
          </p:nvPr>
        </p:nvSpPr>
        <p:spPr>
          <a:xfrm>
            <a:off x="1066800" y="642594"/>
            <a:ext cx="10058400" cy="1100481"/>
          </a:xfrm>
        </p:spPr>
        <p:txBody>
          <a:bodyPr>
            <a:normAutofit/>
          </a:bodyPr>
          <a:lstStyle/>
          <a:p>
            <a:pPr eaLnBrk="1" hangingPunct="1"/>
            <a:r>
              <a:rPr lang="en-US" altLang="en-US"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Primary and Secondary reinforcement</a:t>
            </a:r>
          </a:p>
        </p:txBody>
      </p:sp>
      <p:sp>
        <p:nvSpPr>
          <p:cNvPr id="67587" name="Rectangle 3">
            <a:extLst>
              <a:ext uri="{FF2B5EF4-FFF2-40B4-BE49-F238E27FC236}">
                <a16:creationId xmlns:a16="http://schemas.microsoft.com/office/drawing/2014/main" id="{769061B4-9D1D-4332-BE72-4BBE42B41028}"/>
              </a:ext>
            </a:extLst>
          </p:cNvPr>
          <p:cNvSpPr>
            <a:spLocks noGrp="1" noChangeArrowheads="1"/>
          </p:cNvSpPr>
          <p:nvPr>
            <p:ph idx="1"/>
          </p:nvPr>
        </p:nvSpPr>
        <p:spPr>
          <a:xfrm>
            <a:off x="752475" y="1905000"/>
            <a:ext cx="11125200" cy="4737099"/>
          </a:xfrm>
        </p:spPr>
        <p:txBody>
          <a:bodyPr/>
          <a:lstStyle/>
          <a:p>
            <a:pPr algn="just" eaLnBrk="1" hangingPunct="1">
              <a:lnSpc>
                <a:spcPct val="90000"/>
              </a:lnSpc>
            </a:pPr>
            <a:r>
              <a:rPr lang="en-US" altLang="en-US" sz="2200" b="1" u="sng" dirty="0">
                <a:latin typeface="Times New Roman" panose="02020603050405020304" pitchFamily="18" charset="0"/>
                <a:ea typeface="ＭＳ Ｐゴシック" panose="020B0600070205080204" pitchFamily="34" charset="-128"/>
                <a:cs typeface="Times New Roman" panose="02020603050405020304" pitchFamily="18" charset="0"/>
              </a:rPr>
              <a:t>Primary reinforcement:</a:t>
            </a:r>
            <a:r>
              <a:rPr lang="en-US" altLang="en-US" sz="2200" dirty="0">
                <a:latin typeface="Times New Roman" panose="02020603050405020304" pitchFamily="18" charset="0"/>
                <a:ea typeface="ＭＳ Ｐゴシック" panose="020B0600070205080204" pitchFamily="34" charset="-128"/>
                <a:cs typeface="Times New Roman" panose="02020603050405020304" pitchFamily="18" charset="0"/>
              </a:rPr>
              <a:t> something that is naturally reinforcing: food, warmth, water.</a:t>
            </a:r>
          </a:p>
          <a:p>
            <a:pPr algn="just" eaLnBrk="1" hangingPunct="1">
              <a:lnSpc>
                <a:spcPct val="90000"/>
              </a:lnSpc>
              <a:buFontTx/>
              <a:buNone/>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90000"/>
              </a:lnSpc>
              <a:buFontTx/>
              <a:buNone/>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90000"/>
              </a:lnSpc>
              <a:buFontTx/>
              <a:buNone/>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90000"/>
              </a:lnSpc>
              <a:buFontTx/>
              <a:buNone/>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	</a:t>
            </a:r>
          </a:p>
          <a:p>
            <a:pPr algn="just" eaLnBrk="1" hangingPunct="1">
              <a:lnSpc>
                <a:spcPct val="90000"/>
              </a:lnSpc>
            </a:pPr>
            <a:endParaRPr lang="en-US" altLang="en-US" sz="2400" b="1" u="sng"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90000"/>
              </a:lnSpc>
            </a:pPr>
            <a:endParaRPr lang="en-US" altLang="en-US" sz="2200" b="1" u="sng"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90000"/>
              </a:lnSpc>
            </a:pPr>
            <a:r>
              <a:rPr lang="en-US" altLang="en-US" sz="2200" b="1" u="sng" dirty="0">
                <a:latin typeface="Times New Roman" panose="02020603050405020304" pitchFamily="18" charset="0"/>
                <a:ea typeface="ＭＳ Ｐゴシック" panose="020B0600070205080204" pitchFamily="34" charset="-128"/>
                <a:cs typeface="Times New Roman" panose="02020603050405020304" pitchFamily="18" charset="0"/>
              </a:rPr>
              <a:t>Secondary reinforcement:</a:t>
            </a:r>
            <a:r>
              <a:rPr lang="en-US" altLang="en-US" sz="2200" dirty="0">
                <a:latin typeface="Times New Roman" panose="02020603050405020304" pitchFamily="18" charset="0"/>
                <a:ea typeface="ＭＳ Ｐゴシック" panose="020B0600070205080204" pitchFamily="34" charset="-128"/>
                <a:cs typeface="Times New Roman" panose="02020603050405020304" pitchFamily="18" charset="0"/>
              </a:rPr>
              <a:t> something you have learned is a reward because it is paired with a primary reinforcement in the long run: good grades.</a:t>
            </a:r>
          </a:p>
        </p:txBody>
      </p:sp>
      <p:pic>
        <p:nvPicPr>
          <p:cNvPr id="67588" name="Picture 4" descr="cheeseburger">
            <a:extLst>
              <a:ext uri="{FF2B5EF4-FFF2-40B4-BE49-F238E27FC236}">
                <a16:creationId xmlns:a16="http://schemas.microsoft.com/office/drawing/2014/main" id="{3529266D-E570-482B-B937-C346CFAC7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4776" y="2705100"/>
            <a:ext cx="197167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5" descr="evian_water">
            <a:extLst>
              <a:ext uri="{FF2B5EF4-FFF2-40B4-BE49-F238E27FC236}">
                <a16:creationId xmlns:a16="http://schemas.microsoft.com/office/drawing/2014/main" id="{C43680E7-69F2-49C9-8800-E00B2104A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2574" y="27051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7" descr="money">
            <a:extLst>
              <a:ext uri="{FF2B5EF4-FFF2-40B4-BE49-F238E27FC236}">
                <a16:creationId xmlns:a16="http://schemas.microsoft.com/office/drawing/2014/main" id="{7F7D942B-B176-4BA5-9138-FDF339E3DB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5824" y="2705100"/>
            <a:ext cx="1295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1" name="Picture 8">
            <a:extLst>
              <a:ext uri="{FF2B5EF4-FFF2-40B4-BE49-F238E27FC236}">
                <a16:creationId xmlns:a16="http://schemas.microsoft.com/office/drawing/2014/main" id="{5F81970D-6C9A-4F5B-AE6E-16456702024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852736" y="2743200"/>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2" name="Picture 9">
            <a:extLst>
              <a:ext uri="{FF2B5EF4-FFF2-40B4-BE49-F238E27FC236}">
                <a16:creationId xmlns:a16="http://schemas.microsoft.com/office/drawing/2014/main" id="{A1F01634-4AAA-4E2D-A173-6FD7DDFC36F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458450" y="2774950"/>
            <a:ext cx="133350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76470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8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5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58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5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540CED56-EFB8-4410-BF27-CAF869195DAC}"/>
              </a:ext>
            </a:extLst>
          </p:cNvPr>
          <p:cNvSpPr>
            <a:spLocks noGrp="1"/>
          </p:cNvSpPr>
          <p:nvPr>
            <p:ph type="title"/>
          </p:nvPr>
        </p:nvSpPr>
        <p:spPr/>
        <p:txBody>
          <a:bodyPr>
            <a:normAutofit/>
          </a:bodyPr>
          <a:lstStyle/>
          <a:p>
            <a:r>
              <a:rPr lang="en-US" altLang="en-US" sz="4400" b="1" dirty="0">
                <a:latin typeface="Times New Roman" panose="02020603050405020304" pitchFamily="18" charset="0"/>
                <a:ea typeface="ＭＳ Ｐゴシック" panose="020B0600070205080204" pitchFamily="34" charset="-128"/>
                <a:cs typeface="Times New Roman" panose="02020603050405020304" pitchFamily="18" charset="0"/>
              </a:rPr>
              <a:t>Reinforcement Example</a:t>
            </a:r>
          </a:p>
        </p:txBody>
      </p:sp>
      <p:sp>
        <p:nvSpPr>
          <p:cNvPr id="122883" name="Rectangle 3">
            <a:extLst>
              <a:ext uri="{FF2B5EF4-FFF2-40B4-BE49-F238E27FC236}">
                <a16:creationId xmlns:a16="http://schemas.microsoft.com/office/drawing/2014/main" id="{BFB5E9F1-E1BA-4BC2-BA42-DAD75364FD91}"/>
              </a:ext>
            </a:extLst>
          </p:cNvPr>
          <p:cNvSpPr>
            <a:spLocks noGrp="1"/>
          </p:cNvSpPr>
          <p:nvPr>
            <p:ph idx="1"/>
          </p:nvPr>
        </p:nvSpPr>
        <p:spPr>
          <a:xfrm>
            <a:off x="1066800" y="1943099"/>
            <a:ext cx="6838950" cy="4091941"/>
          </a:xfrm>
        </p:spPr>
        <p:txBody>
          <a:bodyPr>
            <a:normAutofit/>
          </a:bodyPr>
          <a:lstStyle/>
          <a:p>
            <a:pPr algn="just"/>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You want to teach a dog to shake hands. One way would be to give the animal a treat every time it lifts its paws up to you. The treat is called a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positive reinforcer</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a:t>
            </a:r>
          </a:p>
          <a:p>
            <a:pPr algn="just"/>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Your dog will stop shaking hands when you forget to reward it for the trick as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extinction</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will occur because the reinforcement is withheld; But will take a period of time.</a:t>
            </a:r>
          </a:p>
          <a:p>
            <a:endParaRPr lang="en-US" altLang="en-US" dirty="0">
              <a:ea typeface="ＭＳ Ｐゴシック" panose="020B0600070205080204" pitchFamily="34" charset="-128"/>
            </a:endParaRPr>
          </a:p>
        </p:txBody>
      </p:sp>
      <p:pic>
        <p:nvPicPr>
          <p:cNvPr id="6146" name="Picture 2" descr="How to Teach a Dog to Shake a Paw (Because Pup Handshakes Are the Cutest) |  BeChewy">
            <a:extLst>
              <a:ext uri="{FF2B5EF4-FFF2-40B4-BE49-F238E27FC236}">
                <a16:creationId xmlns:a16="http://schemas.microsoft.com/office/drawing/2014/main" id="{F7CBD10E-B3DB-413F-8A68-C34BCE0FE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2450" y="2014194"/>
            <a:ext cx="3486150" cy="3929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664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F78F-E4AE-4E10-8D27-561A4F0C942B}"/>
              </a:ext>
            </a:extLst>
          </p:cNvPr>
          <p:cNvSpPr>
            <a:spLocks noGrp="1"/>
          </p:cNvSpPr>
          <p:nvPr>
            <p:ph type="title"/>
          </p:nvPr>
        </p:nvSpPr>
        <p:spPr/>
        <p:txBody>
          <a:bodyPr/>
          <a:lstStyle/>
          <a:p>
            <a:endParaRPr lang="en-US"/>
          </a:p>
        </p:txBody>
      </p:sp>
      <p:pic>
        <p:nvPicPr>
          <p:cNvPr id="10242" name="Picture 2" descr="Positive Reinforcement Vs Negative Reinforcement">
            <a:extLst>
              <a:ext uri="{FF2B5EF4-FFF2-40B4-BE49-F238E27FC236}">
                <a16:creationId xmlns:a16="http://schemas.microsoft.com/office/drawing/2014/main" id="{B734B2DC-E50A-4163-BCB1-AF893558264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1750" y="2014194"/>
            <a:ext cx="7048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29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87CD1845-F265-4E07-8DB0-EBCBD8C6E74F}"/>
              </a:ext>
            </a:extLst>
          </p:cNvPr>
          <p:cNvSpPr>
            <a:spLocks noGrp="1" noChangeArrowheads="1"/>
          </p:cNvSpPr>
          <p:nvPr>
            <p:ph type="title"/>
          </p:nvPr>
        </p:nvSpPr>
        <p:spPr/>
        <p:txBody>
          <a:bodyPr/>
          <a:lstStyle/>
          <a:p>
            <a:r>
              <a:rPr lang="en-US" altLang="en-US" b="1" dirty="0">
                <a:latin typeface="Times New Roman" panose="02020603050405020304" pitchFamily="18" charset="0"/>
                <a:cs typeface="Times New Roman" panose="02020603050405020304" pitchFamily="18" charset="0"/>
              </a:rPr>
              <a:t>Punishment</a:t>
            </a:r>
          </a:p>
        </p:txBody>
      </p:sp>
      <p:sp>
        <p:nvSpPr>
          <p:cNvPr id="69635" name="Rectangle 3">
            <a:extLst>
              <a:ext uri="{FF2B5EF4-FFF2-40B4-BE49-F238E27FC236}">
                <a16:creationId xmlns:a16="http://schemas.microsoft.com/office/drawing/2014/main" id="{AEBB8197-455A-4D5B-8FCD-E951AA158844}"/>
              </a:ext>
            </a:extLst>
          </p:cNvPr>
          <p:cNvSpPr>
            <a:spLocks noGrp="1" noChangeArrowheads="1"/>
          </p:cNvSpPr>
          <p:nvPr>
            <p:ph idx="1"/>
          </p:nvPr>
        </p:nvSpPr>
        <p:spPr>
          <a:xfrm>
            <a:off x="1066800" y="2283486"/>
            <a:ext cx="10058400" cy="3931920"/>
          </a:xfrm>
        </p:spPr>
        <p:txBody>
          <a:bodyPr/>
          <a:lstStyle/>
          <a:p>
            <a:pPr algn="just"/>
            <a:r>
              <a:rPr lang="en-US" altLang="en-US" sz="2400" dirty="0">
                <a:latin typeface="Times New Roman" panose="02020603050405020304" pitchFamily="18" charset="0"/>
                <a:cs typeface="Times New Roman" panose="02020603050405020304" pitchFamily="18" charset="0"/>
              </a:rPr>
              <a:t>A punishment is an </a:t>
            </a:r>
            <a:r>
              <a:rPr lang="en-US" altLang="en-US" sz="2400" b="1" i="1" dirty="0">
                <a:latin typeface="Times New Roman" panose="02020603050405020304" pitchFamily="18" charset="0"/>
                <a:cs typeface="Times New Roman" panose="02020603050405020304" pitchFamily="18" charset="0"/>
              </a:rPr>
              <a:t>averse/disliked stimulus </a:t>
            </a:r>
            <a:r>
              <a:rPr lang="en-US" altLang="en-US" sz="2400" dirty="0">
                <a:latin typeface="Times New Roman" panose="02020603050405020304" pitchFamily="18" charset="0"/>
                <a:cs typeface="Times New Roman" panose="02020603050405020304" pitchFamily="18" charset="0"/>
              </a:rPr>
              <a:t>which occurs after a behavior, and </a:t>
            </a:r>
            <a:r>
              <a:rPr lang="en-US" altLang="en-US" sz="2400" b="1" i="1" dirty="0">
                <a:latin typeface="Times New Roman" panose="02020603050405020304" pitchFamily="18" charset="0"/>
                <a:cs typeface="Times New Roman" panose="02020603050405020304" pitchFamily="18" charset="0"/>
              </a:rPr>
              <a:t>decreases the probability it will occur again.  </a:t>
            </a:r>
          </a:p>
          <a:p>
            <a:pPr algn="just"/>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The most obvious form of aversive control.</a:t>
            </a:r>
          </a:p>
          <a:p>
            <a:pPr algn="just"/>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An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unpleasant consequence occurs </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&amp;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decreases the frequency of the behavior </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that produced it. </a:t>
            </a:r>
          </a:p>
          <a:p>
            <a:pPr algn="just"/>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Behavior that is punished decreases or is not repeated—that is the goal of punishment.</a:t>
            </a:r>
          </a:p>
          <a:p>
            <a:pPr algn="just"/>
            <a:endParaRPr lang="en-US" altLang="en-US" sz="2400" b="1" i="1" dirty="0">
              <a:latin typeface="Times New Roman" panose="02020603050405020304" pitchFamily="18" charset="0"/>
              <a:cs typeface="Times New Roman" panose="02020603050405020304" pitchFamily="18" charset="0"/>
            </a:endParaRPr>
          </a:p>
          <a:p>
            <a:endParaRPr lang="en-US" altLang="en-US" dirty="0"/>
          </a:p>
        </p:txBody>
      </p:sp>
      <p:pic>
        <p:nvPicPr>
          <p:cNvPr id="62470" name="Picture 6">
            <a:extLst>
              <a:ext uri="{FF2B5EF4-FFF2-40B4-BE49-F238E27FC236}">
                <a16:creationId xmlns:a16="http://schemas.microsoft.com/office/drawing/2014/main" id="{95F813B4-71C6-474A-9BD2-B728A4885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3075" y="323850"/>
            <a:ext cx="1847851" cy="169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542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makes a </a:t>
            </a:r>
            <a:r>
              <a:rPr lang="en-US" smtClean="0"/>
              <a:t>good reinforce?</a:t>
            </a:r>
            <a:endParaRPr lang="en-US" dirty="0"/>
          </a:p>
        </p:txBody>
      </p:sp>
      <p:sp>
        <p:nvSpPr>
          <p:cNvPr id="3" name="Content Placeholder 2"/>
          <p:cNvSpPr>
            <a:spLocks noGrp="1"/>
          </p:cNvSpPr>
          <p:nvPr>
            <p:ph idx="1"/>
          </p:nvPr>
        </p:nvSpPr>
        <p:spPr/>
        <p:txBody>
          <a:bodyPr/>
          <a:lstStyle/>
          <a:p>
            <a:r>
              <a:rPr lang="en-US" dirty="0" smtClean="0"/>
              <a:t>What makes something a </a:t>
            </a:r>
            <a:r>
              <a:rPr lang="en-US" dirty="0" err="1" smtClean="0"/>
              <a:t>reinforcer</a:t>
            </a:r>
            <a:r>
              <a:rPr lang="en-US" dirty="0" smtClean="0"/>
              <a:t> depends on individual preferences.</a:t>
            </a:r>
          </a:p>
          <a:p>
            <a:r>
              <a:rPr lang="en-US" dirty="0" smtClean="0"/>
              <a:t>Although a Hershey’s bar can act as a </a:t>
            </a:r>
            <a:r>
              <a:rPr lang="en-US" dirty="0" err="1" smtClean="0"/>
              <a:t>reinforcer</a:t>
            </a:r>
            <a:r>
              <a:rPr lang="en-US" dirty="0" smtClean="0"/>
              <a:t> for one person, an individual who dislikes chocolate may find one dollar more desirable. </a:t>
            </a:r>
          </a:p>
          <a:p>
            <a:r>
              <a:rPr lang="en-US" dirty="0" smtClean="0"/>
              <a:t>The only way we can know if a stimulus is a </a:t>
            </a:r>
            <a:r>
              <a:rPr lang="en-US" dirty="0" err="1" smtClean="0"/>
              <a:t>reinforcer</a:t>
            </a:r>
            <a:r>
              <a:rPr lang="en-US" dirty="0" smtClean="0"/>
              <a:t> for a particular organism is to observe whether the frequency of a previously occurring behavior increases after the presentation of the stimulus</a:t>
            </a:r>
            <a:endParaRPr lang="en-US" dirty="0"/>
          </a:p>
        </p:txBody>
      </p:sp>
    </p:spTree>
    <p:extLst>
      <p:ext uri="{BB962C8B-B14F-4D97-AF65-F5344CB8AC3E}">
        <p14:creationId xmlns:p14="http://schemas.microsoft.com/office/powerpoint/2010/main" val="2066783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66393085-FE34-4A9F-BFF8-BE0743CE299C}"/>
              </a:ext>
            </a:extLst>
          </p:cNvPr>
          <p:cNvSpPr>
            <a:spLocks noGrp="1" noChangeArrowheads="1"/>
          </p:cNvSpPr>
          <p:nvPr>
            <p:ph type="title"/>
          </p:nvPr>
        </p:nvSpPr>
        <p:spPr/>
        <p:txBody>
          <a:bodyPr/>
          <a:lstStyle/>
          <a:p>
            <a:pPr eaLnBrk="1" hangingPunct="1"/>
            <a:r>
              <a:rPr lang="en-US" altLang="en-US"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Punishment</a:t>
            </a:r>
          </a:p>
        </p:txBody>
      </p:sp>
      <p:sp>
        <p:nvSpPr>
          <p:cNvPr id="63491" name="Rectangle 3">
            <a:extLst>
              <a:ext uri="{FF2B5EF4-FFF2-40B4-BE49-F238E27FC236}">
                <a16:creationId xmlns:a16="http://schemas.microsoft.com/office/drawing/2014/main" id="{112C35D3-C6D2-45CE-8195-3CF12A181B54}"/>
              </a:ext>
            </a:extLst>
          </p:cNvPr>
          <p:cNvSpPr>
            <a:spLocks noGrp="1" noChangeArrowheads="1"/>
          </p:cNvSpPr>
          <p:nvPr>
            <p:ph idx="1"/>
          </p:nvPr>
        </p:nvSpPr>
        <p:spPr/>
        <p:txBody>
          <a:bodyPr>
            <a:normAutofit fontScale="92500" lnSpcReduction="20000"/>
          </a:bodyPr>
          <a:lstStyle/>
          <a:p>
            <a:pPr algn="just" eaLnBrk="1" hangingPunct="1"/>
            <a:r>
              <a:rPr lang="en-US" sz="2000" b="1" i="0" u="sng" dirty="0">
                <a:solidFill>
                  <a:srgbClr val="202124"/>
                </a:solidFill>
                <a:effectLst/>
                <a:latin typeface="Times New Roman" panose="02020603050405020304" pitchFamily="18" charset="0"/>
                <a:cs typeface="Times New Roman" panose="02020603050405020304" pitchFamily="18" charset="0"/>
              </a:rPr>
              <a:t>Positive punishment: </a:t>
            </a:r>
            <a:r>
              <a:rPr lang="en-US" sz="2000" b="0" i="0" dirty="0">
                <a:solidFill>
                  <a:srgbClr val="202124"/>
                </a:solidFill>
                <a:effectLst/>
                <a:latin typeface="Times New Roman" panose="02020603050405020304" pitchFamily="18" charset="0"/>
                <a:cs typeface="Times New Roman" panose="02020603050405020304" pitchFamily="18" charset="0"/>
              </a:rPr>
              <a:t>is </a:t>
            </a:r>
            <a:r>
              <a:rPr lang="en-US" sz="2000" b="0" i="0" dirty="0">
                <a:solidFill>
                  <a:srgbClr val="040C28"/>
                </a:solidFill>
                <a:effectLst/>
                <a:latin typeface="Times New Roman" panose="02020603050405020304" pitchFamily="18" charset="0"/>
                <a:cs typeface="Times New Roman" panose="02020603050405020304" pitchFamily="18" charset="0"/>
              </a:rPr>
              <a:t>when you </a:t>
            </a:r>
            <a:r>
              <a:rPr lang="en-US" sz="2000" b="1" i="1" dirty="0">
                <a:solidFill>
                  <a:srgbClr val="040C28"/>
                </a:solidFill>
                <a:effectLst/>
                <a:latin typeface="Times New Roman" panose="02020603050405020304" pitchFamily="18" charset="0"/>
                <a:cs typeface="Times New Roman" panose="02020603050405020304" pitchFamily="18" charset="0"/>
              </a:rPr>
              <a:t>add a consequence to unwanted behavior</a:t>
            </a:r>
            <a:r>
              <a:rPr lang="en-US" sz="2000" b="0" i="0" dirty="0">
                <a:solidFill>
                  <a:srgbClr val="202124"/>
                </a:solidFill>
                <a:effectLst/>
                <a:latin typeface="Times New Roman" panose="02020603050405020304" pitchFamily="18" charset="0"/>
                <a:cs typeface="Times New Roman" panose="02020603050405020304" pitchFamily="18" charset="0"/>
              </a:rPr>
              <a:t>. You do this to make it less appealing. </a:t>
            </a:r>
          </a:p>
          <a:p>
            <a:pPr algn="just" eaLnBrk="1" hangingPunct="1"/>
            <a:r>
              <a:rPr lang="en-US" sz="2000" b="0" i="0" dirty="0">
                <a:solidFill>
                  <a:srgbClr val="202124"/>
                </a:solidFill>
                <a:effectLst/>
                <a:latin typeface="Times New Roman" panose="02020603050405020304" pitchFamily="18" charset="0"/>
                <a:cs typeface="Times New Roman" panose="02020603050405020304" pitchFamily="18" charset="0"/>
              </a:rPr>
              <a:t>An example of positive punishment is </a:t>
            </a:r>
            <a:r>
              <a:rPr lang="en-US" sz="2000" b="1" i="1" dirty="0">
                <a:solidFill>
                  <a:srgbClr val="202124"/>
                </a:solidFill>
                <a:effectLst/>
                <a:latin typeface="Times New Roman" panose="02020603050405020304" pitchFamily="18" charset="0"/>
                <a:cs typeface="Times New Roman" panose="02020603050405020304" pitchFamily="18" charset="0"/>
              </a:rPr>
              <a:t>adding more chores </a:t>
            </a:r>
            <a:r>
              <a:rPr lang="en-US" sz="2000" b="0" i="0" dirty="0">
                <a:solidFill>
                  <a:srgbClr val="202124"/>
                </a:solidFill>
                <a:effectLst/>
                <a:latin typeface="Times New Roman" panose="02020603050405020304" pitchFamily="18" charset="0"/>
                <a:cs typeface="Times New Roman" panose="02020603050405020304" pitchFamily="18" charset="0"/>
              </a:rPr>
              <a:t>to the list when your </a:t>
            </a:r>
            <a:r>
              <a:rPr lang="en-US" sz="2000" b="1" i="1" dirty="0">
                <a:solidFill>
                  <a:srgbClr val="202124"/>
                </a:solidFill>
                <a:effectLst/>
                <a:latin typeface="Times New Roman" panose="02020603050405020304" pitchFamily="18" charset="0"/>
                <a:cs typeface="Times New Roman" panose="02020603050405020304" pitchFamily="18" charset="0"/>
              </a:rPr>
              <a:t>child neglects their responsibilities.</a:t>
            </a:r>
            <a:endParaRPr lang="en-US" altLang="en-US" sz="2000" b="1" i="1" u="sng"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endParaRPr lang="en-US" altLang="en-US" sz="2000" b="1" u="sng"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endParaRPr lang="en-US" altLang="en-US" sz="2000" b="1" u="sng"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r>
              <a:rPr lang="en-US" altLang="en-US" sz="2000" b="1" u="sng" dirty="0">
                <a:latin typeface="Times New Roman" panose="02020603050405020304" pitchFamily="18" charset="0"/>
                <a:ea typeface="ＭＳ Ｐゴシック" panose="020B0600070205080204" pitchFamily="34" charset="-128"/>
                <a:cs typeface="Times New Roman" panose="02020603050405020304" pitchFamily="18" charset="0"/>
              </a:rPr>
              <a:t>Negative Punishment:</a:t>
            </a:r>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 When a </a:t>
            </a:r>
            <a:r>
              <a:rPr lang="en-US" altLang="en-US" sz="2000" b="1" i="1" dirty="0">
                <a:latin typeface="Times New Roman" panose="02020603050405020304" pitchFamily="18" charset="0"/>
                <a:ea typeface="ＭＳ Ｐゴシック" panose="020B0600070205080204" pitchFamily="34" charset="-128"/>
                <a:cs typeface="Times New Roman" panose="02020603050405020304" pitchFamily="18" charset="0"/>
              </a:rPr>
              <a:t>desirable event ends </a:t>
            </a:r>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or is </a:t>
            </a:r>
            <a:r>
              <a:rPr lang="en-US" altLang="en-US" sz="2000" b="1" i="1" dirty="0">
                <a:latin typeface="Times New Roman" panose="02020603050405020304" pitchFamily="18" charset="0"/>
                <a:ea typeface="ＭＳ Ｐゴシック" panose="020B0600070205080204" pitchFamily="34" charset="-128"/>
                <a:cs typeface="Times New Roman" panose="02020603050405020304" pitchFamily="18" charset="0"/>
              </a:rPr>
              <a:t>taken away </a:t>
            </a:r>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after a behavior.</a:t>
            </a:r>
          </a:p>
          <a:p>
            <a:pPr algn="just" eaLnBrk="1" hangingPunct="1"/>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Example: </a:t>
            </a:r>
            <a:r>
              <a:rPr lang="en-US" altLang="en-US" sz="2000" b="1" i="1" dirty="0">
                <a:latin typeface="Times New Roman" panose="02020603050405020304" pitchFamily="18" charset="0"/>
                <a:ea typeface="ＭＳ Ｐゴシック" panose="020B0600070205080204" pitchFamily="34" charset="-128"/>
                <a:cs typeface="Times New Roman" panose="02020603050405020304" pitchFamily="18" charset="0"/>
              </a:rPr>
              <a:t>getting grounded from your cell phone after failing your progress report, it is the taking away from a fun activity.</a:t>
            </a:r>
          </a:p>
          <a:p>
            <a:pPr algn="just" eaLnBrk="1" hangingPunct="1"/>
            <a:r>
              <a:rPr lang="en-US" sz="2000" b="0" i="0" dirty="0">
                <a:solidFill>
                  <a:srgbClr val="202124"/>
                </a:solidFill>
                <a:effectLst/>
                <a:latin typeface="Times New Roman" panose="02020603050405020304" pitchFamily="18" charset="0"/>
                <a:cs typeface="Times New Roman" panose="02020603050405020304" pitchFamily="18" charset="0"/>
              </a:rPr>
              <a:t>When a child misbehaves, a parent can take away a favorite toy. In this case, a stimulus (the toy) is removed in order to decrease the behavior.</a:t>
            </a:r>
            <a:endParaRPr lang="en-US" altLang="en-US" sz="2000" b="1" i="1"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buFontTx/>
              <a:buNone/>
            </a:pPr>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	</a:t>
            </a:r>
          </a:p>
          <a:p>
            <a:pPr lvl="1" eaLnBrk="1" hangingPunct="1">
              <a:buFont typeface="Wingdings" panose="05000000000000000000" pitchFamily="2" charset="2"/>
              <a:buNone/>
            </a:pP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125256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ositive vs Negative Punishment - Psychestudy">
            <a:extLst>
              <a:ext uri="{FF2B5EF4-FFF2-40B4-BE49-F238E27FC236}">
                <a16:creationId xmlns:a16="http://schemas.microsoft.com/office/drawing/2014/main" id="{90637B8E-D971-4224-A8FB-FCFC40E002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4075" y="940422"/>
            <a:ext cx="8191500" cy="497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068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A5CE0-00E1-4116-84C5-E184BF5406B3}"/>
              </a:ext>
            </a:extLst>
          </p:cNvPr>
          <p:cNvSpPr>
            <a:spLocks noGrp="1"/>
          </p:cNvSpPr>
          <p:nvPr>
            <p:ph type="title"/>
          </p:nvPr>
        </p:nvSpPr>
        <p:spPr/>
        <p:txBody>
          <a:bodyPr/>
          <a:lstStyle/>
          <a:p>
            <a:endParaRPr lang="en-US"/>
          </a:p>
        </p:txBody>
      </p:sp>
      <p:pic>
        <p:nvPicPr>
          <p:cNvPr id="7170" name="Picture 2" descr="Positive Punishment and Operant Conditioning">
            <a:extLst>
              <a:ext uri="{FF2B5EF4-FFF2-40B4-BE49-F238E27FC236}">
                <a16:creationId xmlns:a16="http://schemas.microsoft.com/office/drawing/2014/main" id="{89957541-C488-4880-B627-48429725822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89423" y="2283169"/>
            <a:ext cx="5035153" cy="3932237"/>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What is Negative Punishment (Examples and Effectiveness)">
            <a:extLst>
              <a:ext uri="{FF2B5EF4-FFF2-40B4-BE49-F238E27FC236}">
                <a16:creationId xmlns:a16="http://schemas.microsoft.com/office/drawing/2014/main" id="{D62E10BF-2817-4B86-8A0A-032EA75B97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4" name="Picture 6" descr="Negative Punishment (Definition + Examples) | Practical Psychology">
            <a:extLst>
              <a:ext uri="{FF2B5EF4-FFF2-40B4-BE49-F238E27FC236}">
                <a16:creationId xmlns:a16="http://schemas.microsoft.com/office/drawing/2014/main" id="{F10008E7-49E4-4236-A662-216BAC2F07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0850" y="2283169"/>
            <a:ext cx="4324350" cy="393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030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4BB6-1873-43A8-9095-7937C88031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B75199-0CCC-43CD-AFD5-F71DF1D3B84B}"/>
              </a:ext>
            </a:extLst>
          </p:cNvPr>
          <p:cNvSpPr>
            <a:spLocks noGrp="1"/>
          </p:cNvSpPr>
          <p:nvPr>
            <p:ph idx="1"/>
          </p:nvPr>
        </p:nvSpPr>
        <p:spPr/>
        <p:txBody>
          <a:bodyPr/>
          <a:lstStyle/>
          <a:p>
            <a:endParaRPr lang="en-US"/>
          </a:p>
        </p:txBody>
      </p:sp>
      <p:pic>
        <p:nvPicPr>
          <p:cNvPr id="8194" name="Picture 2" descr="Operant Conditioning- Positive &amp; Negative Reinforcement, Punishment -  YouTube">
            <a:extLst>
              <a:ext uri="{FF2B5EF4-FFF2-40B4-BE49-F238E27FC236}">
                <a16:creationId xmlns:a16="http://schemas.microsoft.com/office/drawing/2014/main" id="{2214994F-DCA0-4FA5-8F68-7DC2AB8E9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7" y="2014194"/>
            <a:ext cx="6257925"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1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83F32-D717-48EB-8926-3DDC1A1D1821}"/>
              </a:ext>
            </a:extLst>
          </p:cNvPr>
          <p:cNvSpPr>
            <a:spLocks noGrp="1"/>
          </p:cNvSpPr>
          <p:nvPr>
            <p:ph type="title"/>
          </p:nvPr>
        </p:nvSpPr>
        <p:spPr/>
        <p:txBody>
          <a:bodyPr/>
          <a:lstStyle/>
          <a:p>
            <a:endParaRPr lang="en-US"/>
          </a:p>
        </p:txBody>
      </p:sp>
      <p:pic>
        <p:nvPicPr>
          <p:cNvPr id="11266" name="Picture 2" descr="Operant Conditioning">
            <a:extLst>
              <a:ext uri="{FF2B5EF4-FFF2-40B4-BE49-F238E27FC236}">
                <a16:creationId xmlns:a16="http://schemas.microsoft.com/office/drawing/2014/main" id="{EFBC7E8D-EF1E-4FB8-8E91-1DB5CCD262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62183" y="2014194"/>
            <a:ext cx="5867634" cy="393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180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F964270-8B31-43B3-96C4-855947E6E994}"/>
              </a:ext>
            </a:extLst>
          </p:cNvPr>
          <p:cNvSpPr>
            <a:spLocks noGrp="1" noChangeArrowheads="1"/>
          </p:cNvSpPr>
          <p:nvPr>
            <p:ph type="title"/>
          </p:nvPr>
        </p:nvSpPr>
        <p:spPr/>
        <p:txBody>
          <a:bodyPr>
            <a:normAutofit/>
          </a:bodyPr>
          <a:lstStyle/>
          <a:p>
            <a:pPr eaLnBrk="1" hangingPunct="1"/>
            <a:r>
              <a:rPr lang="en-US" altLang="en-US"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Punishment vs. Negative Reinforcement</a:t>
            </a:r>
          </a:p>
        </p:txBody>
      </p:sp>
      <p:sp>
        <p:nvSpPr>
          <p:cNvPr id="73731" name="Rectangle 3">
            <a:extLst>
              <a:ext uri="{FF2B5EF4-FFF2-40B4-BE49-F238E27FC236}">
                <a16:creationId xmlns:a16="http://schemas.microsoft.com/office/drawing/2014/main" id="{46B4AC7F-D167-4086-9C00-A75301AEE669}"/>
              </a:ext>
            </a:extLst>
          </p:cNvPr>
          <p:cNvSpPr>
            <a:spLocks noGrp="1" noChangeArrowheads="1"/>
          </p:cNvSpPr>
          <p:nvPr>
            <p:ph idx="1"/>
          </p:nvPr>
        </p:nvSpPr>
        <p:spPr>
          <a:xfrm>
            <a:off x="857250" y="2103120"/>
            <a:ext cx="10267950" cy="4392930"/>
          </a:xfrm>
        </p:spPr>
        <p:txBody>
          <a:bodyPr>
            <a:noAutofit/>
          </a:bodyPr>
          <a:lstStyle/>
          <a:p>
            <a:pPr algn="just" eaLnBrk="1" hangingPunct="1">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Punishment and negative reinforcement are used to produce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opposite effects </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on behavior. </a:t>
            </a:r>
          </a:p>
          <a:p>
            <a:pPr algn="just" eaLnBrk="1" hangingPunct="1">
              <a:lnSpc>
                <a:spcPct val="90000"/>
              </a:lnSpc>
              <a:buFontTx/>
              <a:buNone/>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Punishment is used to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decrease a behavior</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 or reduce its probability of reoccurring.</a:t>
            </a:r>
          </a:p>
          <a:p>
            <a:pPr algn="just" eaLnBrk="1" hangingPunct="1">
              <a:lnSpc>
                <a:spcPct val="90000"/>
              </a:lnSpc>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Negative reinforcement always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increases a behavior’s </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probability of happening in the future (by taking away an unwanted stimuli).</a:t>
            </a:r>
          </a:p>
          <a:p>
            <a:pPr algn="just" eaLnBrk="1" hangingPunct="1">
              <a:lnSpc>
                <a:spcPct val="90000"/>
              </a:lnSpc>
              <a:buFontTx/>
              <a:buNone/>
            </a:pPr>
            <a:endPar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90000"/>
              </a:lnSpc>
            </a:pPr>
            <a:r>
              <a:rPr lang="en-US" altLang="en-US" sz="2400" b="1" i="1" u="sng" dirty="0">
                <a:latin typeface="Times New Roman" panose="02020603050405020304" pitchFamily="18" charset="0"/>
                <a:ea typeface="ＭＳ Ｐゴシック" panose="020B0600070205080204" pitchFamily="34" charset="-128"/>
                <a:cs typeface="Times New Roman" panose="02020603050405020304" pitchFamily="18" charset="0"/>
              </a:rPr>
              <a:t>Remember, “positive” means adding something and “negative means removing something.</a:t>
            </a:r>
          </a:p>
        </p:txBody>
      </p:sp>
    </p:spTree>
    <p:extLst>
      <p:ext uri="{BB962C8B-B14F-4D97-AF65-F5344CB8AC3E}">
        <p14:creationId xmlns:p14="http://schemas.microsoft.com/office/powerpoint/2010/main" val="2038982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7373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731">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Timing Rewards</a:t>
            </a:r>
            <a:endParaRPr lang="en-US" dirty="0"/>
          </a:p>
        </p:txBody>
      </p:sp>
      <p:sp>
        <p:nvSpPr>
          <p:cNvPr id="3" name="Content Placeholder 2"/>
          <p:cNvSpPr>
            <a:spLocks noGrp="1"/>
          </p:cNvSpPr>
          <p:nvPr>
            <p:ph idx="1"/>
          </p:nvPr>
        </p:nvSpPr>
        <p:spPr/>
        <p:txBody>
          <a:bodyPr/>
          <a:lstStyle/>
          <a:p>
            <a:r>
              <a:rPr lang="en-US" dirty="0"/>
              <a:t>When we refer to the </a:t>
            </a:r>
            <a:r>
              <a:rPr lang="en-US" b="1" dirty="0"/>
              <a:t>frequency and timing of reinforcement </a:t>
            </a:r>
            <a:r>
              <a:rPr lang="en-US" dirty="0"/>
              <a:t>that follows </a:t>
            </a:r>
            <a:r>
              <a:rPr lang="en-US" dirty="0" smtClean="0"/>
              <a:t>desired behavior</a:t>
            </a:r>
            <a:r>
              <a:rPr lang="en-US" dirty="0"/>
              <a:t>, we are talking about schedules of reinforcement . </a:t>
            </a:r>
            <a:endParaRPr lang="en-US" dirty="0" smtClean="0"/>
          </a:p>
          <a:p>
            <a:r>
              <a:rPr lang="en-US" dirty="0" smtClean="0"/>
              <a:t>Behavior </a:t>
            </a:r>
            <a:r>
              <a:rPr lang="en-US" dirty="0"/>
              <a:t>that </a:t>
            </a:r>
            <a:r>
              <a:rPr lang="en-US" b="1" dirty="0"/>
              <a:t>is </a:t>
            </a:r>
            <a:r>
              <a:rPr lang="en-US" b="1" dirty="0" smtClean="0"/>
              <a:t>reinforced every </a:t>
            </a:r>
            <a:r>
              <a:rPr lang="en-US" b="1" dirty="0"/>
              <a:t>time it occurs is said to be on a </a:t>
            </a:r>
            <a:r>
              <a:rPr lang="en-US" b="1" dirty="0">
                <a:solidFill>
                  <a:srgbClr val="FF0000"/>
                </a:solidFill>
              </a:rPr>
              <a:t>continuous </a:t>
            </a:r>
            <a:r>
              <a:rPr lang="en-US" dirty="0"/>
              <a:t>reinforcement </a:t>
            </a:r>
            <a:r>
              <a:rPr lang="en-US" dirty="0" smtClean="0"/>
              <a:t>schedule.</a:t>
            </a:r>
          </a:p>
          <a:p>
            <a:r>
              <a:rPr lang="en-US" b="1" dirty="0"/>
              <a:t>I</a:t>
            </a:r>
            <a:r>
              <a:rPr lang="en-US" b="1" dirty="0" smtClean="0"/>
              <a:t>f </a:t>
            </a:r>
            <a:r>
              <a:rPr lang="en-US" b="1" dirty="0"/>
              <a:t>it is reinforced some but not all of the time</a:t>
            </a:r>
            <a:r>
              <a:rPr lang="en-US" dirty="0"/>
              <a:t>, it is on a </a:t>
            </a:r>
            <a:r>
              <a:rPr lang="en-US" b="1" dirty="0">
                <a:solidFill>
                  <a:srgbClr val="FF0000"/>
                </a:solidFill>
              </a:rPr>
              <a:t>partial (or </a:t>
            </a:r>
            <a:r>
              <a:rPr lang="en-US" b="1" dirty="0" smtClean="0">
                <a:solidFill>
                  <a:srgbClr val="FF0000"/>
                </a:solidFill>
              </a:rPr>
              <a:t>intermittent) </a:t>
            </a:r>
            <a:r>
              <a:rPr lang="en-US" dirty="0" smtClean="0"/>
              <a:t>reinforcement </a:t>
            </a:r>
            <a:r>
              <a:rPr lang="en-US" dirty="0"/>
              <a:t>schedule </a:t>
            </a:r>
            <a:r>
              <a:rPr lang="en-US" dirty="0" smtClean="0"/>
              <a:t>.</a:t>
            </a:r>
          </a:p>
          <a:p>
            <a:r>
              <a:rPr lang="en-US" b="1" dirty="0" smtClean="0">
                <a:solidFill>
                  <a:schemeClr val="accent1"/>
                </a:solidFill>
              </a:rPr>
              <a:t>Response to intermittent is longer than continuous. Why?</a:t>
            </a:r>
            <a:endParaRPr lang="en-US" b="1" dirty="0">
              <a:solidFill>
                <a:schemeClr val="accent1"/>
              </a:solidFill>
            </a:endParaRPr>
          </a:p>
        </p:txBody>
      </p:sp>
    </p:spTree>
    <p:extLst>
      <p:ext uri="{BB962C8B-B14F-4D97-AF65-F5344CB8AC3E}">
        <p14:creationId xmlns:p14="http://schemas.microsoft.com/office/powerpoint/2010/main" val="3874934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A4CB-D6BF-4156-9B09-2CB77B6DE616}"/>
              </a:ext>
            </a:extLst>
          </p:cNvPr>
          <p:cNvSpPr>
            <a:spLocks noGrp="1"/>
          </p:cNvSpPr>
          <p:nvPr>
            <p:ph type="title"/>
          </p:nvPr>
        </p:nvSpPr>
        <p:spPr/>
        <p:txBody>
          <a:bodyPr/>
          <a:lstStyle/>
          <a:p>
            <a:r>
              <a:rPr lang="en-US" dirty="0" smtClean="0"/>
              <a:t>Classical vs Operant Conditioning </a:t>
            </a:r>
            <a:endParaRPr lang="en-US" dirty="0"/>
          </a:p>
        </p:txBody>
      </p:sp>
      <p:pic>
        <p:nvPicPr>
          <p:cNvPr id="2050" name="Picture 2" descr="Classical Conditioning vs. Operant Conditioning: Examples and Differences">
            <a:extLst>
              <a:ext uri="{FF2B5EF4-FFF2-40B4-BE49-F238E27FC236}">
                <a16:creationId xmlns:a16="http://schemas.microsoft.com/office/drawing/2014/main" id="{80E66BB4-C468-4E2E-A7F3-A21620837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318" y="1882576"/>
            <a:ext cx="7639049" cy="4201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850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073" y="0"/>
            <a:ext cx="10861964" cy="6844020"/>
          </a:xfrm>
        </p:spPr>
      </p:pic>
    </p:spTree>
    <p:extLst>
      <p:ext uri="{BB962C8B-B14F-4D97-AF65-F5344CB8AC3E}">
        <p14:creationId xmlns:p14="http://schemas.microsoft.com/office/powerpoint/2010/main" val="3781290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C31CB83-A499-4A63-90D7-D42368E05E7C}"/>
              </a:ext>
            </a:extLst>
          </p:cNvPr>
          <p:cNvSpPr>
            <a:spLocks noGrp="1" noChangeArrowheads="1"/>
          </p:cNvSpPr>
          <p:nvPr>
            <p:ph type="title"/>
          </p:nvPr>
        </p:nvSpPr>
        <p:spPr/>
        <p:txBody>
          <a:bodyPr/>
          <a:lstStyle/>
          <a:p>
            <a:pPr eaLnBrk="1" hangingPunct="1"/>
            <a:r>
              <a:rPr lang="en-US" altLang="en-US"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Observational Learning</a:t>
            </a:r>
          </a:p>
        </p:txBody>
      </p:sp>
      <p:sp>
        <p:nvSpPr>
          <p:cNvPr id="88067" name="Rectangle 3">
            <a:extLst>
              <a:ext uri="{FF2B5EF4-FFF2-40B4-BE49-F238E27FC236}">
                <a16:creationId xmlns:a16="http://schemas.microsoft.com/office/drawing/2014/main" id="{16702B1E-980C-45A4-BEB7-C7FF983D6BE2}"/>
              </a:ext>
            </a:extLst>
          </p:cNvPr>
          <p:cNvSpPr>
            <a:spLocks noGrp="1" noChangeArrowheads="1"/>
          </p:cNvSpPr>
          <p:nvPr>
            <p:ph idx="1"/>
          </p:nvPr>
        </p:nvSpPr>
        <p:spPr/>
        <p:txBody>
          <a:bodyPr>
            <a:normAutofit/>
          </a:bodyPr>
          <a:lstStyle/>
          <a:p>
            <a:pPr algn="just" eaLnBrk="1" hangingPunct="1"/>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You can think of observational learning as an extension of operant conditioning, in which we observe someone else getting rewarded but act as thought we had also received the reward.</a:t>
            </a:r>
          </a:p>
          <a:p>
            <a:pPr algn="just" eaLnBrk="1" hangingPunct="1"/>
            <a:endPar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r>
              <a:rPr lang="en-US" altLang="en-US" sz="2800" b="1" u="sng" dirty="0">
                <a:latin typeface="Times New Roman" panose="02020603050405020304" pitchFamily="18" charset="0"/>
                <a:ea typeface="ＭＳ Ｐゴシック" panose="020B0600070205080204" pitchFamily="34" charset="-128"/>
                <a:cs typeface="Times New Roman" panose="02020603050405020304" pitchFamily="18" charset="0"/>
              </a:rPr>
              <a:t>Observational learning:</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 Learning in which </a:t>
            </a:r>
            <a:r>
              <a:rPr lang="en-US" altLang="en-US" sz="2800" b="1" i="1" dirty="0">
                <a:latin typeface="Times New Roman" panose="02020603050405020304" pitchFamily="18" charset="0"/>
                <a:ea typeface="ＭＳ Ｐゴシック" panose="020B0600070205080204" pitchFamily="34" charset="-128"/>
                <a:cs typeface="Times New Roman" panose="02020603050405020304" pitchFamily="18" charset="0"/>
              </a:rPr>
              <a:t>new responses are acquired after other’s behavior and the consequences of their behavior are observed. </a:t>
            </a:r>
          </a:p>
        </p:txBody>
      </p:sp>
    </p:spTree>
    <p:extLst>
      <p:ext uri="{BB962C8B-B14F-4D97-AF65-F5344CB8AC3E}">
        <p14:creationId xmlns:p14="http://schemas.microsoft.com/office/powerpoint/2010/main" val="2049099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08ADB85-DD35-4088-87E3-74262C2F85D3}"/>
              </a:ext>
            </a:extLst>
          </p:cNvPr>
          <p:cNvSpPr>
            <a:spLocks noGrp="1" noChangeArrowheads="1"/>
          </p:cNvSpPr>
          <p:nvPr>
            <p:ph type="title"/>
          </p:nvPr>
        </p:nvSpPr>
        <p:spPr/>
        <p:txBody>
          <a:bodyPr/>
          <a:lstStyle/>
          <a:p>
            <a:pPr eaLnBrk="1" hangingPunct="1"/>
            <a:r>
              <a:rPr lang="en-US" altLang="en-US" sz="3600" b="1" dirty="0">
                <a:solidFill>
                  <a:schemeClr val="tx1"/>
                </a:solidFill>
                <a:latin typeface="Times New Roman" panose="02020603050405020304" pitchFamily="18" charset="0"/>
                <a:ea typeface="ＭＳ Ｐゴシック" panose="020B0600070205080204" pitchFamily="34" charset="-128"/>
                <a:cs typeface="Times New Roman" panose="02020603050405020304" pitchFamily="18" charset="0"/>
              </a:rPr>
              <a:t>Media and Violence</a:t>
            </a:r>
          </a:p>
        </p:txBody>
      </p:sp>
      <p:sp>
        <p:nvSpPr>
          <p:cNvPr id="91139" name="Rectangle 3">
            <a:extLst>
              <a:ext uri="{FF2B5EF4-FFF2-40B4-BE49-F238E27FC236}">
                <a16:creationId xmlns:a16="http://schemas.microsoft.com/office/drawing/2014/main" id="{71724175-6470-424F-81C4-5102233CE9A1}"/>
              </a:ext>
            </a:extLst>
          </p:cNvPr>
          <p:cNvSpPr>
            <a:spLocks noGrp="1" noChangeArrowheads="1"/>
          </p:cNvSpPr>
          <p:nvPr>
            <p:ph idx="1"/>
          </p:nvPr>
        </p:nvSpPr>
        <p:spPr/>
        <p:txBody>
          <a:bodyPr/>
          <a:lstStyle/>
          <a:p>
            <a:pPr algn="just" eaLnBrk="1" hangingPunct="1">
              <a:lnSpc>
                <a:spcPct val="80000"/>
              </a:lnSpc>
            </a:pPr>
            <a:r>
              <a:rPr lang="en-US" altLang="en-US" sz="2600" b="1" i="1" dirty="0">
                <a:latin typeface="Times New Roman" panose="02020603050405020304" pitchFamily="18" charset="0"/>
                <a:ea typeface="ＭＳ Ｐゴシック" panose="020B0600070205080204" pitchFamily="34" charset="-128"/>
                <a:cs typeface="Times New Roman" panose="02020603050405020304" pitchFamily="18" charset="0"/>
              </a:rPr>
              <a:t>Does violence on TV/movies/video games have an impact on the learning of children?</a:t>
            </a:r>
          </a:p>
          <a:p>
            <a:pPr algn="just" eaLnBrk="1" hangingPunct="1">
              <a:lnSpc>
                <a:spcPct val="80000"/>
              </a:lnSpc>
            </a:pPr>
            <a:endParaRPr lang="en-US" altLang="en-US" sz="26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80000"/>
              </a:lnSpc>
            </a:pPr>
            <a:r>
              <a:rPr lang="en-US" altLang="en-US" sz="2600" dirty="0">
                <a:latin typeface="Times New Roman" panose="02020603050405020304" pitchFamily="18" charset="0"/>
                <a:ea typeface="ＭＳ Ｐゴシック" panose="020B0600070205080204" pitchFamily="34" charset="-128"/>
                <a:cs typeface="Times New Roman" panose="02020603050405020304" pitchFamily="18" charset="0"/>
              </a:rPr>
              <a:t>Correlation evidence from over 50 studies shows that </a:t>
            </a:r>
            <a:r>
              <a:rPr lang="en-US" altLang="en-US" sz="2600" b="1" i="1" dirty="0">
                <a:latin typeface="Times New Roman" panose="02020603050405020304" pitchFamily="18" charset="0"/>
                <a:ea typeface="ＭＳ Ｐゴシック" panose="020B0600070205080204" pitchFamily="34" charset="-128"/>
                <a:cs typeface="Times New Roman" panose="02020603050405020304" pitchFamily="18" charset="0"/>
              </a:rPr>
              <a:t>observing violence is associated with violent behavior.</a:t>
            </a:r>
          </a:p>
          <a:p>
            <a:pPr algn="just" eaLnBrk="1" hangingPunct="1">
              <a:lnSpc>
                <a:spcPct val="80000"/>
              </a:lnSpc>
            </a:pPr>
            <a:endParaRPr lang="en-US" altLang="en-US" sz="2600"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eaLnBrk="1" hangingPunct="1">
              <a:lnSpc>
                <a:spcPct val="80000"/>
              </a:lnSpc>
            </a:pPr>
            <a:r>
              <a:rPr lang="en-US" altLang="en-US" sz="2600" dirty="0">
                <a:latin typeface="Times New Roman" panose="02020603050405020304" pitchFamily="18" charset="0"/>
                <a:ea typeface="ＭＳ Ｐゴシック" panose="020B0600070205080204" pitchFamily="34" charset="-128"/>
                <a:cs typeface="Times New Roman" panose="02020603050405020304" pitchFamily="18" charset="0"/>
              </a:rPr>
              <a:t>In addition, experiment evidence shows that viewers of media violence show a </a:t>
            </a:r>
            <a:r>
              <a:rPr lang="en-US" altLang="en-US" sz="2600" b="1" i="1" dirty="0">
                <a:latin typeface="Times New Roman" panose="02020603050405020304" pitchFamily="18" charset="0"/>
                <a:ea typeface="ＭＳ Ｐゴシック" panose="020B0600070205080204" pitchFamily="34" charset="-128"/>
                <a:cs typeface="Times New Roman" panose="02020603050405020304" pitchFamily="18" charset="0"/>
              </a:rPr>
              <a:t>reduction in emotional arousal and distress </a:t>
            </a:r>
            <a:r>
              <a:rPr lang="en-US" altLang="en-US" sz="2600" dirty="0">
                <a:latin typeface="Times New Roman" panose="02020603050405020304" pitchFamily="18" charset="0"/>
                <a:ea typeface="ＭＳ Ｐゴシック" panose="020B0600070205080204" pitchFamily="34" charset="-128"/>
                <a:cs typeface="Times New Roman" panose="02020603050405020304" pitchFamily="18" charset="0"/>
              </a:rPr>
              <a:t>when they subsequently observe violent acts-a condition known as </a:t>
            </a:r>
            <a:r>
              <a:rPr lang="en-US" altLang="en-US" sz="2600" b="1" i="1" dirty="0">
                <a:latin typeface="Times New Roman" panose="02020603050405020304" pitchFamily="18" charset="0"/>
                <a:ea typeface="ＭＳ Ｐゴシック" panose="020B0600070205080204" pitchFamily="34" charset="-128"/>
                <a:cs typeface="Times New Roman" panose="02020603050405020304" pitchFamily="18" charset="0"/>
              </a:rPr>
              <a:t>psychic numbing</a:t>
            </a:r>
            <a:r>
              <a:rPr lang="en-US" altLang="en-US" sz="2600" dirty="0">
                <a:latin typeface="Times New Roman" panose="02020603050405020304" pitchFamily="18" charset="0"/>
                <a:ea typeface="ＭＳ Ｐゴシック" panose="020B0600070205080204" pitchFamily="34" charset="-128"/>
                <a:cs typeface="Times New Roman" panose="02020603050405020304" pitchFamily="18" charset="0"/>
              </a:rPr>
              <a:t>.  </a:t>
            </a:r>
          </a:p>
        </p:txBody>
      </p:sp>
    </p:spTree>
    <p:extLst>
      <p:ext uri="{BB962C8B-B14F-4D97-AF65-F5344CB8AC3E}">
        <p14:creationId xmlns:p14="http://schemas.microsoft.com/office/powerpoint/2010/main" val="1249655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11EACE0-4933-4DCE-9CC7-1E1191568785}"/>
              </a:ext>
            </a:extLst>
          </p:cNvPr>
          <p:cNvSpPr>
            <a:spLocks noGrp="1"/>
          </p:cNvSpPr>
          <p:nvPr>
            <p:ph idx="1"/>
          </p:nvPr>
        </p:nvSpPr>
        <p:spPr>
          <a:xfrm>
            <a:off x="542925" y="1057275"/>
            <a:ext cx="11058525" cy="5114926"/>
          </a:xfrm>
        </p:spPr>
        <p:txBody>
          <a:bodyPr>
            <a:normAutofit/>
          </a:bodyPr>
          <a:lstStyle/>
          <a:p>
            <a:pPr algn="just">
              <a:lnSpc>
                <a:spcPct val="150000"/>
              </a:lnSpc>
              <a:buFont typeface="Wingdings" panose="05000000000000000000" pitchFamily="2" charset="2"/>
              <a:buChar char="Ø"/>
            </a:pPr>
            <a:r>
              <a:rPr lang="en-GB" sz="1800" dirty="0">
                <a:effectLst/>
                <a:latin typeface="Times New Roman" panose="02020603050405020304" pitchFamily="18" charset="0"/>
                <a:ea typeface="Calibri" panose="020F0502020204030204" pitchFamily="34" charset="0"/>
              </a:rPr>
              <a:t>Albert Bandura (1997) proposed a </a:t>
            </a:r>
            <a:r>
              <a:rPr lang="en-GB" sz="1800" b="1" dirty="0">
                <a:effectLst/>
                <a:latin typeface="Times New Roman" panose="02020603050405020304" pitchFamily="18" charset="0"/>
                <a:ea typeface="Calibri" panose="020F0502020204030204" pitchFamily="34" charset="0"/>
              </a:rPr>
              <a:t>Social Learning Theory </a:t>
            </a:r>
            <a:r>
              <a:rPr lang="en-GB" sz="1800" dirty="0">
                <a:effectLst/>
                <a:latin typeface="Times New Roman" panose="02020603050405020304" pitchFamily="18" charset="0"/>
                <a:ea typeface="Calibri" panose="020F0502020204030204" pitchFamily="34" charset="0"/>
              </a:rPr>
              <a:t>of aggression.</a:t>
            </a:r>
          </a:p>
          <a:p>
            <a:pPr algn="just">
              <a:lnSpc>
                <a:spcPct val="150000"/>
              </a:lnSpc>
              <a:buFont typeface="Wingdings" panose="05000000000000000000" pitchFamily="2" charset="2"/>
              <a:buChar char="Ø"/>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Bandura (1979) believes that everyday life exposes us to aggressive models in the family, in one’s subculture, and, as we will see, in the mass media.</a:t>
            </a:r>
            <a:endParaRPr lang="en-GB" sz="1800" dirty="0">
              <a:effectLst/>
              <a:latin typeface="Times New Roman" panose="02020603050405020304" pitchFamily="18" charset="0"/>
              <a:ea typeface="Calibri" panose="020F0502020204030204" pitchFamily="34" charset="0"/>
            </a:endParaRPr>
          </a:p>
          <a:p>
            <a:pPr algn="just">
              <a:lnSpc>
                <a:spcPct val="150000"/>
              </a:lnSpc>
              <a:buFont typeface="Wingdings" panose="05000000000000000000" pitchFamily="2" charset="2"/>
              <a:buChar char="Ø"/>
            </a:pPr>
            <a:r>
              <a:rPr lang="en-GB" sz="1800" dirty="0">
                <a:effectLst/>
                <a:latin typeface="Times New Roman" panose="02020603050405020304" pitchFamily="18" charset="0"/>
                <a:ea typeface="Calibri" panose="020F0502020204030204" pitchFamily="34" charset="0"/>
              </a:rPr>
              <a:t>We learn aggression by observing others.</a:t>
            </a:r>
            <a:r>
              <a:rPr lang="en-GB" sz="1800" dirty="0">
                <a:latin typeface="Times New Roman" panose="02020603050405020304" pitchFamily="18" charset="0"/>
                <a:ea typeface="Calibri" panose="020F0502020204030204" pitchFamily="34" charset="0"/>
              </a:rPr>
              <a:t> W</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e acquire aggression by watching others act and noting the consequences.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buFont typeface="Wingdings" panose="05000000000000000000" pitchFamily="2" charset="2"/>
              <a:buChar char="Ø"/>
            </a:pPr>
            <a:r>
              <a:rPr lang="en-GB" sz="1800" dirty="0">
                <a:effectLst/>
                <a:latin typeface="Times New Roman" panose="02020603050405020304" pitchFamily="18" charset="0"/>
                <a:ea typeface="Calibri" panose="020F0502020204030204" pitchFamily="34" charset="0"/>
              </a:rPr>
              <a:t>Physically aggressive children tend to have had physically punitive parents, who disciplined them by modelling aggression with screaming, slapping, and beating.</a:t>
            </a:r>
          </a:p>
          <a:p>
            <a:pPr algn="just">
              <a:lnSpc>
                <a:spcPct val="150000"/>
              </a:lnSpc>
              <a:buFont typeface="Wingdings" panose="05000000000000000000" pitchFamily="2" charset="2"/>
              <a:buChar char="Ø"/>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These parents often had parents who were themselves physically punitive. Such punitive behaviour may escalate into abuse, and although most abused children do not become criminals or abusive parents, 30 percent do later abuse their own children—four times the general population rate. Violence often begets violence.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1635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CADF88-8B7D-48BC-9742-09482F0C3316}"/>
              </a:ext>
            </a:extLst>
          </p:cNvPr>
          <p:cNvSpPr>
            <a:spLocks noGrp="1"/>
          </p:cNvSpPr>
          <p:nvPr>
            <p:ph idx="1"/>
          </p:nvPr>
        </p:nvSpPr>
        <p:spPr>
          <a:xfrm>
            <a:off x="1066800" y="1905001"/>
            <a:ext cx="7419975" cy="4267200"/>
          </a:xfrm>
        </p:spPr>
        <p:txBody>
          <a:bodyPr/>
          <a:lstStyle/>
          <a:p>
            <a:pPr algn="just">
              <a:lnSpc>
                <a:spcPct val="150000"/>
              </a:lnSpc>
              <a:buFont typeface="Wingdings" panose="05000000000000000000" pitchFamily="2" charset="2"/>
              <a:buChar char="Ø"/>
            </a:pPr>
            <a:r>
              <a:rPr lang="en-US" sz="1800" kern="1200" dirty="0">
                <a:effectLst/>
                <a:latin typeface="Times New Roman" panose="02020603050405020304" pitchFamily="18" charset="0"/>
                <a:ea typeface="Calibri" panose="020F0502020204030204" pitchFamily="34" charset="0"/>
                <a:cs typeface="Times New Roman" panose="02020603050405020304" pitchFamily="18" charset="0"/>
              </a:rPr>
              <a:t>Behavior is learned from the environment through the process of observational learning. Children observe the people around them behaving in various ways. Individuals that are observed are called models. In society, children are surrounded by many influential models, such as parents within the family, characters on TV, friends within their peer group and teachers at school. </a:t>
            </a:r>
            <a:endParaRPr lang="en-US" b="1" dirty="0">
              <a:latin typeface="Times New Roman" panose="02020603050405020304" pitchFamily="18" charset="0"/>
              <a:cs typeface="Times New Roman" panose="02020603050405020304" pitchFamily="18" charset="0"/>
            </a:endParaRPr>
          </a:p>
        </p:txBody>
      </p:sp>
      <p:pic>
        <p:nvPicPr>
          <p:cNvPr id="3076" name="Picture 4" descr="Violence in TV – The Catalyst">
            <a:extLst>
              <a:ext uri="{FF2B5EF4-FFF2-40B4-BE49-F238E27FC236}">
                <a16:creationId xmlns:a16="http://schemas.microsoft.com/office/drawing/2014/main" id="{F682D40B-2E26-4ED4-A9D0-11A7311813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3513" y="2090737"/>
            <a:ext cx="2447925" cy="26765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Tiflee Education » The effects of media violence on children">
            <a:extLst>
              <a:ext uri="{FF2B5EF4-FFF2-40B4-BE49-F238E27FC236}">
                <a16:creationId xmlns:a16="http://schemas.microsoft.com/office/drawing/2014/main" id="{BA68AB18-95C4-49A8-BF38-5EDFA2AAB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5450" y="4562476"/>
            <a:ext cx="283845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31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CED5-9906-42E2-AB0E-BE722E7382FB}"/>
              </a:ext>
            </a:extLst>
          </p:cNvPr>
          <p:cNvSpPr>
            <a:spLocks noGrp="1"/>
          </p:cNvSpPr>
          <p:nvPr>
            <p:ph type="title"/>
          </p:nvPr>
        </p:nvSpPr>
        <p:spPr>
          <a:xfrm>
            <a:off x="1066800" y="752474"/>
            <a:ext cx="10058400" cy="1162051"/>
          </a:xfrm>
        </p:spPr>
        <p:txBody>
          <a:bodyPr>
            <a:normAutofit fontScale="90000"/>
          </a:bodyPr>
          <a:lstStyle/>
          <a:p>
            <a:r>
              <a:rPr lang="en-US" dirty="0">
                <a:effectLst/>
                <a:latin typeface="Times New Roman" panose="02020603050405020304" pitchFamily="18" charset="0"/>
                <a:ea typeface="Times New Roman" panose="02020603050405020304" pitchFamily="18" charset="0"/>
              </a:rPr>
              <a:t/>
            </a:r>
            <a:br>
              <a:rPr lang="en-US" dirty="0">
                <a:effectLst/>
                <a:latin typeface="Times New Roman" panose="02020603050405020304" pitchFamily="18" charset="0"/>
                <a:ea typeface="Times New Roman" panose="02020603050405020304" pitchFamily="18" charset="0"/>
              </a:rPr>
            </a:br>
            <a:r>
              <a:rPr lang="en-US" sz="3100" b="1" dirty="0">
                <a:solidFill>
                  <a:schemeClr val="tx1"/>
                </a:solidFill>
                <a:effectLst/>
                <a:latin typeface="Times New Roman" panose="02020603050405020304" pitchFamily="18" charset="0"/>
                <a:ea typeface="Times New Roman" panose="02020603050405020304" pitchFamily="18" charset="0"/>
              </a:rPr>
              <a:t>Bandura identified three basic models of observational learning:</a:t>
            </a:r>
            <a:endParaRPr lang="en-US" b="1" dirty="0">
              <a:solidFill>
                <a:schemeClr val="tx1"/>
              </a:solidFill>
            </a:endParaRPr>
          </a:p>
        </p:txBody>
      </p:sp>
      <p:sp>
        <p:nvSpPr>
          <p:cNvPr id="3" name="Content Placeholder 2">
            <a:extLst>
              <a:ext uri="{FF2B5EF4-FFF2-40B4-BE49-F238E27FC236}">
                <a16:creationId xmlns:a16="http://schemas.microsoft.com/office/drawing/2014/main" id="{00F92D5F-0767-4D86-9F0A-824FC6711A10}"/>
              </a:ext>
            </a:extLst>
          </p:cNvPr>
          <p:cNvSpPr>
            <a:spLocks noGrp="1"/>
          </p:cNvSpPr>
          <p:nvPr>
            <p:ph idx="1"/>
          </p:nvPr>
        </p:nvSpPr>
        <p:spPr/>
        <p:txBody>
          <a:bodyPr/>
          <a:lstStyle/>
          <a:p>
            <a:pPr marL="342900" marR="0" lvl="0" indent="-342900" algn="just">
              <a:lnSpc>
                <a:spcPct val="150000"/>
              </a:lnSpc>
              <a:spcBef>
                <a:spcPts val="20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rPr>
              <a:t>A </a:t>
            </a:r>
            <a:r>
              <a:rPr lang="en-US" sz="1800" b="1" dirty="0">
                <a:effectLst/>
                <a:latin typeface="Times New Roman" panose="02020603050405020304" pitchFamily="18" charset="0"/>
                <a:ea typeface="Times New Roman" panose="02020603050405020304" pitchFamily="18" charset="0"/>
              </a:rPr>
              <a:t>live model</a:t>
            </a:r>
            <a:r>
              <a:rPr lang="en-US" sz="1800" dirty="0">
                <a:effectLst/>
                <a:latin typeface="Times New Roman" panose="02020603050405020304" pitchFamily="18" charset="0"/>
                <a:ea typeface="Times New Roman" panose="02020603050405020304" pitchFamily="18" charset="0"/>
              </a:rPr>
              <a:t>, which involves an actual individual demonstrating or acting out a behavior. </a:t>
            </a:r>
          </a:p>
          <a:p>
            <a:pPr marL="342900" marR="0" lvl="0" indent="-342900" algn="just">
              <a:lnSpc>
                <a:spcPct val="150000"/>
              </a:lnSpc>
              <a:spcBef>
                <a:spcPts val="200"/>
              </a:spcBef>
              <a:spcAft>
                <a:spcPts val="0"/>
              </a:spcAft>
              <a:buFont typeface="+mj-lt"/>
              <a:buAutoNum type="arabicPeriod"/>
            </a:pP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20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rPr>
              <a:t>A </a:t>
            </a:r>
            <a:r>
              <a:rPr lang="en-US" sz="1800" b="1" dirty="0">
                <a:effectLst/>
                <a:latin typeface="Times New Roman" panose="02020603050405020304" pitchFamily="18" charset="0"/>
                <a:ea typeface="Times New Roman" panose="02020603050405020304" pitchFamily="18" charset="0"/>
              </a:rPr>
              <a:t>verbal instructional model</a:t>
            </a:r>
            <a:r>
              <a:rPr lang="en-US" sz="1800" dirty="0">
                <a:effectLst/>
                <a:latin typeface="Times New Roman" panose="02020603050405020304" pitchFamily="18" charset="0"/>
                <a:ea typeface="Times New Roman" panose="02020603050405020304" pitchFamily="18" charset="0"/>
              </a:rPr>
              <a:t>, which involves descriptions and explanations of a behavior. </a:t>
            </a:r>
          </a:p>
          <a:p>
            <a:pPr marL="342900" marR="0" lvl="0" indent="-342900" algn="just">
              <a:lnSpc>
                <a:spcPct val="150000"/>
              </a:lnSpc>
              <a:spcBef>
                <a:spcPts val="200"/>
              </a:spcBef>
              <a:spcAft>
                <a:spcPts val="0"/>
              </a:spcAft>
              <a:buFont typeface="+mj-lt"/>
              <a:buAutoNum type="arabicPeriod"/>
            </a:pPr>
            <a:endParaRPr lang="en-US" sz="1800" dirty="0">
              <a:effectLst/>
              <a:latin typeface="Times New Roman" panose="02020603050405020304" pitchFamily="18" charset="0"/>
              <a:ea typeface="Times New Roman" panose="02020603050405020304" pitchFamily="18" charset="0"/>
            </a:endParaRPr>
          </a:p>
          <a:p>
            <a:pPr marL="342900" marR="0" lvl="0" indent="-342900" algn="just">
              <a:lnSpc>
                <a:spcPct val="150000"/>
              </a:lnSpc>
              <a:spcBef>
                <a:spcPts val="20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rPr>
              <a:t>A </a:t>
            </a:r>
            <a:r>
              <a:rPr lang="en-US" sz="1800" b="1" dirty="0">
                <a:effectLst/>
                <a:latin typeface="Times New Roman" panose="02020603050405020304" pitchFamily="18" charset="0"/>
                <a:ea typeface="Times New Roman" panose="02020603050405020304" pitchFamily="18" charset="0"/>
              </a:rPr>
              <a:t>symbolic model</a:t>
            </a:r>
            <a:r>
              <a:rPr lang="en-US" sz="1800" dirty="0">
                <a:effectLst/>
                <a:latin typeface="Times New Roman" panose="02020603050405020304" pitchFamily="18" charset="0"/>
                <a:ea typeface="Times New Roman" panose="02020603050405020304" pitchFamily="18" charset="0"/>
              </a:rPr>
              <a:t>, which involves real or fictional characters displaying behaviors in books, films, television programs, or online media.</a:t>
            </a:r>
          </a:p>
        </p:txBody>
      </p:sp>
    </p:spTree>
    <p:extLst>
      <p:ext uri="{BB962C8B-B14F-4D97-AF65-F5344CB8AC3E}">
        <p14:creationId xmlns:p14="http://schemas.microsoft.com/office/powerpoint/2010/main" val="112704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A57FC-165D-45D8-B1C4-8E8A42B1F3C5}"/>
              </a:ext>
            </a:extLst>
          </p:cNvPr>
          <p:cNvSpPr>
            <a:spLocks noGrp="1"/>
          </p:cNvSpPr>
          <p:nvPr>
            <p:ph type="title"/>
          </p:nvPr>
        </p:nvSpPr>
        <p:spPr/>
        <p:txBody>
          <a:bodyPr>
            <a:noAutofit/>
          </a:bodyPr>
          <a:lstStyle/>
          <a:p>
            <a:r>
              <a:rPr lang="en-US" sz="2800" b="1" dirty="0">
                <a:latin typeface="Times New Roman" panose="02020603050405020304" pitchFamily="18" charset="0"/>
                <a:cs typeface="Times New Roman" panose="02020603050405020304" pitchFamily="18" charset="0"/>
              </a:rPr>
              <a:t>Bandura’s “Bobo Doll” Studies: Early Evidence for the Effects of Televised Violence </a:t>
            </a:r>
          </a:p>
        </p:txBody>
      </p:sp>
      <p:sp>
        <p:nvSpPr>
          <p:cNvPr id="3" name="Content Placeholder 2">
            <a:extLst>
              <a:ext uri="{FF2B5EF4-FFF2-40B4-BE49-F238E27FC236}">
                <a16:creationId xmlns:a16="http://schemas.microsoft.com/office/drawing/2014/main" id="{53A100ED-BD3A-48B6-867A-69D5B3351F20}"/>
              </a:ext>
            </a:extLst>
          </p:cNvPr>
          <p:cNvSpPr>
            <a:spLocks noGrp="1"/>
          </p:cNvSpPr>
          <p:nvPr>
            <p:ph idx="1"/>
          </p:nvPr>
        </p:nvSpPr>
        <p:spPr>
          <a:xfrm>
            <a:off x="1097280" y="2108201"/>
            <a:ext cx="4817745" cy="4107205"/>
          </a:xfrm>
        </p:spPr>
        <p:txBody>
          <a:bodyPr>
            <a:normAutofit fontScale="92500"/>
          </a:bodyPr>
          <a:lstStyle/>
          <a:p>
            <a:pPr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In these famous studies, children saw a “television program” in which an adult model either attacked an inflated plastic doll (top row of photos) or sat quietly. </a:t>
            </a:r>
          </a:p>
          <a:p>
            <a:pPr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When given a chance to play with the same toys, children imitated the actions of the aggressive model (bottom two rows of photos). </a:t>
            </a:r>
          </a:p>
          <a:p>
            <a:pPr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These findings suggested that exposure to violence in the media may lead to similar actions by viewers.</a:t>
            </a:r>
          </a:p>
        </p:txBody>
      </p:sp>
      <p:pic>
        <p:nvPicPr>
          <p:cNvPr id="5" name="Picture 4">
            <a:extLst>
              <a:ext uri="{FF2B5EF4-FFF2-40B4-BE49-F238E27FC236}">
                <a16:creationId xmlns:a16="http://schemas.microsoft.com/office/drawing/2014/main" id="{B02F1785-41E2-46E5-9141-FABF9F25D00B}"/>
              </a:ext>
            </a:extLst>
          </p:cNvPr>
          <p:cNvPicPr>
            <a:picLocks noChangeAspect="1"/>
          </p:cNvPicPr>
          <p:nvPr/>
        </p:nvPicPr>
        <p:blipFill>
          <a:blip r:embed="rId2"/>
          <a:stretch>
            <a:fillRect/>
          </a:stretch>
        </p:blipFill>
        <p:spPr>
          <a:xfrm>
            <a:off x="6391275" y="2108201"/>
            <a:ext cx="5072062" cy="3619500"/>
          </a:xfrm>
          <a:prstGeom prst="rect">
            <a:avLst/>
          </a:prstGeom>
        </p:spPr>
      </p:pic>
    </p:spTree>
    <p:extLst>
      <p:ext uri="{BB962C8B-B14F-4D97-AF65-F5344CB8AC3E}">
        <p14:creationId xmlns:p14="http://schemas.microsoft.com/office/powerpoint/2010/main" val="544020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BD601-6A14-4339-A302-7F5685DFE86B}"/>
              </a:ext>
            </a:extLst>
          </p:cNvPr>
          <p:cNvSpPr>
            <a:spLocks noGrp="1"/>
          </p:cNvSpPr>
          <p:nvPr>
            <p:ph type="title"/>
          </p:nvPr>
        </p:nvSpPr>
        <p:spPr/>
        <p:txBody>
          <a:bodyPr>
            <a:normAutofit fontScale="90000"/>
          </a:bodyPr>
          <a:lstStyle/>
          <a:p>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4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4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
            </a:r>
            <a:br>
              <a:rPr lang="en-US" sz="24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Scientific method: Can children learn to be aggressive through observational learning?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r>
            <a:br>
              <a:rPr lang="en-US" b="1"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4400" dirty="0"/>
          </a:p>
        </p:txBody>
      </p:sp>
      <p:sp>
        <p:nvSpPr>
          <p:cNvPr id="3" name="Content Placeholder 2">
            <a:extLst>
              <a:ext uri="{FF2B5EF4-FFF2-40B4-BE49-F238E27FC236}">
                <a16:creationId xmlns:a16="http://schemas.microsoft.com/office/drawing/2014/main" id="{B12EBAD3-24CB-4C71-BBD5-6E91308EDB0A}"/>
              </a:ext>
            </a:extLst>
          </p:cNvPr>
          <p:cNvSpPr>
            <a:spLocks noGrp="1"/>
          </p:cNvSpPr>
          <p:nvPr>
            <p:ph idx="1"/>
          </p:nvPr>
        </p:nvSpPr>
        <p:spPr>
          <a:xfrm>
            <a:off x="1066800" y="2103119"/>
            <a:ext cx="8372475" cy="4250055"/>
          </a:xfrm>
        </p:spPr>
        <p:txBody>
          <a:bodyPr>
            <a:normAutofit fontScale="92500"/>
          </a:bodyPr>
          <a:lstStyle/>
          <a:p>
            <a:pPr marL="57150" marR="0" indent="-285750" algn="just">
              <a:lnSpc>
                <a:spcPct val="150000"/>
              </a:lnSpc>
              <a:spcBef>
                <a:spcPts val="0"/>
              </a:spcBef>
              <a:spcAft>
                <a:spcPts val="800"/>
              </a:spcAft>
              <a:buFont typeface="Wingdings" panose="05000000000000000000" pitchFamily="2" charset="2"/>
              <a:buChar char="Ø"/>
            </a:pPr>
            <a:r>
              <a:rPr lang="en-US" sz="1800" b="1" kern="1200" dirty="0">
                <a:effectLst/>
                <a:latin typeface="Times New Roman" panose="02020603050405020304" pitchFamily="18" charset="0"/>
                <a:ea typeface="Calibri" panose="020F0502020204030204" pitchFamily="34" charset="0"/>
                <a:cs typeface="Times New Roman" panose="02020603050405020304" pitchFamily="18" charset="0"/>
              </a:rPr>
              <a:t>Method:  </a:t>
            </a:r>
            <a:r>
              <a:rPr lang="en-US" sz="1800" kern="1200" dirty="0">
                <a:effectLst/>
                <a:latin typeface="Times New Roman" panose="02020603050405020304" pitchFamily="18" charset="0"/>
                <a:ea typeface="Calibri" panose="020F0502020204030204" pitchFamily="34" charset="0"/>
                <a:cs typeface="Times New Roman" panose="02020603050405020304" pitchFamily="18" charset="0"/>
              </a:rPr>
              <a:t>Two groups of children were each shown a different short film of an adult playing with a large inflatable “Bobo” doll. In one video the adult played quietly with the doll. In the other the adult hit and kicked the doll.</a:t>
            </a:r>
          </a:p>
          <a:p>
            <a:pPr marL="57150" marR="0" indent="-285750" algn="just">
              <a:lnSpc>
                <a:spcPct val="150000"/>
              </a:lnSpc>
              <a:spcBef>
                <a:spcPts val="0"/>
              </a:spcBef>
              <a:spcAft>
                <a:spcPts val="800"/>
              </a:spcAft>
              <a:buFont typeface="Wingdings" panose="05000000000000000000" pitchFamily="2" charset="2"/>
              <a:buChar char="Ø"/>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57150" marR="0" indent="-285750" algn="just">
              <a:lnSpc>
                <a:spcPct val="150000"/>
              </a:lnSpc>
              <a:spcBef>
                <a:spcPts val="0"/>
              </a:spcBef>
              <a:spcAft>
                <a:spcPts val="800"/>
              </a:spcAft>
              <a:buFont typeface="Wingdings" panose="05000000000000000000" pitchFamily="2" charset="2"/>
              <a:buChar char="Ø"/>
            </a:pPr>
            <a:r>
              <a:rPr lang="en-US" sz="1800" b="1" kern="1200" dirty="0">
                <a:effectLst/>
                <a:latin typeface="Times New Roman" panose="02020603050405020304" pitchFamily="18" charset="0"/>
                <a:ea typeface="Calibri" panose="020F0502020204030204" pitchFamily="34" charset="0"/>
                <a:cs typeface="Times New Roman" panose="02020603050405020304" pitchFamily="18" charset="0"/>
              </a:rPr>
              <a:t>Results : </a:t>
            </a:r>
            <a:r>
              <a:rPr lang="en-US" sz="1800" kern="1200" dirty="0">
                <a:effectLst/>
                <a:latin typeface="Times New Roman" panose="02020603050405020304" pitchFamily="18" charset="0"/>
                <a:ea typeface="Calibri" panose="020F0502020204030204" pitchFamily="34" charset="0"/>
                <a:cs typeface="Times New Roman" panose="02020603050405020304" pitchFamily="18" charset="0"/>
              </a:rPr>
              <a:t>When children were allowed to play with the doll later, those who had seen the aggressive play were much more likely to hit and kick the doll, as they had seen the adult do.</a:t>
            </a:r>
          </a:p>
          <a:p>
            <a:pPr marL="57150" marR="0" indent="-285750" algn="just">
              <a:lnSpc>
                <a:spcPct val="150000"/>
              </a:lnSpc>
              <a:spcBef>
                <a:spcPts val="0"/>
              </a:spcBef>
              <a:spcAft>
                <a:spcPts val="800"/>
              </a:spcAft>
              <a:buFont typeface="Wingdings" panose="05000000000000000000" pitchFamily="2" charset="2"/>
              <a:buChar char="Ø"/>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57150" marR="0" indent="-285750" algn="just">
              <a:lnSpc>
                <a:spcPct val="150000"/>
              </a:lnSpc>
              <a:spcBef>
                <a:spcPts val="0"/>
              </a:spcBef>
              <a:spcAft>
                <a:spcPts val="800"/>
              </a:spcAft>
              <a:buFont typeface="Wingdings" panose="05000000000000000000" pitchFamily="2" charset="2"/>
              <a:buChar char="Ø"/>
            </a:pPr>
            <a:r>
              <a:rPr lang="en-US" sz="1800" b="1" kern="1200" dirty="0">
                <a:effectLst/>
                <a:latin typeface="Times New Roman" panose="02020603050405020304" pitchFamily="18" charset="0"/>
                <a:ea typeface="Calibri" panose="020F0502020204030204" pitchFamily="34" charset="0"/>
                <a:cs typeface="Times New Roman" panose="02020603050405020304" pitchFamily="18" charset="0"/>
              </a:rPr>
              <a:t>Conclusion: </a:t>
            </a:r>
            <a:r>
              <a:rPr lang="en-US" sz="1800" kern="1200" dirty="0">
                <a:effectLst/>
                <a:latin typeface="Times New Roman" panose="02020603050405020304" pitchFamily="18" charset="0"/>
                <a:ea typeface="Calibri" panose="020F0502020204030204" pitchFamily="34" charset="0"/>
                <a:cs typeface="Times New Roman" panose="02020603050405020304" pitchFamily="18" charset="0"/>
              </a:rPr>
              <a:t>Observational learning can have a powerful effect on aggression, violence and other social behaviors.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pic>
        <p:nvPicPr>
          <p:cNvPr id="4098" name="Picture 2" descr="Social Learning - Bobo Doll Experiment">
            <a:extLst>
              <a:ext uri="{FF2B5EF4-FFF2-40B4-BE49-F238E27FC236}">
                <a16:creationId xmlns:a16="http://schemas.microsoft.com/office/drawing/2014/main" id="{EB9E829C-CC9F-49E5-8C8F-6EC10E7B3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599" y="2381250"/>
            <a:ext cx="172402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3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7BE8D-9BEE-45FE-BF23-F799495757B2}"/>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Modeling</a:t>
            </a:r>
          </a:p>
        </p:txBody>
      </p:sp>
      <p:sp>
        <p:nvSpPr>
          <p:cNvPr id="3" name="Content Placeholder 2">
            <a:extLst>
              <a:ext uri="{FF2B5EF4-FFF2-40B4-BE49-F238E27FC236}">
                <a16:creationId xmlns:a16="http://schemas.microsoft.com/office/drawing/2014/main" id="{48534F52-B41B-4490-ACF3-30F9FA76B2F1}"/>
              </a:ext>
            </a:extLst>
          </p:cNvPr>
          <p:cNvSpPr>
            <a:spLocks noGrp="1"/>
          </p:cNvSpPr>
          <p:nvPr>
            <p:ph idx="1"/>
          </p:nvPr>
        </p:nvSpPr>
        <p:spPr>
          <a:xfrm>
            <a:off x="1143000" y="2057400"/>
            <a:ext cx="9691687" cy="4038600"/>
          </a:xfrm>
        </p:spPr>
        <p:txBody>
          <a:bodyPr>
            <a:normAutofit lnSpcReduction="10000"/>
          </a:bodyPr>
          <a:lstStyle/>
          <a:p>
            <a:pPr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C</a:t>
            </a:r>
            <a:r>
              <a:rPr lang="en-US" b="1" i="0" dirty="0">
                <a:effectLst/>
                <a:latin typeface="Times New Roman" panose="02020603050405020304" pitchFamily="18" charset="0"/>
                <a:cs typeface="Times New Roman" panose="02020603050405020304" pitchFamily="18" charset="0"/>
              </a:rPr>
              <a:t>hildren learned new aggressive behaviors by observing aggressive models.</a:t>
            </a:r>
          </a:p>
          <a:p>
            <a:pPr algn="just">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The children of aggressive parents are more likely to become aggressive parents themselves.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Studies often find that aggressive children have aggressive parents. </a:t>
            </a:r>
            <a:endParaRPr lang="en-US" b="1" i="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Daily life </a:t>
            </a:r>
            <a:r>
              <a:rPr lang="en-US" b="1" dirty="0" smtClean="0">
                <a:latin typeface="Times New Roman" panose="02020603050405020304" pitchFamily="18" charset="0"/>
                <a:cs typeface="Times New Roman" panose="02020603050405020304" pitchFamily="18" charset="0"/>
              </a:rPr>
              <a:t>examples</a:t>
            </a:r>
          </a:p>
          <a:p>
            <a:pPr algn="just">
              <a:buFont typeface="Wingdings" panose="05000000000000000000" pitchFamily="2" charset="2"/>
              <a:buChar char="q"/>
            </a:pPr>
            <a:r>
              <a:rPr lang="en-US" b="1" dirty="0" smtClean="0">
                <a:latin typeface="Times New Roman" panose="02020603050405020304" pitchFamily="18" charset="0"/>
                <a:cs typeface="Times New Roman" panose="02020603050405020304" pitchFamily="18" charset="0"/>
              </a:rPr>
              <a:t>Children learn to tie their shoes </a:t>
            </a:r>
          </a:p>
          <a:p>
            <a:pPr algn="just">
              <a:buFont typeface="Wingdings" panose="05000000000000000000" pitchFamily="2" charset="2"/>
              <a:buChar char="q"/>
            </a:pPr>
            <a:r>
              <a:rPr lang="en-US" b="1" dirty="0" smtClean="0">
                <a:latin typeface="Times New Roman" panose="02020603050405020304" pitchFamily="18" charset="0"/>
                <a:cs typeface="Times New Roman" panose="02020603050405020304" pitchFamily="18" charset="0"/>
              </a:rPr>
              <a:t>You learn how to use utensils </a:t>
            </a:r>
          </a:p>
          <a:p>
            <a:pPr algn="just">
              <a:buFont typeface="Wingdings" panose="05000000000000000000" pitchFamily="2" charset="2"/>
              <a:buChar char="q"/>
            </a:pPr>
            <a:r>
              <a:rPr lang="en-US" b="1" dirty="0" smtClean="0">
                <a:latin typeface="Times New Roman" panose="02020603050405020304" pitchFamily="18" charset="0"/>
                <a:cs typeface="Times New Roman" panose="02020603050405020304" pitchFamily="18" charset="0"/>
              </a:rPr>
              <a:t>What to do in any given situation</a:t>
            </a:r>
            <a:endParaRPr lang="en-US"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 will </a:t>
            </a:r>
            <a:r>
              <a:rPr lang="en-US" b="1" dirty="0" smtClean="0">
                <a:latin typeface="Times New Roman" panose="02020603050405020304" pitchFamily="18" charset="0"/>
                <a:cs typeface="Times New Roman" panose="02020603050405020304" pitchFamily="18" charset="0"/>
              </a:rPr>
              <a:t>hurt </a:t>
            </a:r>
            <a:r>
              <a:rPr lang="en-US" b="1" dirty="0" smtClean="0">
                <a:latin typeface="Times New Roman" panose="02020603050405020304" pitchFamily="18" charset="0"/>
                <a:cs typeface="Times New Roman" panose="02020603050405020304" pitchFamily="18" charset="0"/>
              </a:rPr>
              <a:t>my </a:t>
            </a:r>
            <a:r>
              <a:rPr lang="en-US" b="1" dirty="0">
                <a:latin typeface="Times New Roman" panose="02020603050405020304" pitchFamily="18" charset="0"/>
                <a:cs typeface="Times New Roman" panose="02020603050405020304" pitchFamily="18" charset="0"/>
              </a:rPr>
              <a:t>father because he hurt my mother</a:t>
            </a:r>
            <a:r>
              <a:rPr lang="en-US" b="1" dirty="0"/>
              <a:t>. </a:t>
            </a:r>
            <a:endParaRPr lang="en-US" b="1" dirty="0" smtClean="0"/>
          </a:p>
          <a:p>
            <a:pPr algn="just">
              <a:buFont typeface="Wingdings" panose="05000000000000000000" pitchFamily="2" charset="2"/>
              <a:buChar char="q"/>
            </a:pPr>
            <a:endParaRPr lang="en-US" dirty="0"/>
          </a:p>
        </p:txBody>
      </p:sp>
      <p:pic>
        <p:nvPicPr>
          <p:cNvPr id="8194" name="Picture 2" descr="Ways to Deal with Your Toddler's Aggressive Behavior – Cleveland Clinic">
            <a:extLst>
              <a:ext uri="{FF2B5EF4-FFF2-40B4-BE49-F238E27FC236}">
                <a16:creationId xmlns:a16="http://schemas.microsoft.com/office/drawing/2014/main" id="{FB9B3F63-286F-42C6-8FF6-506B79B73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3361" y="3438868"/>
            <a:ext cx="2981326" cy="27765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Users\Muneer\Desktop\genetic-factor.jpg">
            <a:extLst>
              <a:ext uri="{FF2B5EF4-FFF2-40B4-BE49-F238E27FC236}">
                <a16:creationId xmlns:a16="http://schemas.microsoft.com/office/drawing/2014/main" id="{0DD13726-2268-4972-BBD4-0E4A534D9A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5006" y="237067"/>
            <a:ext cx="2124075" cy="1820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164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Latent Learning </a:t>
            </a:r>
            <a:endParaRPr lang="en-US" b="1" dirty="0"/>
          </a:p>
        </p:txBody>
      </p:sp>
      <p:sp>
        <p:nvSpPr>
          <p:cNvPr id="3" name="Content Placeholder 2"/>
          <p:cNvSpPr>
            <a:spLocks noGrp="1"/>
          </p:cNvSpPr>
          <p:nvPr>
            <p:ph idx="1"/>
          </p:nvPr>
        </p:nvSpPr>
        <p:spPr/>
        <p:txBody>
          <a:bodyPr/>
          <a:lstStyle/>
          <a:p>
            <a:r>
              <a:rPr lang="en-US" dirty="0" smtClean="0"/>
              <a:t>Learning </a:t>
            </a:r>
            <a:r>
              <a:rPr lang="en-US" dirty="0"/>
              <a:t>in which </a:t>
            </a:r>
            <a:r>
              <a:rPr lang="en-US" dirty="0" smtClean="0"/>
              <a:t>a new </a:t>
            </a:r>
            <a:r>
              <a:rPr lang="en-US" dirty="0"/>
              <a:t>behavior is acquired but is </a:t>
            </a:r>
            <a:r>
              <a:rPr lang="en-US" dirty="0" smtClean="0"/>
              <a:t>not demonstrated </a:t>
            </a:r>
            <a:r>
              <a:rPr lang="en-US" dirty="0"/>
              <a:t>until some incentive </a:t>
            </a:r>
            <a:r>
              <a:rPr lang="en-US" dirty="0" smtClean="0"/>
              <a:t>is provided </a:t>
            </a:r>
            <a:r>
              <a:rPr lang="en-US" dirty="0"/>
              <a:t>for displaying it</a:t>
            </a:r>
            <a:r>
              <a:rPr lang="en-US" dirty="0" smtClean="0"/>
              <a:t>.</a:t>
            </a:r>
          </a:p>
          <a:p>
            <a:endParaRPr lang="en-US" dirty="0"/>
          </a:p>
          <a:p>
            <a:r>
              <a:rPr lang="en-US" dirty="0" smtClean="0"/>
              <a:t>People develop </a:t>
            </a:r>
            <a:r>
              <a:rPr lang="en-US" dirty="0"/>
              <a:t>cognitive maps of their surroundings. For </a:t>
            </a:r>
            <a:r>
              <a:rPr lang="en-US" dirty="0" smtClean="0"/>
              <a:t>example, latent </a:t>
            </a:r>
            <a:r>
              <a:rPr lang="en-US" dirty="0"/>
              <a:t>learning may permit you to know the location of a </a:t>
            </a:r>
            <a:r>
              <a:rPr lang="en-US" dirty="0" smtClean="0"/>
              <a:t>kitchenware store </a:t>
            </a:r>
            <a:r>
              <a:rPr lang="en-US" dirty="0"/>
              <a:t>at a local mall you’ve frequently visited, even though you’ve </a:t>
            </a:r>
            <a:r>
              <a:rPr lang="en-US" dirty="0" smtClean="0"/>
              <a:t>never entered </a:t>
            </a:r>
            <a:r>
              <a:rPr lang="en-US" dirty="0"/>
              <a:t>the store and don’t even like to cook.</a:t>
            </a:r>
            <a:endParaRPr lang="en-US" dirty="0"/>
          </a:p>
        </p:txBody>
      </p:sp>
    </p:spTree>
    <p:extLst>
      <p:ext uri="{BB962C8B-B14F-4D97-AF65-F5344CB8AC3E}">
        <p14:creationId xmlns:p14="http://schemas.microsoft.com/office/powerpoint/2010/main" val="34863862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0A23A9DE-F428-4AF8-A58F-15553CB7864B}"/>
              </a:ext>
            </a:extLst>
          </p:cNvPr>
          <p:cNvSpPr>
            <a:spLocks noGrp="1"/>
          </p:cNvSpPr>
          <p:nvPr>
            <p:ph type="title"/>
          </p:nvPr>
        </p:nvSpPr>
        <p:spPr/>
        <p:txBody>
          <a:bodyPr/>
          <a:lstStyle/>
          <a:p>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Classroom Discipline</a:t>
            </a:r>
          </a:p>
        </p:txBody>
      </p:sp>
      <p:sp>
        <p:nvSpPr>
          <p:cNvPr id="108547" name="Rectangle 3">
            <a:extLst>
              <a:ext uri="{FF2B5EF4-FFF2-40B4-BE49-F238E27FC236}">
                <a16:creationId xmlns:a16="http://schemas.microsoft.com/office/drawing/2014/main" id="{2FC28265-6AE3-4980-A5B5-F00E93256745}"/>
              </a:ext>
            </a:extLst>
          </p:cNvPr>
          <p:cNvSpPr>
            <a:spLocks noGrp="1"/>
          </p:cNvSpPr>
          <p:nvPr>
            <p:ph idx="1"/>
          </p:nvPr>
        </p:nvSpPr>
        <p:spPr/>
        <p:txBody>
          <a:bodyPr/>
          <a:lstStyle/>
          <a:p>
            <a:pPr algn="just"/>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Reinforcing one particular behavior may actually be reinforcing the opposite behavior.</a:t>
            </a:r>
          </a:p>
          <a:p>
            <a:pPr algn="just"/>
            <a:r>
              <a:rPr lang="en-US" altLang="en-US" sz="2000" b="1" i="1" dirty="0">
                <a:latin typeface="Times New Roman" panose="02020603050405020304" pitchFamily="18" charset="0"/>
                <a:ea typeface="ＭＳ Ｐゴシック" panose="020B0600070205080204" pitchFamily="34" charset="-128"/>
                <a:cs typeface="Times New Roman" panose="02020603050405020304" pitchFamily="18" charset="0"/>
              </a:rPr>
              <a:t>Ignoring students who misbehave in class rather than yelling at them (works most generally in the elementary level).</a:t>
            </a:r>
          </a:p>
          <a:p>
            <a:pPr algn="just"/>
            <a:r>
              <a:rPr lang="en-US" altLang="en-US" sz="2000" dirty="0">
                <a:latin typeface="Times New Roman" panose="02020603050405020304" pitchFamily="18" charset="0"/>
                <a:ea typeface="ＭＳ Ｐゴシック" panose="020B0600070205080204" pitchFamily="34" charset="-128"/>
                <a:cs typeface="Times New Roman" panose="02020603050405020304" pitchFamily="18" charset="0"/>
              </a:rPr>
              <a:t>Peer approval= more powerful than teacher approval.</a:t>
            </a:r>
          </a:p>
        </p:txBody>
      </p:sp>
      <p:pic>
        <p:nvPicPr>
          <p:cNvPr id="108548" name="Picture 4">
            <a:extLst>
              <a:ext uri="{FF2B5EF4-FFF2-40B4-BE49-F238E27FC236}">
                <a16:creationId xmlns:a16="http://schemas.microsoft.com/office/drawing/2014/main" id="{F80ACCA0-4218-456C-A4CB-B50B9044925E}"/>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401050" y="3581400"/>
            <a:ext cx="3505200" cy="278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68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D5FF5675-8DC7-4EBF-B0B5-E403CC9965CD}"/>
              </a:ext>
            </a:extLst>
          </p:cNvPr>
          <p:cNvSpPr>
            <a:spLocks noGrp="1"/>
          </p:cNvSpPr>
          <p:nvPr>
            <p:ph type="title"/>
          </p:nvPr>
        </p:nvSpPr>
        <p:spPr/>
        <p:txBody>
          <a:bodyPr>
            <a:normAutofit/>
          </a:bodyPr>
          <a:lstStyle/>
          <a:p>
            <a:r>
              <a:rPr lang="en-US" altLang="en-US" sz="4400" b="1" dirty="0">
                <a:latin typeface="Times New Roman" panose="02020603050405020304" pitchFamily="18" charset="0"/>
                <a:ea typeface="ＭＳ Ｐゴシック" panose="020B0600070205080204" pitchFamily="34" charset="-128"/>
                <a:cs typeface="Times New Roman" panose="02020603050405020304" pitchFamily="18" charset="0"/>
              </a:rPr>
              <a:t>Improving Study Habits</a:t>
            </a:r>
          </a:p>
        </p:txBody>
      </p:sp>
      <p:sp>
        <p:nvSpPr>
          <p:cNvPr id="115715" name="Rectangle 3">
            <a:extLst>
              <a:ext uri="{FF2B5EF4-FFF2-40B4-BE49-F238E27FC236}">
                <a16:creationId xmlns:a16="http://schemas.microsoft.com/office/drawing/2014/main" id="{21F4BD5A-198D-4DA2-AE32-AF0ACEDB99A9}"/>
              </a:ext>
            </a:extLst>
          </p:cNvPr>
          <p:cNvSpPr>
            <a:spLocks noGrp="1"/>
          </p:cNvSpPr>
          <p:nvPr>
            <p:ph idx="1"/>
          </p:nvPr>
        </p:nvSpPr>
        <p:spPr/>
        <p:txBody>
          <a:bodyPr/>
          <a:lstStyle/>
          <a:p>
            <a:pPr algn="just">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Pay attention, read/recite information you have heard.</a:t>
            </a:r>
          </a:p>
          <a:p>
            <a:pPr algn="just">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Make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flash cards</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—USE THEM</a:t>
            </a:r>
          </a:p>
          <a:p>
            <a:pPr algn="just">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Redo problems or questions on a lengthy assignment or test.</a:t>
            </a:r>
          </a:p>
          <a:p>
            <a:pPr algn="just">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Make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meaningful connections </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with the information you are learning. </a:t>
            </a:r>
          </a:p>
          <a:p>
            <a:pPr algn="just">
              <a:lnSpc>
                <a:spcPct val="90000"/>
              </a:lnSpc>
            </a:pP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Find a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study partner</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—you haven’t mastered something until you can teach it to someone else.</a:t>
            </a:r>
          </a:p>
          <a:p>
            <a:pPr algn="just">
              <a:lnSpc>
                <a:spcPct val="90000"/>
              </a:lnSpc>
            </a:pP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Study material in small dose—not the night of the exam</a:t>
            </a:r>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 </a:t>
            </a:r>
          </a:p>
          <a:p>
            <a:pPr>
              <a:lnSpc>
                <a:spcPct val="90000"/>
              </a:lnSpc>
            </a:pP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470238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1CF3AD28-52BB-4A72-B597-94B1771F39B2}"/>
              </a:ext>
            </a:extLst>
          </p:cNvPr>
          <p:cNvSpPr>
            <a:spLocks noGrp="1"/>
          </p:cNvSpPr>
          <p:nvPr>
            <p:ph type="title"/>
          </p:nvPr>
        </p:nvSpPr>
        <p:spPr/>
        <p:txBody>
          <a:bodyPr/>
          <a:lstStyle/>
          <a:p>
            <a:r>
              <a:rPr lang="en-US" altLang="en-US" b="1" dirty="0">
                <a:latin typeface="Times New Roman" panose="02020603050405020304" pitchFamily="18" charset="0"/>
                <a:ea typeface="ＭＳ Ｐゴシック" panose="020B0600070205080204" pitchFamily="34" charset="-128"/>
                <a:cs typeface="Times New Roman" panose="02020603050405020304" pitchFamily="18" charset="0"/>
              </a:rPr>
              <a:t>Improving Study Habits</a:t>
            </a:r>
          </a:p>
        </p:txBody>
      </p:sp>
      <p:sp>
        <p:nvSpPr>
          <p:cNvPr id="142339" name="Rectangle 3">
            <a:extLst>
              <a:ext uri="{FF2B5EF4-FFF2-40B4-BE49-F238E27FC236}">
                <a16:creationId xmlns:a16="http://schemas.microsoft.com/office/drawing/2014/main" id="{D4E11F27-E1FC-4611-9801-82494A78A39A}"/>
              </a:ext>
            </a:extLst>
          </p:cNvPr>
          <p:cNvSpPr>
            <a:spLocks noGrp="1"/>
          </p:cNvSpPr>
          <p:nvPr>
            <p:ph idx="1"/>
          </p:nvPr>
        </p:nvSpPr>
        <p:spPr/>
        <p:txBody>
          <a:bodyPr>
            <a:normAutofit lnSpcReduction="10000"/>
          </a:bodyPr>
          <a:lstStyle/>
          <a:p>
            <a:pPr algn="just"/>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Studying in a new place—</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free from distractions.</a:t>
            </a:r>
          </a:p>
          <a:p>
            <a:pPr algn="just"/>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Don’t study too much at any one given time.</a:t>
            </a:r>
          </a:p>
          <a:p>
            <a:pPr algn="just"/>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Attempt to study at the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same time each day.</a:t>
            </a:r>
          </a:p>
          <a:p>
            <a:pPr algn="just"/>
            <a:r>
              <a:rPr lang="en-US" altLang="en-US" sz="2400" dirty="0">
                <a:latin typeface="Times New Roman" panose="02020603050405020304" pitchFamily="18" charset="0"/>
                <a:ea typeface="ＭＳ Ｐゴシック" panose="020B0600070205080204" pitchFamily="34" charset="-128"/>
                <a:cs typeface="Times New Roman" panose="02020603050405020304" pitchFamily="18" charset="0"/>
              </a:rPr>
              <a:t>Set </a:t>
            </a:r>
            <a:r>
              <a:rPr lang="en-US" altLang="en-US" sz="2400" b="1" i="1" dirty="0">
                <a:latin typeface="Times New Roman" panose="02020603050405020304" pitchFamily="18" charset="0"/>
                <a:ea typeface="ＭＳ Ｐゴシック" panose="020B0600070205080204" pitchFamily="34" charset="-128"/>
                <a:cs typeface="Times New Roman" panose="02020603050405020304" pitchFamily="18" charset="0"/>
              </a:rPr>
              <a:t>specific goals.</a:t>
            </a:r>
          </a:p>
          <a:p>
            <a:pPr algn="just"/>
            <a:endParaRPr lang="en-US" altLang="en-US" b="1" i="1"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just"/>
            <a:endParaRPr lang="en-US" altLang="en-US" b="1" i="1" dirty="0">
              <a:latin typeface="Times New Roman" panose="02020603050405020304" pitchFamily="18" charset="0"/>
              <a:ea typeface="ＭＳ Ｐゴシック" panose="020B0600070205080204" pitchFamily="34" charset="-128"/>
              <a:cs typeface="Times New Roman" panose="02020603050405020304" pitchFamily="18" charset="0"/>
            </a:endParaRPr>
          </a:p>
          <a:p>
            <a:pPr algn="ctr"/>
            <a:r>
              <a:rPr lang="en-US" altLang="en-US" sz="4400" b="1" i="1" u="sng" dirty="0">
                <a:highlight>
                  <a:srgbClr val="FFFF00"/>
                </a:highlight>
                <a:latin typeface="Times New Roman" panose="02020603050405020304" pitchFamily="18" charset="0"/>
                <a:ea typeface="ＭＳ Ｐゴシック" panose="020B0600070205080204" pitchFamily="34" charset="-128"/>
                <a:cs typeface="Times New Roman" panose="02020603050405020304" pitchFamily="18" charset="0"/>
              </a:rPr>
              <a:t>Tell friends not to call during study times.</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91969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2A19-E59E-4D4E-BE9A-0D49F6BD20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766F65-C12F-4DA6-AA09-304812127287}"/>
              </a:ext>
            </a:extLst>
          </p:cNvPr>
          <p:cNvSpPr>
            <a:spLocks noGrp="1"/>
          </p:cNvSpPr>
          <p:nvPr>
            <p:ph idx="1"/>
          </p:nvPr>
        </p:nvSpPr>
        <p:spPr/>
        <p:txBody>
          <a:bodyPr/>
          <a:lstStyle/>
          <a:p>
            <a:endParaRPr lang="en-US" dirty="0"/>
          </a:p>
        </p:txBody>
      </p:sp>
      <p:pic>
        <p:nvPicPr>
          <p:cNvPr id="2052" name="Picture 4" descr="Free painted background thank you label template">
            <a:extLst>
              <a:ext uri="{FF2B5EF4-FFF2-40B4-BE49-F238E27FC236}">
                <a16:creationId xmlns:a16="http://schemas.microsoft.com/office/drawing/2014/main" id="{C1B3A66C-969F-4A16-BB2C-0B8843001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99" y="642594"/>
            <a:ext cx="10058399" cy="5462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315551"/>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docProps/app.xml><?xml version="1.0" encoding="utf-8"?>
<Properties xmlns="http://schemas.openxmlformats.org/officeDocument/2006/extended-properties" xmlns:vt="http://schemas.openxmlformats.org/officeDocument/2006/docPropsVTypes">
  <Template>TM03457444[[fn=Basis]]</Template>
  <TotalTime>1823</TotalTime>
  <Words>2358</Words>
  <Application>Microsoft Office PowerPoint</Application>
  <PresentationFormat>Widescreen</PresentationFormat>
  <Paragraphs>177</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ＭＳ Ｐゴシック</vt:lpstr>
      <vt:lpstr>Arial</vt:lpstr>
      <vt:lpstr>Calibri</vt:lpstr>
      <vt:lpstr>Corbel</vt:lpstr>
      <vt:lpstr>Courier New</vt:lpstr>
      <vt:lpstr>Times New Roman</vt:lpstr>
      <vt:lpstr>Wingdings</vt:lpstr>
      <vt:lpstr>Basis</vt:lpstr>
      <vt:lpstr>Learning </vt:lpstr>
      <vt:lpstr>Content Layout </vt:lpstr>
      <vt:lpstr>Do you like receiving these statements?</vt:lpstr>
      <vt:lpstr>Operant Conditioning </vt:lpstr>
      <vt:lpstr>Operant Conditioning </vt:lpstr>
      <vt:lpstr>Operant Conditioning </vt:lpstr>
      <vt:lpstr>Thorndike effect </vt:lpstr>
      <vt:lpstr>Cont. </vt:lpstr>
      <vt:lpstr>Operant Conditioning </vt:lpstr>
      <vt:lpstr>Cont. </vt:lpstr>
      <vt:lpstr>Example of operant conditioning</vt:lpstr>
      <vt:lpstr>Reinforcement</vt:lpstr>
      <vt:lpstr>Reinforcement </vt:lpstr>
      <vt:lpstr>PowerPoint Presentation</vt:lpstr>
      <vt:lpstr>Negative Reinforcement</vt:lpstr>
      <vt:lpstr>Primary and Secondary reinforcement</vt:lpstr>
      <vt:lpstr>Reinforcement Example</vt:lpstr>
      <vt:lpstr>PowerPoint Presentation</vt:lpstr>
      <vt:lpstr>Punishment</vt:lpstr>
      <vt:lpstr>What makes a good reinforce?</vt:lpstr>
      <vt:lpstr>Punishment</vt:lpstr>
      <vt:lpstr>PowerPoint Presentation</vt:lpstr>
      <vt:lpstr>PowerPoint Presentation</vt:lpstr>
      <vt:lpstr>PowerPoint Presentation</vt:lpstr>
      <vt:lpstr>PowerPoint Presentation</vt:lpstr>
      <vt:lpstr>Punishment vs. Negative Reinforcement</vt:lpstr>
      <vt:lpstr>Timing Rewards</vt:lpstr>
      <vt:lpstr>Classical vs Operant Conditioning </vt:lpstr>
      <vt:lpstr>PowerPoint Presentation</vt:lpstr>
      <vt:lpstr>Observational Learning</vt:lpstr>
      <vt:lpstr>Media and Violence</vt:lpstr>
      <vt:lpstr>PowerPoint Presentation</vt:lpstr>
      <vt:lpstr>PowerPoint Presentation</vt:lpstr>
      <vt:lpstr> Bandura identified three basic models of observational learning:</vt:lpstr>
      <vt:lpstr>Bandura’s “Bobo Doll” Studies: Early Evidence for the Effects of Televised Violence </vt:lpstr>
      <vt:lpstr>   Scientific method: Can children learn to be aggressive through observational learning? </vt:lpstr>
      <vt:lpstr>Modeling</vt:lpstr>
      <vt:lpstr>Latent Learning </vt:lpstr>
      <vt:lpstr>Classroom Discipline</vt:lpstr>
      <vt:lpstr>Improving Study Habits</vt:lpstr>
      <vt:lpstr>Improving Study Habits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dc:title>
  <dc:creator>Summayyah Shafique</dc:creator>
  <cp:lastModifiedBy>Summayyah Shafique</cp:lastModifiedBy>
  <cp:revision>13</cp:revision>
  <dcterms:created xsi:type="dcterms:W3CDTF">2023-03-27T10:23:14Z</dcterms:created>
  <dcterms:modified xsi:type="dcterms:W3CDTF">2023-05-03T07:59:21Z</dcterms:modified>
</cp:coreProperties>
</file>