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Refactoring Example and Extract Method</a:t>
            </a:r>
            <a:endParaRPr/>
          </a:p>
        </p:txBody>
      </p:sp>
      <p:sp>
        <p:nvSpPr>
          <p:cNvPr id="85" name="Google Shape;85;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Switch Statement</a:t>
            </a:r>
            <a:endParaRPr/>
          </a:p>
        </p:txBody>
      </p:sp>
      <p:sp>
        <p:nvSpPr>
          <p:cNvPr id="91" name="Google Shape;91;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`switch` statements </a:t>
            </a:r>
            <a:r>
              <a:rPr b="1" i="1" lang="en-US"/>
              <a:t>always</a:t>
            </a:r>
            <a:r>
              <a:rPr lang="en-US"/>
              <a:t> lead to very long methods, dozens of conditions and every instruction requires at least few lines of code plus break.Robert C Martin in his book “Clean Code” says that method “Should </a:t>
            </a:r>
            <a:r>
              <a:rPr b="1" lang="en-US"/>
              <a:t>be as small as possible</a:t>
            </a:r>
            <a:r>
              <a:rPr lang="en-US"/>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Replace Conditional with Polymorphism</a:t>
            </a:r>
            <a:br>
              <a:rPr b="1" lang="en-US"/>
            </a:br>
            <a:endParaRPr/>
          </a:p>
        </p:txBody>
      </p:sp>
      <p:sp>
        <p:nvSpPr>
          <p:cNvPr id="97" name="Google Shape;97;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rgbClr val="090909"/>
              </a:buClr>
              <a:buSzPts val="2400"/>
              <a:buNone/>
            </a:pPr>
            <a:r>
              <a:rPr i="0" lang="en-US" sz="2400" u="none" cap="none" strike="noStrike">
                <a:solidFill>
                  <a:srgbClr val="090909"/>
                </a:solidFill>
                <a:latin typeface="Times New Roman"/>
                <a:ea typeface="Times New Roman"/>
                <a:cs typeface="Times New Roman"/>
                <a:sym typeface="Times New Roman"/>
              </a:rPr>
              <a:t>Switch statements are often considered code smells and should be avoided</a:t>
            </a:r>
            <a:endParaRPr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rPr b="1" lang="en-US" sz="2400">
                <a:latin typeface="Times New Roman"/>
                <a:ea typeface="Times New Roman"/>
                <a:cs typeface="Times New Roman"/>
                <a:sym typeface="Times New Roman"/>
              </a:rPr>
              <a:t>Problem</a:t>
            </a:r>
            <a:endParaRPr b="1" sz="2400">
              <a:latin typeface="Times New Roman"/>
              <a:ea typeface="Times New Roman"/>
              <a:cs typeface="Times New Roman"/>
              <a:sym typeface="Times New Roman"/>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You have a conditional that performs various actions depending on object type or properties.</a:t>
            </a:r>
            <a:endParaRPr/>
          </a:p>
          <a:p>
            <a:pPr indent="0" lvl="0" marL="0" rtl="0" algn="l">
              <a:lnSpc>
                <a:spcPct val="90000"/>
              </a:lnSpc>
              <a:spcBef>
                <a:spcPts val="1000"/>
              </a:spcBef>
              <a:spcAft>
                <a:spcPts val="0"/>
              </a:spcAft>
              <a:buClr>
                <a:schemeClr val="dk1"/>
              </a:buClr>
              <a:buSzPts val="2400"/>
              <a:buNone/>
            </a:pPr>
            <a:r>
              <a:rPr b="1" lang="en-US" sz="2400">
                <a:latin typeface="Times New Roman"/>
                <a:ea typeface="Times New Roman"/>
                <a:cs typeface="Times New Roman"/>
                <a:sym typeface="Times New Roman"/>
              </a:rPr>
              <a:t>Solution</a:t>
            </a:r>
            <a:endParaRPr/>
          </a:p>
          <a:p>
            <a:pPr indent="0" lvl="0" marL="0" rtl="0" algn="l">
              <a:lnSpc>
                <a:spcPct val="90000"/>
              </a:lnSpc>
              <a:spcBef>
                <a:spcPts val="1000"/>
              </a:spcBef>
              <a:spcAft>
                <a:spcPts val="0"/>
              </a:spcAft>
              <a:buClr>
                <a:schemeClr val="dk1"/>
              </a:buClr>
              <a:buSzPts val="2400"/>
              <a:buNone/>
            </a:pPr>
            <a:r>
              <a:rPr lang="en-US" sz="2400">
                <a:latin typeface="Times New Roman"/>
                <a:ea typeface="Times New Roman"/>
                <a:cs typeface="Times New Roman"/>
                <a:sym typeface="Times New Roman"/>
              </a:rPr>
              <a:t>Create subclasses matching the branches of the conditional. In them, create a shared method and move code from the corresponding branch of the conditional to it. Then replace the conditional with the relevant method call. The result is that the proper implementation will be attained via polymorphism depending on the object class.</a:t>
            </a:r>
            <a:endParaRPr/>
          </a:p>
          <a:p>
            <a:pPr indent="0" lvl="0" marL="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03" name="Google Shape;103;p1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04" name="Google Shape;104;p16"/>
          <p:cNvPicPr preferRelativeResize="0"/>
          <p:nvPr/>
        </p:nvPicPr>
        <p:blipFill rotWithShape="1">
          <a:blip r:embed="rId3">
            <a:alphaModFix/>
          </a:blip>
          <a:srcRect b="0" l="0" r="0" t="0"/>
          <a:stretch/>
        </p:blipFill>
        <p:spPr>
          <a:xfrm>
            <a:off x="123568" y="1673"/>
            <a:ext cx="12192000" cy="685465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10" name="Google Shape;110;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50800" lvl="0" marL="228600" rtl="0" algn="l">
              <a:lnSpc>
                <a:spcPct val="90000"/>
              </a:lnSpc>
              <a:spcBef>
                <a:spcPts val="0"/>
              </a:spcBef>
              <a:spcAft>
                <a:spcPts val="0"/>
              </a:spcAft>
              <a:buClr>
                <a:schemeClr val="dk1"/>
              </a:buClr>
              <a:buSzPts val="2800"/>
              <a:buNone/>
            </a:pPr>
            <a:r>
              <a:t/>
            </a:r>
            <a:endParaRPr/>
          </a:p>
        </p:txBody>
      </p:sp>
      <p:pic>
        <p:nvPicPr>
          <p:cNvPr id="111" name="Google Shape;111;p17"/>
          <p:cNvPicPr preferRelativeResize="0"/>
          <p:nvPr/>
        </p:nvPicPr>
        <p:blipFill rotWithShape="1">
          <a:blip r:embed="rId3">
            <a:alphaModFix/>
          </a:blip>
          <a:srcRect b="0" l="0" r="0" t="0"/>
          <a:stretch/>
        </p:blipFill>
        <p:spPr>
          <a:xfrm>
            <a:off x="0" y="-55605"/>
            <a:ext cx="12192000" cy="685465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Example</a:t>
            </a:r>
            <a:endParaRPr/>
          </a:p>
        </p:txBody>
      </p:sp>
      <p:sp>
        <p:nvSpPr>
          <p:cNvPr id="117" name="Google Shape;117;p18"/>
          <p:cNvSpPr txBox="1"/>
          <p:nvPr>
            <p:ph idx="1" type="body"/>
          </p:nvPr>
        </p:nvSpPr>
        <p:spPr>
          <a:xfrm>
            <a:off x="838200" y="1825624"/>
            <a:ext cx="10515600" cy="5032375"/>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A little bit ugly, but it gets the job done right? But here's the catch: after some time in production, you need to add a </a:t>
            </a:r>
            <a:r>
              <a:rPr i="1" lang="en-US"/>
              <a:t>new</a:t>
            </a:r>
            <a:r>
              <a:rPr lang="en-US"/>
              <a:t> type of bird, lets say Asian</a:t>
            </a:r>
            <a:endParaRPr/>
          </a:p>
          <a:p>
            <a:pPr indent="0" lvl="0" marL="0" rtl="0" algn="l">
              <a:lnSpc>
                <a:spcPct val="90000"/>
              </a:lnSpc>
              <a:spcBef>
                <a:spcPts val="1000"/>
              </a:spcBef>
              <a:spcAft>
                <a:spcPts val="0"/>
              </a:spcAft>
              <a:buClr>
                <a:schemeClr val="dk1"/>
              </a:buClr>
              <a:buSzPts val="2800"/>
              <a:buNone/>
            </a:pPr>
            <a:r>
              <a:t/>
            </a:r>
            <a:endParaRPr b="0" i="0" u="none" cap="none" strike="noStrike">
              <a:solidFill>
                <a:srgbClr val="090909"/>
              </a:solidFill>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solidFill>
                <a:srgbClr val="090909"/>
              </a:solidFill>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b="0" i="0" u="none" cap="none" strike="noStrike">
              <a:solidFill>
                <a:srgbClr val="090909"/>
              </a:solidFill>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solidFill>
                <a:srgbClr val="090909"/>
              </a:solidFill>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b="0" i="0" u="none" cap="none" strike="noStrike">
              <a:solidFill>
                <a:srgbClr val="090909"/>
              </a:solidFill>
              <a:latin typeface="Arial"/>
              <a:ea typeface="Arial"/>
              <a:cs typeface="Arial"/>
              <a:sym typeface="Arial"/>
            </a:endParaRPr>
          </a:p>
          <a:p>
            <a:pPr indent="0" lvl="0" marL="0" rtl="0" algn="l">
              <a:lnSpc>
                <a:spcPct val="90000"/>
              </a:lnSpc>
              <a:spcBef>
                <a:spcPts val="1000"/>
              </a:spcBef>
              <a:spcAft>
                <a:spcPts val="0"/>
              </a:spcAft>
              <a:buClr>
                <a:schemeClr val="dk1"/>
              </a:buClr>
              <a:buSzPts val="2800"/>
              <a:buNone/>
            </a:pPr>
            <a:r>
              <a:t/>
            </a:r>
            <a:endParaRPr>
              <a:solidFill>
                <a:srgbClr val="090909"/>
              </a:solidFill>
              <a:latin typeface="Arial"/>
              <a:ea typeface="Arial"/>
              <a:cs typeface="Arial"/>
              <a:sym typeface="Arial"/>
            </a:endParaRPr>
          </a:p>
          <a:p>
            <a:pPr indent="0" lvl="0" marL="0" rtl="0" algn="l">
              <a:lnSpc>
                <a:spcPct val="90000"/>
              </a:lnSpc>
              <a:spcBef>
                <a:spcPts val="1000"/>
              </a:spcBef>
              <a:spcAft>
                <a:spcPts val="0"/>
              </a:spcAft>
              <a:buClr>
                <a:srgbClr val="090909"/>
              </a:buClr>
              <a:buSzPts val="2800"/>
              <a:buNone/>
            </a:pPr>
            <a:r>
              <a:rPr b="0" i="0" lang="en-US" u="none" cap="none" strike="noStrike">
                <a:solidFill>
                  <a:srgbClr val="090909"/>
                </a:solidFill>
                <a:latin typeface="Arial"/>
                <a:ea typeface="Arial"/>
                <a:cs typeface="Arial"/>
                <a:sym typeface="Arial"/>
              </a:rPr>
              <a:t>And now you have to calculate it's speed as well. </a:t>
            </a:r>
            <a:r>
              <a:rPr b="0" i="1" lang="en-US" u="none" cap="none" strike="noStrike">
                <a:solidFill>
                  <a:srgbClr val="090909"/>
                </a:solidFill>
                <a:latin typeface="Arial"/>
                <a:ea typeface="Arial"/>
                <a:cs typeface="Arial"/>
                <a:sym typeface="Arial"/>
              </a:rPr>
              <a:t>"Just add another case to the </a:t>
            </a:r>
            <a:r>
              <a:rPr b="0" i="1" lang="en-US" sz="2000" u="none" cap="none" strike="noStrike">
                <a:solidFill>
                  <a:srgbClr val="090909"/>
                </a:solidFill>
                <a:latin typeface="Arial"/>
                <a:ea typeface="Arial"/>
                <a:cs typeface="Arial"/>
                <a:sym typeface="Arial"/>
              </a:rPr>
              <a:t>switch</a:t>
            </a:r>
            <a:r>
              <a:rPr b="0" i="1" lang="en-US" u="none" cap="none" strike="noStrike">
                <a:solidFill>
                  <a:srgbClr val="090909"/>
                </a:solidFill>
                <a:latin typeface="Arial"/>
                <a:ea typeface="Arial"/>
                <a:cs typeface="Arial"/>
                <a:sym typeface="Arial"/>
              </a:rPr>
              <a:t> statement"</a:t>
            </a:r>
            <a:r>
              <a:rPr b="0" i="0" lang="en-US" u="none" cap="none" strike="noStrike">
                <a:solidFill>
                  <a:srgbClr val="090909"/>
                </a:solidFill>
                <a:latin typeface="Arial"/>
                <a:ea typeface="Arial"/>
                <a:cs typeface="Arial"/>
                <a:sym typeface="Arial"/>
              </a:rPr>
              <a:t> you might say.</a:t>
            </a:r>
            <a:r>
              <a:rPr b="0" i="0" lang="en-US" sz="1800" u="none" cap="none" strike="noStrike">
                <a:solidFill>
                  <a:schemeClr val="dk1"/>
                </a:solidFill>
              </a:rPr>
              <a:t> </a:t>
            </a:r>
            <a:endParaRPr b="0" i="0" sz="3200" u="none" cap="none" strike="noStrike">
              <a:solidFill>
                <a:schemeClr val="dk1"/>
              </a:solidFill>
              <a:latin typeface="Arial"/>
              <a:ea typeface="Arial"/>
              <a:cs typeface="Arial"/>
              <a:sym typeface="Arial"/>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18" name="Google Shape;118;p18"/>
          <p:cNvPicPr preferRelativeResize="0"/>
          <p:nvPr/>
        </p:nvPicPr>
        <p:blipFill rotWithShape="1">
          <a:blip r:embed="rId3">
            <a:alphaModFix/>
          </a:blip>
          <a:srcRect b="0" l="0" r="0" t="0"/>
          <a:stretch/>
        </p:blipFill>
        <p:spPr>
          <a:xfrm>
            <a:off x="3667382" y="2684634"/>
            <a:ext cx="2781300" cy="2998059"/>
          </a:xfrm>
          <a:prstGeom prst="rect">
            <a:avLst/>
          </a:prstGeom>
          <a:noFill/>
          <a:ln>
            <a:noFill/>
          </a:ln>
        </p:spPr>
      </p:pic>
      <p:sp>
        <p:nvSpPr>
          <p:cNvPr id="119" name="Google Shape;119;p18"/>
          <p:cNvSpPr/>
          <p:nvPr/>
        </p:nvSpPr>
        <p:spPr>
          <a:xfrm>
            <a:off x="0" y="-184666"/>
            <a:ext cx="184731" cy="369332"/>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   The Solution: Polymorphism</a:t>
            </a:r>
            <a:br>
              <a:rPr b="1" lang="en-US"/>
            </a:br>
            <a:endParaRPr/>
          </a:p>
        </p:txBody>
      </p:sp>
      <p:sp>
        <p:nvSpPr>
          <p:cNvPr id="125" name="Google Shape;125;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With Object-Oriented Programming we have the concept of inheritance and, with that, we can implement polymorphism.</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We start very much the same, Defining the bird class but with one change</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26" name="Google Shape;126;p19"/>
          <p:cNvPicPr preferRelativeResize="0"/>
          <p:nvPr/>
        </p:nvPicPr>
        <p:blipFill rotWithShape="1">
          <a:blip r:embed="rId3">
            <a:alphaModFix/>
          </a:blip>
          <a:srcRect b="0" l="0" r="0" t="0"/>
          <a:stretch/>
        </p:blipFill>
        <p:spPr>
          <a:xfrm>
            <a:off x="1655033" y="4521801"/>
            <a:ext cx="3790950" cy="12001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The Solution</a:t>
            </a:r>
            <a:endParaRPr/>
          </a:p>
        </p:txBody>
      </p:sp>
      <p:sp>
        <p:nvSpPr>
          <p:cNvPr id="132" name="Google Shape;132;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Now we have added the abstract modifier to GetSpeed Method and the Bird class itself.</a:t>
            </a:r>
            <a:endParaRPr/>
          </a:p>
          <a:p>
            <a:pPr indent="-228600" lvl="0" marL="228600" rtl="0" algn="l">
              <a:lnSpc>
                <a:spcPct val="90000"/>
              </a:lnSpc>
              <a:spcBef>
                <a:spcPts val="1000"/>
              </a:spcBef>
              <a:spcAft>
                <a:spcPts val="0"/>
              </a:spcAft>
              <a:buClr>
                <a:schemeClr val="dk1"/>
              </a:buClr>
              <a:buSzPts val="2800"/>
              <a:buChar char="•"/>
            </a:pPr>
            <a:r>
              <a:rPr lang="en-US"/>
              <a:t>What that means is that Bird Class itself has no implementation for that method,nor can be instantiated and any subclass might implement it .</a:t>
            </a:r>
            <a:endParaRPr/>
          </a:p>
          <a:p>
            <a:pPr indent="0" lvl="0" marL="0" rtl="0" algn="l">
              <a:lnSpc>
                <a:spcPct val="90000"/>
              </a:lnSpc>
              <a:spcBef>
                <a:spcPts val="1000"/>
              </a:spcBef>
              <a:spcAft>
                <a:spcPts val="0"/>
              </a:spcAft>
              <a:buClr>
                <a:schemeClr val="dk1"/>
              </a:buClr>
              <a:buSzPts val="2800"/>
              <a:buNone/>
            </a:pPr>
            <a:r>
              <a:rPr lang="en-US"/>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138" name="Google Shape;138;p21"/>
          <p:cNvPicPr preferRelativeResize="0"/>
          <p:nvPr>
            <p:ph idx="1" type="body"/>
          </p:nvPr>
        </p:nvPicPr>
        <p:blipFill rotWithShape="1">
          <a:blip r:embed="rId3">
            <a:alphaModFix/>
          </a:blip>
          <a:srcRect b="0" l="0" r="0" t="0"/>
          <a:stretch/>
        </p:blipFill>
        <p:spPr>
          <a:xfrm>
            <a:off x="3370701" y="1813269"/>
            <a:ext cx="4624121" cy="435133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Refactoring Extract Method</a:t>
            </a:r>
            <a:endParaRPr/>
          </a:p>
        </p:txBody>
      </p:sp>
      <p:sp>
        <p:nvSpPr>
          <p:cNvPr id="144" name="Google Shape;144;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“Extract Method Refactoring” is intended for “a code fragment that can be grouped together”</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Refactoring turns this fragment into a method whose name explains the purpose of method</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150" name="Google Shape;150;p2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None/>
            </a:pPr>
            <a:r>
              <a:rPr lang="en-US"/>
              <a:t>To put it plainly, “Extract Method” means extraction of a part of existing method as a new method, and the extracted part is replaced by a new method caller </a:t>
            </a:r>
            <a:endParaRPr/>
          </a:p>
          <a:p>
            <a:pPr indent="0" lvl="0" marL="0" rtl="0" algn="l">
              <a:lnSpc>
                <a:spcPct val="90000"/>
              </a:lnSpc>
              <a:spcBef>
                <a:spcPts val="1000"/>
              </a:spcBef>
              <a:spcAft>
                <a:spcPts val="0"/>
              </a:spcAft>
              <a:buClr>
                <a:schemeClr val="dk1"/>
              </a:buClr>
              <a:buSzPts val="2800"/>
              <a:buNone/>
            </a:pPr>
            <a:r>
              <a:rPr lang="en-US"/>
              <a:t>In general, this pattern is applied to the case that there is a too long method. </a:t>
            </a:r>
            <a:endParaRPr/>
          </a:p>
          <a:p>
            <a:pPr indent="0" lvl="0" marL="0" rtl="0" algn="l">
              <a:lnSpc>
                <a:spcPct val="90000"/>
              </a:lnSpc>
              <a:spcBef>
                <a:spcPts val="1000"/>
              </a:spcBef>
              <a:spcAft>
                <a:spcPts val="0"/>
              </a:spcAft>
              <a:buClr>
                <a:schemeClr val="dk1"/>
              </a:buClr>
              <a:buSzPts val="2800"/>
              <a:buNone/>
            </a:pPr>
            <a:r>
              <a:rPr lang="en-US"/>
              <a:t>In applying the pattern to code clones, a new method, that is a code fragment of code clone, is defined and the original code clones are replaced by the new method caller. As a result, we can modify the code clones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Extract Method Refactoring</a:t>
            </a:r>
            <a:endParaRPr/>
          </a:p>
        </p:txBody>
      </p:sp>
      <p:pic>
        <p:nvPicPr>
          <p:cNvPr id="156" name="Google Shape;156;p24"/>
          <p:cNvPicPr preferRelativeResize="0"/>
          <p:nvPr>
            <p:ph idx="1" type="body"/>
          </p:nvPr>
        </p:nvPicPr>
        <p:blipFill rotWithShape="1">
          <a:blip r:embed="rId3">
            <a:alphaModFix/>
          </a:blip>
          <a:srcRect b="0" l="0" r="0" t="0"/>
          <a:stretch/>
        </p:blipFill>
        <p:spPr>
          <a:xfrm>
            <a:off x="2247900" y="2329656"/>
            <a:ext cx="7696200" cy="33432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